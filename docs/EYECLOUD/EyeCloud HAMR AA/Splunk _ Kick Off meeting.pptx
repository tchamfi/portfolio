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4"/>
    <p:sldMasterId id="2147483673" r:id="rId5"/>
    <p:sldMasterId id="2147483674" r:id="rId6"/>
    <p:sldMasterId id="2147483675" r:id="rId7"/>
  </p:sldMasterIdLst>
  <p:notesMasterIdLst>
    <p:notesMasterId r:id="rId1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926638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ambla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82">
          <p15:clr>
            <a:srgbClr val="A4A3A4"/>
          </p15:clr>
        </p15:guide>
        <p15:guide id="2" orient="horz" pos="799">
          <p15:clr>
            <a:srgbClr val="A4A3A4"/>
          </p15:clr>
        </p15:guide>
        <p15:guide id="3" orient="horz" pos="3430">
          <p15:clr>
            <a:srgbClr val="A4A3A4"/>
          </p15:clr>
        </p15:guide>
        <p15:guide id="4" orient="horz" pos="1344">
          <p15:clr>
            <a:srgbClr val="A4A3A4"/>
          </p15:clr>
        </p15:guide>
        <p15:guide id="5" orient="horz" pos="2840">
          <p15:clr>
            <a:srgbClr val="A4A3A4"/>
          </p15:clr>
        </p15:guide>
        <p15:guide id="6" orient="horz" pos="2659">
          <p15:clr>
            <a:srgbClr val="A4A3A4"/>
          </p15:clr>
        </p15:guide>
        <p15:guide id="7" pos="5511">
          <p15:clr>
            <a:srgbClr val="A4A3A4"/>
          </p15:clr>
        </p15:guide>
        <p15:guide id="8" pos="975">
          <p15:clr>
            <a:srgbClr val="A4A3A4"/>
          </p15:clr>
        </p15:guide>
        <p15:guide id="9" pos="3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E6653E-D2A1-423A-9B98-3F182D12F130}">
  <a:tblStyle styleId="{70E6653E-D2A1-423A-9B98-3F182D12F1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482"/>
        <p:guide orient="horz" pos="799"/>
        <p:guide orient="horz" pos="3430"/>
        <p:guide orient="horz" pos="1344"/>
        <p:guide orient="horz" pos="2840"/>
        <p:guide orient="horz" pos="2659"/>
        <p:guide pos="5511"/>
        <p:guide pos="975"/>
        <p:guide pos="36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7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VUYEKURE Honoré" userId="S::mvuyekh@essilor.fr::f9b72303-50f1-4c3f-911b-f2b83dedb59e" providerId="AD" clId="Web-{15C99454-501F-2C5E-7DB7-1A4CEC7DE084}"/>
    <pc:docChg chg="mod">
      <pc:chgData name="MVUYEKURE Honoré" userId="S::mvuyekh@essilor.fr::f9b72303-50f1-4c3f-911b-f2b83dedb59e" providerId="AD" clId="Web-{15C99454-501F-2C5E-7DB7-1A4CEC7DE084}" dt="2023-07-13T06:34:34.762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1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a8cd47cd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4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3" name="Google Shape;143;ga8cd47cdaa_0_0:notes"/>
          <p:cNvSpPr txBox="1">
            <a:spLocks noGrp="1"/>
          </p:cNvSpPr>
          <p:nvPr>
            <p:ph type="body" idx="1"/>
          </p:nvPr>
        </p:nvSpPr>
        <p:spPr>
          <a:xfrm>
            <a:off x="686291" y="4714875"/>
            <a:ext cx="54855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a8cd47cdaa_0_0:notes"/>
          <p:cNvSpPr txBox="1">
            <a:spLocks noGrp="1"/>
          </p:cNvSpPr>
          <p:nvPr>
            <p:ph type="sldNum" idx="12"/>
          </p:nvPr>
        </p:nvSpPr>
        <p:spPr>
          <a:xfrm>
            <a:off x="3884083" y="9428163"/>
            <a:ext cx="29724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a880e159e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a880e159e9_0_0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a880e159e9_0_0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11c7f7bb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11c7f7bb_0_186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10911c7f7bb_0_186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1060da1c0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1060da1c01_0_57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11060da1c01_0_57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2d6a64e2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2d6a64e29d_0_0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12d6a64e29d_0_0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1060da1c0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1060da1c01_0_35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11060da1c01_0_35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1060da1c0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1060da1c01_0_66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90" name="Google Shape;290;g11060da1c01_0_66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0f48fcc38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0f48fcc388_0_5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10f48fcc388_0_5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557213" y="260350"/>
            <a:ext cx="7831137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1"/>
          </p:nvPr>
        </p:nvSpPr>
        <p:spPr>
          <a:xfrm>
            <a:off x="557213" y="1052513"/>
            <a:ext cx="8029575" cy="489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▫"/>
              <a:defRPr/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6pPr>
            <a:lvl7pPr marL="3200400" lvl="6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7pPr>
            <a:lvl8pPr marL="3657600" lvl="7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8pPr>
            <a:lvl9pPr marL="4114800" lvl="8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62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 rot="10800000">
            <a:off x="4572000" y="209550"/>
            <a:ext cx="0" cy="266700"/>
          </a:xfrm>
          <a:prstGeom prst="straightConnector1">
            <a:avLst/>
          </a:prstGeom>
          <a:noFill/>
          <a:ln w="12700" cap="flat" cmpd="sng">
            <a:solidFill>
              <a:srgbClr val="E6002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24;p3"/>
          <p:cNvSpPr txBox="1">
            <a:spLocks noGrp="1"/>
          </p:cNvSpPr>
          <p:nvPr>
            <p:ph type="ctrTitle"/>
          </p:nvPr>
        </p:nvSpPr>
        <p:spPr>
          <a:xfrm>
            <a:off x="557213" y="2085975"/>
            <a:ext cx="8029575" cy="268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557213" y="1295400"/>
            <a:ext cx="8029575" cy="719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None/>
              <a:defRPr sz="1200"/>
            </a:lvl1pPr>
            <a:lvl2pPr lvl="1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lvl="2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▫"/>
              <a:defRPr/>
            </a:lvl3pPr>
            <a:lvl4pPr lvl="3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  <a:defRPr/>
            </a:lvl4pPr>
            <a:lvl5pPr lvl="4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5pPr>
            <a:lvl6pPr lvl="5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6pPr>
            <a:lvl7pPr lvl="6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7pPr>
            <a:lvl8pPr lvl="7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8pPr>
            <a:lvl9pPr lvl="8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557213" y="4849813"/>
            <a:ext cx="8029575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62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mmaire">
  <p:cSld name="Sommair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alibri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 cap="none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>
                <a:solidFill>
                  <a:schemeClr val="dk2"/>
                </a:solidFill>
              </a:defRPr>
            </a:lvl2pPr>
            <a:lvl3pPr marL="1371600" lvl="2" indent="-301625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◼"/>
              <a:defRPr sz="1150"/>
            </a:lvl3pPr>
            <a:lvl4pPr marL="1828800" lvl="3" indent="-301625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-"/>
              <a:defRPr sz="1150"/>
            </a:lvl4pPr>
            <a:lvl5pPr marL="2286000" lvl="4" indent="-301625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Char char="."/>
              <a:defRPr sz="115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suite">
  <p:cSld name="Slide de suit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386809" cy="2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lonnes">
  <p:cSld name="Deux colonne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574675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5148713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 bleu">
  <p:cSld name="Titre et contenu bleu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41389"/>
            <a:ext cx="7559041" cy="75590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553225" y="4077"/>
            <a:ext cx="80508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i="0" u="none" strike="noStrike" cap="none"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553234" y="1583383"/>
            <a:ext cx="8050800" cy="44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353"/>
              </a:buClr>
              <a:buSzPts val="2400"/>
              <a:buNone/>
              <a:defRPr sz="2400" i="0" u="none" strike="noStrike" cap="none">
                <a:solidFill>
                  <a:srgbClr val="535353"/>
                </a:solidFill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rgbClr val="0092D2"/>
              </a:buClr>
              <a:buSzPts val="2000"/>
              <a:buChar char="–"/>
              <a:defRPr sz="2000" i="0" u="none" strike="noStrike" cap="none">
                <a:solidFill>
                  <a:srgbClr val="535353"/>
                </a:solidFill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i="0" u="none" strike="noStrike" cap="none">
                <a:solidFill>
                  <a:schemeClr val="dk1"/>
                </a:solidFill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 i="0" u="none" strike="noStrike" cap="none">
                <a:solidFill>
                  <a:schemeClr val="dk1"/>
                </a:solidFill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06925"/>
            <a:ext cx="963278" cy="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2038643" y="6329675"/>
            <a:ext cx="448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7672175" y="6357975"/>
            <a:ext cx="1471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200" cy="47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 rtl="0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mmaire">
  <p:cSld name="Sommair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alibri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200" cy="47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 cap="none"/>
            </a:lvl1pPr>
            <a:lvl2pPr marL="914400" lvl="1" indent="-228600" algn="l" rtl="0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>
                <a:solidFill>
                  <a:schemeClr val="dk2"/>
                </a:solidFill>
              </a:defRPr>
            </a:lvl2pPr>
            <a:lvl3pPr marL="1371600" lvl="2" indent="-301625" algn="l" rtl="0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◼"/>
              <a:defRPr sz="1150"/>
            </a:lvl3pPr>
            <a:lvl4pPr marL="1828800" lvl="3" indent="-301625" algn="l" rtl="0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-"/>
              <a:defRPr sz="1150"/>
            </a:lvl4pPr>
            <a:lvl5pPr marL="2286000" lvl="4" indent="-30162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Char char="."/>
              <a:defRPr sz="115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8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suite">
  <p:cSld name="Slide de suit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200" cy="47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 rtl="0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3869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lonnes">
  <p:cSld name="Deux colonne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 rtl="0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1"/>
          </p:nvPr>
        </p:nvSpPr>
        <p:spPr>
          <a:xfrm>
            <a:off x="574675" y="2133600"/>
            <a:ext cx="3600000" cy="3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 rtl="0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5148713" y="2133600"/>
            <a:ext cx="3600000" cy="3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 rtl="0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8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 bleu">
  <p:cSld name="Titre et contenu bleu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41389"/>
            <a:ext cx="7559041" cy="75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553225" y="4077"/>
            <a:ext cx="80508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i="0" u="none" strike="noStrike" cap="none"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body" idx="1"/>
          </p:nvPr>
        </p:nvSpPr>
        <p:spPr>
          <a:xfrm>
            <a:off x="553234" y="1583383"/>
            <a:ext cx="8050800" cy="44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353"/>
              </a:buClr>
              <a:buSzPts val="2400"/>
              <a:buNone/>
              <a:defRPr sz="2400" i="0" u="none" strike="noStrike" cap="none">
                <a:solidFill>
                  <a:srgbClr val="535353"/>
                </a:solidFill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rgbClr val="0092D2"/>
              </a:buClr>
              <a:buSzPts val="2000"/>
              <a:buChar char="–"/>
              <a:defRPr sz="2000" i="0" u="none" strike="noStrike" cap="none">
                <a:solidFill>
                  <a:srgbClr val="535353"/>
                </a:solidFill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i="0" u="none" strike="noStrike" cap="none">
                <a:solidFill>
                  <a:schemeClr val="dk1"/>
                </a:solidFill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 i="0" u="none" strike="noStrike" cap="none">
                <a:solidFill>
                  <a:schemeClr val="dk1"/>
                </a:solidFill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88" name="Google Shape;8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06925"/>
            <a:ext cx="963278" cy="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>
            <a:spLocks noGrp="1"/>
          </p:cNvSpPr>
          <p:nvPr>
            <p:ph type="ftr" idx="11"/>
          </p:nvPr>
        </p:nvSpPr>
        <p:spPr>
          <a:xfrm>
            <a:off x="2038643" y="6329675"/>
            <a:ext cx="448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7672175" y="6357975"/>
            <a:ext cx="1471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36" name="Google Shape;136;p27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0" name="Google Shape;140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606925"/>
            <a:ext cx="722459" cy="188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57213" y="260350"/>
            <a:ext cx="7831137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57213" y="1052513"/>
            <a:ext cx="8029575" cy="489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Noto Sans Symbols"/>
              <a:buChar char="▪"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1150" algn="l" rtl="0"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▫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573838" y="6416675"/>
            <a:ext cx="1814512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3600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62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2771775" y="6416675"/>
            <a:ext cx="3597275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" name="Google Shape;15;p1"/>
          <p:cNvCxnSpPr/>
          <p:nvPr/>
        </p:nvCxnSpPr>
        <p:spPr>
          <a:xfrm rot="10800000">
            <a:off x="323850" y="6194425"/>
            <a:ext cx="8496300" cy="0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;p1"/>
          <p:cNvCxnSpPr/>
          <p:nvPr/>
        </p:nvCxnSpPr>
        <p:spPr>
          <a:xfrm rot="10800000">
            <a:off x="323850" y="755650"/>
            <a:ext cx="8496300" cy="0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7;p1"/>
          <p:cNvSpPr/>
          <p:nvPr/>
        </p:nvSpPr>
        <p:spPr>
          <a:xfrm>
            <a:off x="8426450" y="6415088"/>
            <a:ext cx="71438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 Black"/>
              <a:buChar char="+"/>
              <a:defRPr sz="1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◼"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sz="120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527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."/>
              <a:defRPr sz="105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5687367" y="6619875"/>
            <a:ext cx="139923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200" cy="47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 Black"/>
              <a:buChar char="+"/>
              <a:defRPr sz="1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◼"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sz="120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527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."/>
              <a:defRPr sz="105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5687367" y="6619875"/>
            <a:ext cx="13992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2"/>
                </a:solidFill>
              </a:defRPr>
            </a:lvl1pPr>
            <a:lvl2pPr lvl="1" algn="r" rtl="0">
              <a:buNone/>
              <a:defRPr sz="1300">
                <a:solidFill>
                  <a:schemeClr val="dk2"/>
                </a:solidFill>
              </a:defRPr>
            </a:lvl2pPr>
            <a:lvl3pPr lvl="2" algn="r" rtl="0">
              <a:buNone/>
              <a:defRPr sz="1300">
                <a:solidFill>
                  <a:schemeClr val="dk2"/>
                </a:solidFill>
              </a:defRPr>
            </a:lvl3pPr>
            <a:lvl4pPr lvl="3" algn="r" rtl="0">
              <a:buNone/>
              <a:defRPr sz="1300">
                <a:solidFill>
                  <a:schemeClr val="dk2"/>
                </a:solidFill>
              </a:defRPr>
            </a:lvl4pPr>
            <a:lvl5pPr lvl="4" algn="r" rtl="0">
              <a:buNone/>
              <a:defRPr sz="1300">
                <a:solidFill>
                  <a:schemeClr val="dk2"/>
                </a:solidFill>
              </a:defRPr>
            </a:lvl5pPr>
            <a:lvl6pPr lvl="5" algn="r" rtl="0">
              <a:buNone/>
              <a:defRPr sz="1300">
                <a:solidFill>
                  <a:schemeClr val="dk2"/>
                </a:solidFill>
              </a:defRPr>
            </a:lvl6pPr>
            <a:lvl7pPr lvl="6" algn="r" rtl="0">
              <a:buNone/>
              <a:defRPr sz="1300">
                <a:solidFill>
                  <a:schemeClr val="dk2"/>
                </a:solidFill>
              </a:defRPr>
            </a:lvl7pPr>
            <a:lvl8pPr lvl="7" algn="r" rtl="0">
              <a:buNone/>
              <a:defRPr sz="1300">
                <a:solidFill>
                  <a:schemeClr val="dk2"/>
                </a:solidFill>
              </a:defRPr>
            </a:lvl8pPr>
            <a:lvl9pPr lvl="8" algn="r" rtl="0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>
            <a:spLocks noGrp="1"/>
          </p:cNvSpPr>
          <p:nvPr>
            <p:ph type="title"/>
          </p:nvPr>
        </p:nvSpPr>
        <p:spPr>
          <a:xfrm>
            <a:off x="553225" y="4075"/>
            <a:ext cx="84954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ambla"/>
                <a:ea typeface="Rambla"/>
                <a:cs typeface="Rambla"/>
                <a:sym typeface="Rambla"/>
              </a:rPr>
              <a:t>KICK OFF MEETING </a:t>
            </a:r>
            <a:endParaRPr sz="3600" b="1" i="0" u="none" strike="noStrike" cap="none">
              <a:solidFill>
                <a:srgbClr val="000000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grpSp>
        <p:nvGrpSpPr>
          <p:cNvPr id="147" name="Google Shape;147;p29"/>
          <p:cNvGrpSpPr/>
          <p:nvPr/>
        </p:nvGrpSpPr>
        <p:grpSpPr>
          <a:xfrm>
            <a:off x="-58532" y="1447917"/>
            <a:ext cx="9202522" cy="3788720"/>
            <a:chOff x="0" y="1704976"/>
            <a:chExt cx="12192001" cy="4616449"/>
          </a:xfrm>
        </p:grpSpPr>
        <p:pic>
          <p:nvPicPr>
            <p:cNvPr id="148" name="Google Shape;148;p29" descr="C:\Users\rimeleng\Documents\A_IMAGES_PPT2015\Image21.jp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426200" y="3722688"/>
              <a:ext cx="2794000" cy="2597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29" descr="C:\Users\rimeleng\Documents\A_IMAGES_PPT2015\SaoPaulo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290051" y="3289300"/>
              <a:ext cx="2901949" cy="3028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29" descr="C:\Users\rimeleng\Documents\A_IMAGES_PPT2015\Image22.jp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352801" y="3103563"/>
              <a:ext cx="2952751" cy="32178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29" descr="C:\Users\rimeleng\Documents\A_IMAGES_PPT2015\Feordi.jp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0" y="3398839"/>
              <a:ext cx="3295651" cy="2917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29" descr="C:\Users\rimeleng\Documents\A_IMAGES_PPT2015\Verres.jpg"/>
            <p:cNvPicPr preferRelativeResize="0"/>
            <p:nvPr/>
          </p:nvPicPr>
          <p:blipFill rotWithShape="1">
            <a:blip r:embed="rId7">
              <a:alphaModFix/>
            </a:blip>
            <a:srcRect t="1526"/>
            <a:stretch/>
          </p:blipFill>
          <p:spPr>
            <a:xfrm>
              <a:off x="1" y="1720850"/>
              <a:ext cx="3291417" cy="16271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9" descr="C:\Users\rimeleng\Documents\A_IMAGES_PPT2015\Image17.jpg"/>
            <p:cNvPicPr preferRelativeResize="0"/>
            <p:nvPr/>
          </p:nvPicPr>
          <p:blipFill rotWithShape="1">
            <a:blip r:embed="rId8">
              <a:alphaModFix/>
            </a:blip>
            <a:srcRect t="2467"/>
            <a:stretch/>
          </p:blipFill>
          <p:spPr>
            <a:xfrm>
              <a:off x="3359152" y="1720851"/>
              <a:ext cx="2950633" cy="13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9" descr="C:\Users\rimeleng\Documents\A_IMAGES_PPT2015\Image19.jp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309101" y="1704976"/>
              <a:ext cx="2882900" cy="152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29" descr="C:\Users\rimeleng\Documents\A_IMAGES_PPT2015\Enfants_chin.jp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411385" y="1709739"/>
              <a:ext cx="2813049" cy="19510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9"/>
          <p:cNvSpPr txBox="1">
            <a:spLocks noGrp="1"/>
          </p:cNvSpPr>
          <p:nvPr>
            <p:ph type="title"/>
          </p:nvPr>
        </p:nvSpPr>
        <p:spPr>
          <a:xfrm>
            <a:off x="297609" y="5236637"/>
            <a:ext cx="8050800" cy="12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26th January 2022</a:t>
            </a: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57" name="Google Shape;157;p29"/>
          <p:cNvSpPr txBox="1">
            <a:spLocks noGrp="1"/>
          </p:cNvSpPr>
          <p:nvPr>
            <p:ph type="sldNum" idx="12"/>
          </p:nvPr>
        </p:nvSpPr>
        <p:spPr>
          <a:xfrm>
            <a:off x="7672175" y="6357975"/>
            <a:ext cx="1471800" cy="500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557213" y="260350"/>
            <a:ext cx="7831137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64" name="Google Shape;164;p30"/>
          <p:cNvSpPr txBox="1">
            <a:spLocks noGrp="1"/>
          </p:cNvSpPr>
          <p:nvPr>
            <p:ph type="sldNum" idx="4294967295"/>
          </p:nvPr>
        </p:nvSpPr>
        <p:spPr>
          <a:xfrm>
            <a:off x="8459788" y="6416675"/>
            <a:ext cx="360362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65" name="Google Shape;165;p30"/>
          <p:cNvSpPr/>
          <p:nvPr/>
        </p:nvSpPr>
        <p:spPr>
          <a:xfrm>
            <a:off x="1689956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30"/>
          <p:cNvCxnSpPr>
            <a:stCxn id="165" idx="6"/>
            <a:endCxn id="167" idx="2"/>
          </p:cNvCxnSpPr>
          <p:nvPr/>
        </p:nvCxnSpPr>
        <p:spPr>
          <a:xfrm>
            <a:off x="2265956" y="3386577"/>
            <a:ext cx="675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30"/>
          <p:cNvSpPr/>
          <p:nvPr/>
        </p:nvSpPr>
        <p:spPr>
          <a:xfrm>
            <a:off x="2941279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0"/>
          <p:cNvSpPr/>
          <p:nvPr/>
        </p:nvSpPr>
        <p:spPr>
          <a:xfrm>
            <a:off x="4192602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0"/>
          <p:cNvSpPr/>
          <p:nvPr/>
        </p:nvSpPr>
        <p:spPr>
          <a:xfrm>
            <a:off x="5443925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30"/>
          <p:cNvCxnSpPr>
            <a:stCxn id="167" idx="6"/>
            <a:endCxn id="168" idx="2"/>
          </p:cNvCxnSpPr>
          <p:nvPr/>
        </p:nvCxnSpPr>
        <p:spPr>
          <a:xfrm>
            <a:off x="3517279" y="3386577"/>
            <a:ext cx="675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30"/>
          <p:cNvCxnSpPr>
            <a:stCxn id="168" idx="6"/>
            <a:endCxn id="169" idx="2"/>
          </p:cNvCxnSpPr>
          <p:nvPr/>
        </p:nvCxnSpPr>
        <p:spPr>
          <a:xfrm>
            <a:off x="4768602" y="3386577"/>
            <a:ext cx="675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Google Shape;172;p30"/>
          <p:cNvCxnSpPr/>
          <p:nvPr/>
        </p:nvCxnSpPr>
        <p:spPr>
          <a:xfrm>
            <a:off x="1987800" y="2810545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30"/>
          <p:cNvCxnSpPr/>
          <p:nvPr/>
        </p:nvCxnSpPr>
        <p:spPr>
          <a:xfrm>
            <a:off x="4503331" y="2810545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30"/>
          <p:cNvCxnSpPr/>
          <p:nvPr/>
        </p:nvCxnSpPr>
        <p:spPr>
          <a:xfrm>
            <a:off x="3172606" y="3746649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30"/>
          <p:cNvCxnSpPr/>
          <p:nvPr/>
        </p:nvCxnSpPr>
        <p:spPr>
          <a:xfrm>
            <a:off x="5731957" y="3746649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30"/>
          <p:cNvSpPr txBox="1"/>
          <p:nvPr/>
        </p:nvSpPr>
        <p:spPr>
          <a:xfrm>
            <a:off x="3517350" y="2215325"/>
            <a:ext cx="2275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Target Architecture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2380575" y="4039739"/>
            <a:ext cx="1603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Reminder of process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0"/>
          <p:cNvSpPr txBox="1"/>
          <p:nvPr/>
        </p:nvSpPr>
        <p:spPr>
          <a:xfrm>
            <a:off x="856045" y="2214694"/>
            <a:ext cx="2365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Introduction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30"/>
          <p:cNvCxnSpPr/>
          <p:nvPr/>
        </p:nvCxnSpPr>
        <p:spPr>
          <a:xfrm>
            <a:off x="6064066" y="3386609"/>
            <a:ext cx="675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p30"/>
          <p:cNvSpPr/>
          <p:nvPr/>
        </p:nvSpPr>
        <p:spPr>
          <a:xfrm>
            <a:off x="6739325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5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30"/>
          <p:cNvCxnSpPr/>
          <p:nvPr/>
        </p:nvCxnSpPr>
        <p:spPr>
          <a:xfrm>
            <a:off x="7017931" y="2810545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2" name="Google Shape;182;p30"/>
          <p:cNvSpPr txBox="1"/>
          <p:nvPr/>
        </p:nvSpPr>
        <p:spPr>
          <a:xfrm>
            <a:off x="6173583" y="2338236"/>
            <a:ext cx="170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RoadMap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0"/>
          <p:cNvSpPr txBox="1"/>
          <p:nvPr/>
        </p:nvSpPr>
        <p:spPr>
          <a:xfrm>
            <a:off x="4546283" y="4044131"/>
            <a:ext cx="2365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Functional Scope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0"/>
          <p:cNvSpPr/>
          <p:nvPr/>
        </p:nvSpPr>
        <p:spPr>
          <a:xfrm>
            <a:off x="7958525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6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30"/>
          <p:cNvCxnSpPr/>
          <p:nvPr/>
        </p:nvCxnSpPr>
        <p:spPr>
          <a:xfrm>
            <a:off x="7283266" y="3386609"/>
            <a:ext cx="675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6" name="Google Shape;186;p30"/>
          <p:cNvCxnSpPr/>
          <p:nvPr/>
        </p:nvCxnSpPr>
        <p:spPr>
          <a:xfrm>
            <a:off x="8237131" y="3724945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" name="Google Shape;187;p30"/>
          <p:cNvSpPr txBox="1"/>
          <p:nvPr/>
        </p:nvSpPr>
        <p:spPr>
          <a:xfrm>
            <a:off x="7392783" y="4090836"/>
            <a:ext cx="170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Communication Plan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/>
          <p:nvPr/>
        </p:nvSpPr>
        <p:spPr>
          <a:xfrm>
            <a:off x="503475" y="1116025"/>
            <a:ext cx="8103600" cy="2567700"/>
          </a:xfrm>
          <a:prstGeom prst="rect">
            <a:avLst/>
          </a:prstGeom>
          <a:noFill/>
          <a:ln w="9525" cap="flat" cmpd="sng">
            <a:solidFill>
              <a:srgbClr val="001C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16000" rIns="91425" bIns="45700" anchor="t" anchorCtr="0">
            <a:noAutofit/>
          </a:bodyPr>
          <a:lstStyle/>
          <a:p>
            <a:pPr marL="790575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Noto Sans Symbols"/>
              <a:buChar char="❖"/>
            </a:pPr>
            <a:r>
              <a:rPr lang="en-US" sz="2000" b="1" u="sng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Context 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556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Build an active / active calculation platform on both datacenter aws Ireland and aws Canada.</a:t>
            </a:r>
            <a:endParaRPr sz="20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90575" marR="0" lvl="1" indent="-342900" algn="l" rtl="0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Noto Sans Symbols"/>
              <a:buChar char="❖"/>
            </a:pPr>
            <a:r>
              <a:rPr lang="en-US" sz="2000" b="1" u="sng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Stake </a:t>
            </a:r>
            <a:endParaRPr sz="20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556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Ongoing Support group strategy for having a  central platform.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556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Continuously improving existing high availability solution with a minimum of  downtime. 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i="0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1"/>
          <p:cNvSpPr txBox="1">
            <a:spLocks noGrp="1"/>
          </p:cNvSpPr>
          <p:nvPr>
            <p:ph type="title"/>
          </p:nvPr>
        </p:nvSpPr>
        <p:spPr>
          <a:xfrm>
            <a:off x="648275" y="720100"/>
            <a:ext cx="34281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rgbClr val="002A63"/>
              </a:buClr>
              <a:buSzPts val="2800"/>
              <a:buFont typeface="Calibri"/>
              <a:buNone/>
            </a:pPr>
            <a:r>
              <a:rPr lang="en-US" sz="2300" u="sng"/>
              <a:t>Context &amp; Stake  </a:t>
            </a:r>
            <a:endParaRPr sz="2300" u="sng">
              <a:solidFill>
                <a:srgbClr val="002A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1"/>
          <p:cNvSpPr txBox="1">
            <a:spLocks noGrp="1"/>
          </p:cNvSpPr>
          <p:nvPr>
            <p:ph type="title"/>
          </p:nvPr>
        </p:nvSpPr>
        <p:spPr>
          <a:xfrm>
            <a:off x="973925" y="206575"/>
            <a:ext cx="69879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rgbClr val="002A63"/>
              </a:buClr>
              <a:buSzPts val="2800"/>
              <a:buFont typeface="Calibri"/>
              <a:buNone/>
            </a:pPr>
            <a:r>
              <a:rPr lang="en-US" sz="2800"/>
              <a:t>Introduction</a:t>
            </a:r>
            <a:endParaRPr sz="2800">
              <a:solidFill>
                <a:srgbClr val="002A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1"/>
          <p:cNvSpPr txBox="1">
            <a:spLocks noGrp="1"/>
          </p:cNvSpPr>
          <p:nvPr>
            <p:ph type="sldNum" idx="4294967295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97" name="Google Shape;197;p31"/>
          <p:cNvSpPr/>
          <p:nvPr/>
        </p:nvSpPr>
        <p:spPr>
          <a:xfrm>
            <a:off x="568475" y="4235425"/>
            <a:ext cx="8103600" cy="1989000"/>
          </a:xfrm>
          <a:prstGeom prst="rect">
            <a:avLst/>
          </a:prstGeom>
          <a:noFill/>
          <a:ln w="9525" cap="flat" cmpd="sng">
            <a:solidFill>
              <a:srgbClr val="001C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16000" rIns="91425" bIns="45700" anchor="t" anchorCtr="0">
            <a:noAutofit/>
          </a:bodyPr>
          <a:lstStyle/>
          <a:p>
            <a:pPr marL="790575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Confirm the project steps.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90575" marR="0" lvl="1" indent="-342900" algn="l" rtl="0"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❖"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Confirm the assignation of dedicated  resources.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90575" marR="0" lvl="1" indent="-342900" algn="l" rtl="0"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❖"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Confirm the functional Scope and roadmap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1"/>
          <p:cNvSpPr txBox="1">
            <a:spLocks noGrp="1"/>
          </p:cNvSpPr>
          <p:nvPr>
            <p:ph type="title"/>
          </p:nvPr>
        </p:nvSpPr>
        <p:spPr>
          <a:xfrm>
            <a:off x="720875" y="3825150"/>
            <a:ext cx="25416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rgbClr val="002A63"/>
              </a:buClr>
              <a:buSzPts val="2800"/>
              <a:buFont typeface="Calibri"/>
              <a:buNone/>
            </a:pPr>
            <a:r>
              <a:rPr lang="en-US" sz="2300" u="sng"/>
              <a:t>Kick off Purpose</a:t>
            </a:r>
            <a:endParaRPr sz="2300" u="sng">
              <a:solidFill>
                <a:srgbClr val="002A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>
            <a:spLocks noGrp="1"/>
          </p:cNvSpPr>
          <p:nvPr>
            <p:ph type="title"/>
          </p:nvPr>
        </p:nvSpPr>
        <p:spPr>
          <a:xfrm>
            <a:off x="557213" y="260350"/>
            <a:ext cx="78312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Reminder of the process</a:t>
            </a:r>
            <a:endParaRPr b="0" i="1">
              <a:solidFill>
                <a:srgbClr val="000000"/>
              </a:solidFill>
            </a:endParaRPr>
          </a:p>
        </p:txBody>
      </p:sp>
      <p:sp>
        <p:nvSpPr>
          <p:cNvPr id="205" name="Google Shape;205;p32"/>
          <p:cNvSpPr txBox="1"/>
          <p:nvPr/>
        </p:nvSpPr>
        <p:spPr>
          <a:xfrm>
            <a:off x="6112815" y="764704"/>
            <a:ext cx="1080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Actors</a:t>
            </a:r>
            <a:endParaRPr sz="1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2"/>
          <p:cNvSpPr/>
          <p:nvPr/>
        </p:nvSpPr>
        <p:spPr>
          <a:xfrm>
            <a:off x="5878815" y="1001486"/>
            <a:ext cx="1548000" cy="54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Viet  / 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L.TCHAMFONG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Reviews 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J.Phillipe.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2"/>
          <p:cNvSpPr/>
          <p:nvPr/>
        </p:nvSpPr>
        <p:spPr>
          <a:xfrm>
            <a:off x="5878815" y="1698171"/>
            <a:ext cx="1548000" cy="58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L.TCHAMFONG</a:t>
            </a:r>
            <a:r>
              <a:rPr lang="en-U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Viet                    J.NGUEN                                        </a:t>
            </a:r>
            <a:endParaRPr sz="1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Marc.B       </a:t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JP. Lee</a:t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F.JEAN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2"/>
          <p:cNvSpPr/>
          <p:nvPr/>
        </p:nvSpPr>
        <p:spPr>
          <a:xfrm>
            <a:off x="5893901" y="3294745"/>
            <a:ext cx="1548000" cy="68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L.TCHAMFONG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M.BESANCENOT,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Y.FUCHS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C.ADINS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2"/>
          <p:cNvSpPr/>
          <p:nvPr/>
        </p:nvSpPr>
        <p:spPr>
          <a:xfrm>
            <a:off x="5879386" y="4194630"/>
            <a:ext cx="1548000" cy="600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L.TCHAMFONG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Reviews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Viet</a:t>
            </a:r>
            <a:endParaRPr/>
          </a:p>
        </p:txBody>
      </p:sp>
      <p:sp>
        <p:nvSpPr>
          <p:cNvPr id="210" name="Google Shape;210;p32"/>
          <p:cNvSpPr/>
          <p:nvPr/>
        </p:nvSpPr>
        <p:spPr>
          <a:xfrm>
            <a:off x="5879386" y="4934859"/>
            <a:ext cx="1548000" cy="61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RIDE 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(Rashmi)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RIOS 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(Jean paul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RICS 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(K.GLA)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CCOE 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(Souad/Chun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an) </a:t>
            </a:r>
            <a:endParaRPr/>
          </a:p>
        </p:txBody>
      </p:sp>
      <p:sp>
        <p:nvSpPr>
          <p:cNvPr id="211" name="Google Shape;211;p32"/>
          <p:cNvSpPr/>
          <p:nvPr/>
        </p:nvSpPr>
        <p:spPr>
          <a:xfrm>
            <a:off x="5879386" y="5689600"/>
            <a:ext cx="1548000" cy="507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Viet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647712" y="764704"/>
            <a:ext cx="1080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 sz="1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2"/>
          <p:cNvSpPr/>
          <p:nvPr/>
        </p:nvSpPr>
        <p:spPr>
          <a:xfrm>
            <a:off x="359712" y="986971"/>
            <a:ext cx="1656000" cy="566100"/>
          </a:xfrm>
          <a:prstGeom prst="rect">
            <a:avLst/>
          </a:prstGeom>
          <a:solidFill>
            <a:srgbClr val="F0EBEF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Business Overviews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Viet </a:t>
            </a:r>
            <a:endParaRPr sz="8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2"/>
          <p:cNvSpPr/>
          <p:nvPr/>
        </p:nvSpPr>
        <p:spPr>
          <a:xfrm>
            <a:off x="359712" y="1698171"/>
            <a:ext cx="1656000" cy="581400"/>
          </a:xfrm>
          <a:prstGeom prst="rect">
            <a:avLst/>
          </a:prstGeom>
          <a:solidFill>
            <a:srgbClr val="F0EBEF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Scoping  / Requirements / Epics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Resp. Viet  …</a:t>
            </a:r>
            <a:endParaRPr sz="8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359712" y="2452916"/>
            <a:ext cx="1656000" cy="640500"/>
          </a:xfrm>
          <a:prstGeom prst="rect">
            <a:avLst/>
          </a:prstGeom>
          <a:solidFill>
            <a:srgbClr val="D8CAD6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Global Architecture  Document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Resp. </a:t>
            </a:r>
            <a:r>
              <a:rPr lang="en-US" sz="800" b="1" i="1">
                <a:latin typeface="Calibri"/>
                <a:ea typeface="Calibri"/>
                <a:cs typeface="Calibri"/>
                <a:sym typeface="Calibri"/>
              </a:rPr>
              <a:t>L.TCHAMFONG</a:t>
            </a:r>
            <a:endParaRPr sz="8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2"/>
          <p:cNvSpPr/>
          <p:nvPr/>
        </p:nvSpPr>
        <p:spPr>
          <a:xfrm>
            <a:off x="374227" y="3294745"/>
            <a:ext cx="1656000" cy="682200"/>
          </a:xfrm>
          <a:prstGeom prst="rect">
            <a:avLst/>
          </a:prstGeom>
          <a:solidFill>
            <a:srgbClr val="D8CAD6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Charge  / Resources Organizations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Resp. </a:t>
            </a:r>
            <a:r>
              <a:rPr lang="en-US" sz="1000" b="1">
                <a:latin typeface="Calibri"/>
                <a:ea typeface="Calibri"/>
                <a:cs typeface="Calibri"/>
                <a:sym typeface="Calibri"/>
              </a:rPr>
              <a:t>L.TCHAMFONG</a:t>
            </a:r>
            <a:endParaRPr sz="10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2"/>
          <p:cNvSpPr/>
          <p:nvPr/>
        </p:nvSpPr>
        <p:spPr>
          <a:xfrm>
            <a:off x="359712" y="4194630"/>
            <a:ext cx="1656000" cy="600300"/>
          </a:xfrm>
          <a:prstGeom prst="rect">
            <a:avLst/>
          </a:prstGeom>
          <a:solidFill>
            <a:srgbClr val="B599B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Direction  / Planning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 .Viet </a:t>
            </a:r>
            <a:endParaRPr sz="8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359712" y="4934859"/>
            <a:ext cx="1656000" cy="610200"/>
          </a:xfrm>
          <a:prstGeom prst="rect">
            <a:avLst/>
          </a:prstGeom>
          <a:solidFill>
            <a:srgbClr val="B599B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" tIns="36000" rIns="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Implementation /Realization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Resp. </a:t>
            </a:r>
            <a:r>
              <a:rPr lang="en-US" sz="800" b="1" i="1">
                <a:latin typeface="Calibri"/>
                <a:ea typeface="Calibri"/>
                <a:cs typeface="Calibri"/>
                <a:sym typeface="Calibri"/>
              </a:rPr>
              <a:t>L. TCHAMFONG</a:t>
            </a:r>
            <a:endParaRPr sz="8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2"/>
          <p:cNvSpPr/>
          <p:nvPr/>
        </p:nvSpPr>
        <p:spPr>
          <a:xfrm>
            <a:off x="359712" y="5689600"/>
            <a:ext cx="1656000" cy="507900"/>
          </a:xfrm>
          <a:prstGeom prst="rect">
            <a:avLst/>
          </a:prstGeom>
          <a:solidFill>
            <a:srgbClr val="B599B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Change Management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Resp. Viet</a:t>
            </a:r>
            <a:endParaRPr sz="8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2"/>
          <p:cNvSpPr txBox="1"/>
          <p:nvPr/>
        </p:nvSpPr>
        <p:spPr>
          <a:xfrm>
            <a:off x="3120109" y="764704"/>
            <a:ext cx="1656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sz="1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2"/>
          <p:cNvSpPr/>
          <p:nvPr/>
        </p:nvSpPr>
        <p:spPr>
          <a:xfrm>
            <a:off x="2148201" y="986971"/>
            <a:ext cx="3600000" cy="566100"/>
          </a:xfrm>
          <a:prstGeom prst="rect">
            <a:avLst/>
          </a:prstGeom>
          <a:solidFill>
            <a:schemeClr val="lt1">
              <a:alpha val="98820"/>
            </a:schemeClr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-57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Context Stake and </a:t>
            </a:r>
            <a:r>
              <a:rPr lang="en-US" sz="9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.</a:t>
            </a:r>
            <a:endParaRPr/>
          </a:p>
          <a:p>
            <a:pPr marL="0" marR="0" lvl="0" indent="-57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Expected Benefits / Success criteria's.</a:t>
            </a:r>
            <a:endParaRPr/>
          </a:p>
          <a:p>
            <a:pPr marL="0" marR="0" lvl="0" indent="-57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Desired deliveries dates and priorities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2"/>
          <p:cNvSpPr/>
          <p:nvPr/>
        </p:nvSpPr>
        <p:spPr>
          <a:xfrm>
            <a:off x="2146326" y="1698171"/>
            <a:ext cx="3600000" cy="58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87312" marR="0" lvl="0" indent="-3016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7312" marR="0" lvl="0" indent="-8731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Perimeter , Scoping and hypotheses per components.</a:t>
            </a:r>
            <a:endParaRPr/>
          </a:p>
          <a:p>
            <a:pPr marL="87312" marR="0" lvl="0" indent="-8731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 Matrix  of components</a:t>
            </a:r>
            <a:endParaRPr/>
          </a:p>
          <a:p>
            <a:pPr marL="87312" marR="0" lvl="0" indent="-8731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  technical's requirements ..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7312" marR="0" lvl="0" indent="-87312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2"/>
          <p:cNvSpPr/>
          <p:nvPr/>
        </p:nvSpPr>
        <p:spPr>
          <a:xfrm>
            <a:off x="2146326" y="2452916"/>
            <a:ext cx="3600000" cy="640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87312" marR="0" lvl="0" indent="-8731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 scenarios for each 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steps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2"/>
          <p:cNvSpPr/>
          <p:nvPr/>
        </p:nvSpPr>
        <p:spPr>
          <a:xfrm>
            <a:off x="2160841" y="3294745"/>
            <a:ext cx="3600000" cy="68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-57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Defined  charge / charge plan based on the technical specifications and defined  architecture</a:t>
            </a:r>
            <a:endParaRPr/>
          </a:p>
          <a:p>
            <a:pPr marL="0" marR="0" lvl="0" indent="-57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 required resources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2147538" y="4091405"/>
            <a:ext cx="3600000" cy="600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57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 direction  /  lots</a:t>
            </a:r>
            <a:endParaRPr/>
          </a:p>
          <a:p>
            <a:pPr marL="0" marR="0" lvl="0" indent="-57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detailed  project plan .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2"/>
          <p:cNvSpPr/>
          <p:nvPr/>
        </p:nvSpPr>
        <p:spPr>
          <a:xfrm>
            <a:off x="2146326" y="4934859"/>
            <a:ext cx="3600000" cy="61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Enhancement on impacted components.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2"/>
          <p:cNvSpPr/>
          <p:nvPr/>
        </p:nvSpPr>
        <p:spPr>
          <a:xfrm>
            <a:off x="2146326" y="5689600"/>
            <a:ext cx="3600000" cy="507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 change management strategy and operational training plan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2"/>
          <p:cNvSpPr txBox="1"/>
          <p:nvPr/>
        </p:nvSpPr>
        <p:spPr>
          <a:xfrm>
            <a:off x="7650472" y="764704"/>
            <a:ext cx="1080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Deliveries</a:t>
            </a:r>
            <a:endParaRPr sz="1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7560472" y="1016000"/>
            <a:ext cx="1394700" cy="52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Resume context/stake and acceptance deliveries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2"/>
          <p:cNvSpPr/>
          <p:nvPr/>
        </p:nvSpPr>
        <p:spPr>
          <a:xfrm>
            <a:off x="7560471" y="1698171"/>
            <a:ext cx="1409400" cy="58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-Scoping documents.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-Epics stories Details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2"/>
          <p:cNvSpPr/>
          <p:nvPr/>
        </p:nvSpPr>
        <p:spPr>
          <a:xfrm>
            <a:off x="7560472" y="2452916"/>
            <a:ext cx="1365900" cy="640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Applications Designs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2"/>
          <p:cNvSpPr/>
          <p:nvPr/>
        </p:nvSpPr>
        <p:spPr>
          <a:xfrm>
            <a:off x="7574987" y="3294745"/>
            <a:ext cx="1365900" cy="68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Costing components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Materials resources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Assigns  human resources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2"/>
          <p:cNvSpPr/>
          <p:nvPr/>
        </p:nvSpPr>
        <p:spPr>
          <a:xfrm>
            <a:off x="7560472" y="4194630"/>
            <a:ext cx="1380300" cy="600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Direction + Project plan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2"/>
          <p:cNvSpPr/>
          <p:nvPr/>
        </p:nvSpPr>
        <p:spPr>
          <a:xfrm>
            <a:off x="7559000" y="4934859"/>
            <a:ext cx="1381800" cy="61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2"/>
          <p:cNvSpPr/>
          <p:nvPr/>
        </p:nvSpPr>
        <p:spPr>
          <a:xfrm>
            <a:off x="7560472" y="5689600"/>
            <a:ext cx="1409400" cy="507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Change management plan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2"/>
          <p:cNvSpPr/>
          <p:nvPr/>
        </p:nvSpPr>
        <p:spPr>
          <a:xfrm>
            <a:off x="5878815" y="2460171"/>
            <a:ext cx="1548000" cy="58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72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L.TCHAMFONG</a:t>
            </a:r>
            <a:r>
              <a:rPr lang="en-U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Viet                    J.NGUEN                                        </a:t>
            </a:r>
            <a:endParaRPr sz="1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Marc.B       </a:t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JP. Lee</a:t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F.JEAN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>
            <a:spLocks noGrp="1"/>
          </p:cNvSpPr>
          <p:nvPr>
            <p:ph type="title"/>
          </p:nvPr>
        </p:nvSpPr>
        <p:spPr>
          <a:xfrm>
            <a:off x="374481" y="-72644"/>
            <a:ext cx="7200900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Target architecture</a:t>
            </a:r>
            <a:endParaRPr/>
          </a:p>
        </p:txBody>
      </p:sp>
      <p:sp>
        <p:nvSpPr>
          <p:cNvPr id="243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00" cy="18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44" name="Google Shape;24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375" y="391150"/>
            <a:ext cx="7425425" cy="645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/>
          <p:nvPr/>
        </p:nvSpPr>
        <p:spPr>
          <a:xfrm>
            <a:off x="5792050" y="1280925"/>
            <a:ext cx="3180000" cy="36597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4"/>
          <p:cNvSpPr/>
          <p:nvPr/>
        </p:nvSpPr>
        <p:spPr>
          <a:xfrm>
            <a:off x="153250" y="1357125"/>
            <a:ext cx="3180000" cy="34563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4"/>
          <p:cNvSpPr txBox="1">
            <a:spLocks noGrp="1"/>
          </p:cNvSpPr>
          <p:nvPr>
            <p:ph type="sldNum" idx="12"/>
          </p:nvPr>
        </p:nvSpPr>
        <p:spPr>
          <a:xfrm>
            <a:off x="8472458" y="6065222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53" name="Google Shape;253;p34"/>
          <p:cNvSpPr/>
          <p:nvPr/>
        </p:nvSpPr>
        <p:spPr>
          <a:xfrm>
            <a:off x="3581400" y="2796550"/>
            <a:ext cx="1086000" cy="8382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34"/>
          <p:cNvSpPr/>
          <p:nvPr/>
        </p:nvSpPr>
        <p:spPr>
          <a:xfrm>
            <a:off x="381000" y="933450"/>
            <a:ext cx="2743200" cy="838200"/>
          </a:xfrm>
          <a:prstGeom prst="rect">
            <a:avLst/>
          </a:prstGeom>
          <a:gradFill>
            <a:gsLst>
              <a:gs pos="0">
                <a:srgbClr val="3177EE"/>
              </a:gs>
              <a:gs pos="100000">
                <a:srgbClr val="113D8A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Eyecloud V2 </a:t>
            </a:r>
            <a:endParaRPr sz="16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 the current Architecture</a:t>
            </a:r>
            <a:endParaRPr/>
          </a:p>
        </p:txBody>
      </p:sp>
      <p:sp>
        <p:nvSpPr>
          <p:cNvPr id="255" name="Google Shape;255;p34"/>
          <p:cNvSpPr/>
          <p:nvPr/>
        </p:nvSpPr>
        <p:spPr>
          <a:xfrm>
            <a:off x="6019800" y="933450"/>
            <a:ext cx="2743200" cy="838200"/>
          </a:xfrm>
          <a:prstGeom prst="rect">
            <a:avLst/>
          </a:prstGeom>
          <a:gradFill>
            <a:gsLst>
              <a:gs pos="0">
                <a:srgbClr val="3177EE"/>
              </a:gs>
              <a:gs pos="100000">
                <a:srgbClr val="113D8A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Eyecloud V3</a:t>
            </a:r>
            <a:r>
              <a:rPr lang="en-US"/>
              <a:t> with the new architecture</a:t>
            </a:r>
            <a:endParaRPr/>
          </a:p>
        </p:txBody>
      </p:sp>
      <p:sp>
        <p:nvSpPr>
          <p:cNvPr id="256" name="Google Shape;256;p34"/>
          <p:cNvSpPr/>
          <p:nvPr/>
        </p:nvSpPr>
        <p:spPr>
          <a:xfrm>
            <a:off x="4038600" y="2796550"/>
            <a:ext cx="1086000" cy="8382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4"/>
          <p:cNvSpPr/>
          <p:nvPr/>
        </p:nvSpPr>
        <p:spPr>
          <a:xfrm>
            <a:off x="4495800" y="2796550"/>
            <a:ext cx="1086000" cy="8382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4"/>
          <p:cNvSpPr/>
          <p:nvPr/>
        </p:nvSpPr>
        <p:spPr>
          <a:xfrm>
            <a:off x="381000" y="3390900"/>
            <a:ext cx="2743200" cy="6669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Current Users are using V2  </a:t>
            </a:r>
            <a:endParaRPr/>
          </a:p>
        </p:txBody>
      </p:sp>
      <p:cxnSp>
        <p:nvCxnSpPr>
          <p:cNvPr id="259" name="Google Shape;259;p34"/>
          <p:cNvCxnSpPr/>
          <p:nvPr/>
        </p:nvCxnSpPr>
        <p:spPr>
          <a:xfrm rot="10800000" flipH="1">
            <a:off x="304800" y="5638950"/>
            <a:ext cx="8763600" cy="1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0" name="Google Shape;260;p34"/>
          <p:cNvSpPr txBox="1"/>
          <p:nvPr/>
        </p:nvSpPr>
        <p:spPr>
          <a:xfrm>
            <a:off x="1219200" y="5200650"/>
            <a:ext cx="742800" cy="4002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261" name="Google Shape;261;p34"/>
          <p:cNvSpPr txBox="1"/>
          <p:nvPr/>
        </p:nvSpPr>
        <p:spPr>
          <a:xfrm>
            <a:off x="7010400" y="5200650"/>
            <a:ext cx="1086000" cy="4002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Tomorrow</a:t>
            </a:r>
            <a:endParaRPr/>
          </a:p>
        </p:txBody>
      </p:sp>
      <p:sp>
        <p:nvSpPr>
          <p:cNvPr id="262" name="Google Shape;262;p34"/>
          <p:cNvSpPr/>
          <p:nvPr/>
        </p:nvSpPr>
        <p:spPr>
          <a:xfrm>
            <a:off x="6019800" y="3314700"/>
            <a:ext cx="2743200" cy="9138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Current and new Users will use V3 to get and create new IDs</a:t>
            </a:r>
            <a:endParaRPr/>
          </a:p>
        </p:txBody>
      </p:sp>
      <p:sp>
        <p:nvSpPr>
          <p:cNvPr id="263" name="Google Shape;263;p34"/>
          <p:cNvSpPr/>
          <p:nvPr/>
        </p:nvSpPr>
        <p:spPr>
          <a:xfrm>
            <a:off x="381000" y="2552700"/>
            <a:ext cx="2743200" cy="6669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Multiple ID Types (UEID, ULID</a:t>
            </a:r>
            <a:r>
              <a:rPr lang="en-US" sz="1600" b="1"/>
              <a:t>,</a:t>
            </a:r>
            <a:r>
              <a:rPr lang="en-US"/>
              <a:t>UFID, UOID)  with the V2 </a:t>
            </a:r>
            <a:endParaRPr/>
          </a:p>
        </p:txBody>
      </p:sp>
      <p:sp>
        <p:nvSpPr>
          <p:cNvPr id="264" name="Google Shape;264;p34"/>
          <p:cNvSpPr/>
          <p:nvPr/>
        </p:nvSpPr>
        <p:spPr>
          <a:xfrm>
            <a:off x="6019800" y="2476500"/>
            <a:ext cx="2743200" cy="6669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Unique ID Type with the V3 and uniqueness reinforcement </a:t>
            </a:r>
            <a:endParaRPr/>
          </a:p>
        </p:txBody>
      </p:sp>
      <p:sp>
        <p:nvSpPr>
          <p:cNvPr id="265" name="Google Shape;265;p34"/>
          <p:cNvSpPr txBox="1">
            <a:spLocks noGrp="1"/>
          </p:cNvSpPr>
          <p:nvPr>
            <p:ph type="title" idx="4294967295"/>
          </p:nvPr>
        </p:nvSpPr>
        <p:spPr>
          <a:xfrm>
            <a:off x="481013" y="107950"/>
            <a:ext cx="78312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Functional Scope Step 1 </a:t>
            </a:r>
            <a:endParaRPr b="0" i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/>
          <p:nvPr/>
        </p:nvSpPr>
        <p:spPr>
          <a:xfrm>
            <a:off x="5792050" y="1585725"/>
            <a:ext cx="3180000" cy="24465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5"/>
          <p:cNvSpPr/>
          <p:nvPr/>
        </p:nvSpPr>
        <p:spPr>
          <a:xfrm>
            <a:off x="153250" y="1661925"/>
            <a:ext cx="3180000" cy="23703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5"/>
          <p:cNvSpPr txBox="1">
            <a:spLocks noGrp="1"/>
          </p:cNvSpPr>
          <p:nvPr>
            <p:ph type="sldNum" idx="12"/>
          </p:nvPr>
        </p:nvSpPr>
        <p:spPr>
          <a:xfrm>
            <a:off x="8472458" y="6065222"/>
            <a:ext cx="548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74" name="Google Shape;274;p35"/>
          <p:cNvSpPr/>
          <p:nvPr/>
        </p:nvSpPr>
        <p:spPr>
          <a:xfrm>
            <a:off x="3581400" y="2567950"/>
            <a:ext cx="1086000" cy="8382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5"/>
          <p:cNvSpPr/>
          <p:nvPr/>
        </p:nvSpPr>
        <p:spPr>
          <a:xfrm>
            <a:off x="381000" y="1238250"/>
            <a:ext cx="2743200" cy="838200"/>
          </a:xfrm>
          <a:prstGeom prst="rect">
            <a:avLst/>
          </a:prstGeom>
          <a:gradFill>
            <a:gsLst>
              <a:gs pos="0">
                <a:srgbClr val="3177EE"/>
              </a:gs>
              <a:gs pos="100000">
                <a:srgbClr val="113D8A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Eyecloud V2 </a:t>
            </a:r>
            <a:endParaRPr sz="16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 the current Architecture</a:t>
            </a:r>
            <a:endParaRPr/>
          </a:p>
        </p:txBody>
      </p:sp>
      <p:sp>
        <p:nvSpPr>
          <p:cNvPr id="276" name="Google Shape;276;p35"/>
          <p:cNvSpPr/>
          <p:nvPr/>
        </p:nvSpPr>
        <p:spPr>
          <a:xfrm>
            <a:off x="6019800" y="1238250"/>
            <a:ext cx="2743200" cy="838200"/>
          </a:xfrm>
          <a:prstGeom prst="rect">
            <a:avLst/>
          </a:prstGeom>
          <a:gradFill>
            <a:gsLst>
              <a:gs pos="0">
                <a:srgbClr val="3177EE"/>
              </a:gs>
              <a:gs pos="100000">
                <a:srgbClr val="113D8A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Eyecloud V3</a:t>
            </a:r>
            <a:r>
              <a:rPr lang="en-US"/>
              <a:t> with the new architecture</a:t>
            </a:r>
            <a:endParaRPr/>
          </a:p>
        </p:txBody>
      </p:sp>
      <p:sp>
        <p:nvSpPr>
          <p:cNvPr id="277" name="Google Shape;277;p35"/>
          <p:cNvSpPr/>
          <p:nvPr/>
        </p:nvSpPr>
        <p:spPr>
          <a:xfrm>
            <a:off x="4038600" y="2567950"/>
            <a:ext cx="1086000" cy="8382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5"/>
          <p:cNvSpPr/>
          <p:nvPr/>
        </p:nvSpPr>
        <p:spPr>
          <a:xfrm>
            <a:off x="4495800" y="2567950"/>
            <a:ext cx="1086000" cy="8382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9" name="Google Shape;279;p35"/>
          <p:cNvCxnSpPr/>
          <p:nvPr/>
        </p:nvCxnSpPr>
        <p:spPr>
          <a:xfrm rot="10800000" flipH="1">
            <a:off x="304800" y="4648350"/>
            <a:ext cx="8763600" cy="1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0" name="Google Shape;280;p35"/>
          <p:cNvSpPr txBox="1"/>
          <p:nvPr/>
        </p:nvSpPr>
        <p:spPr>
          <a:xfrm>
            <a:off x="1219200" y="4210050"/>
            <a:ext cx="742800" cy="4002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281" name="Google Shape;281;p35"/>
          <p:cNvSpPr txBox="1"/>
          <p:nvPr/>
        </p:nvSpPr>
        <p:spPr>
          <a:xfrm>
            <a:off x="7010400" y="4210050"/>
            <a:ext cx="1086000" cy="4002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Tomorrow</a:t>
            </a:r>
            <a:endParaRPr/>
          </a:p>
        </p:txBody>
      </p:sp>
      <p:sp>
        <p:nvSpPr>
          <p:cNvPr id="282" name="Google Shape;282;p35"/>
          <p:cNvSpPr/>
          <p:nvPr/>
        </p:nvSpPr>
        <p:spPr>
          <a:xfrm>
            <a:off x="381000" y="2628900"/>
            <a:ext cx="2743200" cy="6669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Authentication and Authorization are working with Actor/Application Keys </a:t>
            </a:r>
            <a:endParaRPr/>
          </a:p>
        </p:txBody>
      </p:sp>
      <p:sp>
        <p:nvSpPr>
          <p:cNvPr id="283" name="Google Shape;283;p35"/>
          <p:cNvSpPr/>
          <p:nvPr/>
        </p:nvSpPr>
        <p:spPr>
          <a:xfrm>
            <a:off x="6019800" y="2247900"/>
            <a:ext cx="2743200" cy="6669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Authentication will work either </a:t>
            </a:r>
            <a:r>
              <a:rPr lang="en-US">
                <a:solidFill>
                  <a:schemeClr val="dk1"/>
                </a:solidFill>
              </a:rPr>
              <a:t>with </a:t>
            </a:r>
            <a:r>
              <a:rPr lang="en-US" b="1"/>
              <a:t>API keys</a:t>
            </a:r>
            <a:r>
              <a:rPr lang="en-US"/>
              <a:t> or with </a:t>
            </a:r>
            <a:r>
              <a:rPr lang="en-US" b="1"/>
              <a:t>Oauth2 </a:t>
            </a:r>
            <a:r>
              <a:rPr lang="en-US"/>
              <a:t>process*  </a:t>
            </a:r>
            <a:endParaRPr/>
          </a:p>
        </p:txBody>
      </p:sp>
      <p:sp>
        <p:nvSpPr>
          <p:cNvPr id="284" name="Google Shape;284;p35"/>
          <p:cNvSpPr txBox="1">
            <a:spLocks noGrp="1"/>
          </p:cNvSpPr>
          <p:nvPr>
            <p:ph type="title" idx="4294967295"/>
          </p:nvPr>
        </p:nvSpPr>
        <p:spPr>
          <a:xfrm>
            <a:off x="481013" y="107950"/>
            <a:ext cx="78312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Functional Scope Step 2 </a:t>
            </a:r>
            <a:endParaRPr b="0" i="1">
              <a:solidFill>
                <a:srgbClr val="000000"/>
              </a:solidFill>
            </a:endParaRPr>
          </a:p>
        </p:txBody>
      </p:sp>
      <p:sp>
        <p:nvSpPr>
          <p:cNvPr id="285" name="Google Shape;285;p35"/>
          <p:cNvSpPr/>
          <p:nvPr/>
        </p:nvSpPr>
        <p:spPr>
          <a:xfrm>
            <a:off x="6096000" y="3162300"/>
            <a:ext cx="2743200" cy="6669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Authorization will work with </a:t>
            </a:r>
            <a:r>
              <a:rPr lang="en-US" b="1"/>
              <a:t>Authz </a:t>
            </a:r>
            <a:r>
              <a:rPr lang="en-US"/>
              <a:t>Component </a:t>
            </a:r>
            <a:endParaRPr/>
          </a:p>
        </p:txBody>
      </p:sp>
      <p:sp>
        <p:nvSpPr>
          <p:cNvPr id="286" name="Google Shape;286;p35"/>
          <p:cNvSpPr txBox="1"/>
          <p:nvPr/>
        </p:nvSpPr>
        <p:spPr>
          <a:xfrm>
            <a:off x="88875" y="6309950"/>
            <a:ext cx="37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/>
              <a:t>*depending on the study (in progress) on the GDP authentication. EyeCloud will reuse the same mechanism</a:t>
            </a:r>
            <a:endParaRPr sz="1000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2" name="Google Shape;292;p36"/>
          <p:cNvGraphicFramePr/>
          <p:nvPr/>
        </p:nvGraphicFramePr>
        <p:xfrm>
          <a:off x="969602" y="765178"/>
          <a:ext cx="7204800" cy="4271515"/>
        </p:xfrm>
        <a:graphic>
          <a:graphicData uri="http://schemas.openxmlformats.org/drawingml/2006/table">
            <a:tbl>
              <a:tblPr>
                <a:noFill/>
                <a:tableStyleId>{70E6653E-D2A1-423A-9B98-3F182D12F130}</a:tableStyleId>
              </a:tblPr>
              <a:tblGrid>
                <a:gridCol w="190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2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6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5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</a:t>
                      </a: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1</a:t>
                      </a:r>
                      <a:endParaRPr sz="1500"/>
                    </a:p>
                  </a:txBody>
                  <a:tcPr marL="91450" marR="91450" marT="42200" marB="42200">
                    <a:lnL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5649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</a:t>
                      </a: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2</a:t>
                      </a:r>
                      <a:endParaRPr sz="1500"/>
                    </a:p>
                  </a:txBody>
                  <a:tcPr marL="91450" marR="91450" marT="42200" marB="42200">
                    <a:lnL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5649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November</a:t>
                      </a:r>
                      <a:endParaRPr sz="1500"/>
                    </a:p>
                  </a:txBody>
                  <a:tcPr marL="91450" marR="91450" marT="42200" marB="42200">
                    <a:lnL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BAA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December</a:t>
                      </a:r>
                      <a:endParaRPr sz="1500"/>
                    </a:p>
                  </a:txBody>
                  <a:tcPr marL="91450" marR="91450" marT="42200" marB="42200">
                    <a:lnL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BAA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Q1</a:t>
                      </a:r>
                      <a:endParaRPr sz="1500"/>
                    </a:p>
                  </a:txBody>
                  <a:tcPr marL="91450" marR="91450" marT="42200" marB="42200">
                    <a:lnL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BAA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Q2</a:t>
                      </a:r>
                      <a:endParaRPr sz="1500"/>
                    </a:p>
                  </a:txBody>
                  <a:tcPr marL="91450" marR="91450" marT="42200" marB="42200">
                    <a:lnL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BAA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 sz="1500"/>
                    </a:p>
                  </a:txBody>
                  <a:tcPr marL="91450" marR="91450" marT="42200" marB="42200">
                    <a:lnL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BAA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Q4</a:t>
                      </a:r>
                      <a:endParaRPr sz="1500"/>
                    </a:p>
                  </a:txBody>
                  <a:tcPr marL="91450" marR="91450" marT="42200" marB="42200">
                    <a:lnL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BAA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endParaRPr sz="700" b="0" i="0" u="none" strike="noStrike" cap="non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2200" marB="42200">
                    <a:lnL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endParaRPr sz="700" b="0" i="0" u="none" strike="noStrike" cap="non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2200" marB="42200">
                    <a:lnL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endParaRPr sz="700" b="0" i="0" u="none" strike="noStrike" cap="non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2200" marB="42200">
                    <a:lnL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endParaRPr sz="700" b="0" i="0" u="none" strike="noStrike" cap="non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2200" marB="42200">
                    <a:lnL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endParaRPr sz="700" b="0" i="0" u="none" strike="noStrike" cap="non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2200" marB="42200">
                    <a:lnL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endParaRPr sz="700" b="0" i="0" u="none" strike="noStrike" cap="non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2200" marB="42200">
                    <a:lnL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C8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3" name="Google Shape;293;p36"/>
          <p:cNvSpPr txBox="1">
            <a:spLocks noGrp="1"/>
          </p:cNvSpPr>
          <p:nvPr>
            <p:ph type="sldNum" idx="4294967295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3985"/>
                </a:solidFill>
              </a:rPr>
              <a:t>P.</a:t>
            </a:r>
            <a:fld id="{00000000-1234-1234-1234-123412341234}" type="slidenum">
              <a:rPr lang="en-US">
                <a:solidFill>
                  <a:srgbClr val="003985"/>
                </a:solidFill>
              </a:rPr>
              <a:t>8</a:t>
            </a:fld>
            <a:endParaRPr>
              <a:solidFill>
                <a:srgbClr val="003985"/>
              </a:solidFill>
            </a:endParaRPr>
          </a:p>
        </p:txBody>
      </p:sp>
      <p:sp>
        <p:nvSpPr>
          <p:cNvPr id="294" name="Google Shape;294;p36"/>
          <p:cNvSpPr/>
          <p:nvPr/>
        </p:nvSpPr>
        <p:spPr>
          <a:xfrm>
            <a:off x="2106875" y="1717300"/>
            <a:ext cx="2498700" cy="788100"/>
          </a:xfrm>
          <a:prstGeom prst="chevron">
            <a:avLst>
              <a:gd name="adj" fmla="val 12125"/>
            </a:avLst>
          </a:prstGeom>
          <a:solidFill>
            <a:srgbClr val="DDDDDD"/>
          </a:solidFill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endParaRPr sz="554" b="1" i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" name="Google Shape;295;p36"/>
          <p:cNvGrpSpPr/>
          <p:nvPr/>
        </p:nvGrpSpPr>
        <p:grpSpPr>
          <a:xfrm>
            <a:off x="2553260" y="1965879"/>
            <a:ext cx="1827000" cy="383400"/>
            <a:chOff x="962733" y="2156518"/>
            <a:chExt cx="1827000" cy="383400"/>
          </a:xfrm>
        </p:grpSpPr>
        <p:sp>
          <p:nvSpPr>
            <p:cNvPr id="296" name="Google Shape;296;p36"/>
            <p:cNvSpPr/>
            <p:nvPr/>
          </p:nvSpPr>
          <p:spPr>
            <a:xfrm>
              <a:off x="962733" y="2156518"/>
              <a:ext cx="1827000" cy="383400"/>
            </a:xfrm>
            <a:prstGeom prst="chevron">
              <a:avLst>
                <a:gd name="adj" fmla="val 17064"/>
              </a:avLst>
            </a:prstGeom>
            <a:solidFill>
              <a:srgbClr val="556496"/>
            </a:solidFill>
            <a:ln>
              <a:noFill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3300"/>
                </a:buClr>
                <a:buSzPts val="554"/>
                <a:buFont typeface="Noto Sans Symbols"/>
                <a:buNone/>
              </a:pPr>
              <a:endParaRPr sz="554" b="1" i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6"/>
            <p:cNvSpPr/>
            <p:nvPr/>
          </p:nvSpPr>
          <p:spPr>
            <a:xfrm>
              <a:off x="1108525" y="2228073"/>
              <a:ext cx="15054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Scoping / Requirements</a:t>
              </a: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36"/>
          <p:cNvSpPr/>
          <p:nvPr/>
        </p:nvSpPr>
        <p:spPr>
          <a:xfrm>
            <a:off x="3237858" y="1764286"/>
            <a:ext cx="9954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1">
                <a:solidFill>
                  <a:srgbClr val="103184"/>
                </a:solidFill>
                <a:latin typeface="Calibri"/>
                <a:ea typeface="Calibri"/>
                <a:cs typeface="Calibri"/>
                <a:sym typeface="Calibri"/>
              </a:rPr>
              <a:t>Scoping STEP</a:t>
            </a:r>
            <a:endParaRPr sz="1000" b="1" i="1">
              <a:solidFill>
                <a:srgbClr val="1031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6"/>
          <p:cNvSpPr/>
          <p:nvPr/>
        </p:nvSpPr>
        <p:spPr>
          <a:xfrm>
            <a:off x="4676825" y="1663475"/>
            <a:ext cx="2019300" cy="2442000"/>
          </a:xfrm>
          <a:prstGeom prst="chevron">
            <a:avLst>
              <a:gd name="adj" fmla="val 12125"/>
            </a:avLst>
          </a:prstGeom>
          <a:solidFill>
            <a:srgbClr val="DDDDDD"/>
          </a:solidFill>
          <a:ln w="9525" cap="flat" cmpd="sng">
            <a:solidFill>
              <a:srgbClr val="9494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endParaRPr sz="554" b="1" i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6"/>
          <p:cNvSpPr/>
          <p:nvPr/>
        </p:nvSpPr>
        <p:spPr>
          <a:xfrm>
            <a:off x="4905425" y="1888150"/>
            <a:ext cx="863400" cy="248700"/>
          </a:xfrm>
          <a:prstGeom prst="chevron">
            <a:avLst>
              <a:gd name="adj" fmla="val 17064"/>
            </a:avLst>
          </a:prstGeom>
          <a:solidFill>
            <a:srgbClr val="55649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lang="en-US" sz="754" b="1" i="1">
                <a:solidFill>
                  <a:srgbClr val="FFFFFF"/>
                </a:solidFill>
              </a:rPr>
              <a:t>Route 53</a:t>
            </a:r>
            <a:endParaRPr sz="754" b="1" i="1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endParaRPr sz="754" b="1" i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6"/>
          <p:cNvSpPr/>
          <p:nvPr/>
        </p:nvSpPr>
        <p:spPr>
          <a:xfrm>
            <a:off x="4716550" y="1688075"/>
            <a:ext cx="18270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1">
                <a:solidFill>
                  <a:srgbClr val="103184"/>
                </a:solidFill>
                <a:latin typeface="Calibri"/>
                <a:ea typeface="Calibri"/>
                <a:cs typeface="Calibri"/>
                <a:sym typeface="Calibri"/>
              </a:rPr>
              <a:t>Conception and Realization STEP 1</a:t>
            </a:r>
            <a:endParaRPr sz="900" b="1" i="1">
              <a:solidFill>
                <a:srgbClr val="1031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6"/>
          <p:cNvSpPr/>
          <p:nvPr/>
        </p:nvSpPr>
        <p:spPr>
          <a:xfrm>
            <a:off x="5057825" y="2590275"/>
            <a:ext cx="863400" cy="248700"/>
          </a:xfrm>
          <a:prstGeom prst="chevron">
            <a:avLst>
              <a:gd name="adj" fmla="val 17064"/>
            </a:avLst>
          </a:prstGeom>
          <a:solidFill>
            <a:srgbClr val="55649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lang="en-US" sz="754" b="1" i="1">
                <a:solidFill>
                  <a:srgbClr val="FFFFFF"/>
                </a:solidFill>
              </a:rPr>
              <a:t>S3  Replication </a:t>
            </a:r>
            <a:endParaRPr sz="754" b="1" i="1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endParaRPr sz="754" b="1" i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6"/>
          <p:cNvSpPr/>
          <p:nvPr/>
        </p:nvSpPr>
        <p:spPr>
          <a:xfrm>
            <a:off x="5057825" y="2971275"/>
            <a:ext cx="863400" cy="248700"/>
          </a:xfrm>
          <a:prstGeom prst="chevron">
            <a:avLst>
              <a:gd name="adj" fmla="val 17064"/>
            </a:avLst>
          </a:prstGeom>
          <a:solidFill>
            <a:srgbClr val="55649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endParaRPr sz="654" b="1" i="1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lang="en-US" sz="654" b="1" i="1">
                <a:solidFill>
                  <a:srgbClr val="FFFFFF"/>
                </a:solidFill>
              </a:rPr>
              <a:t>Global table in Dynamo DBs</a:t>
            </a:r>
            <a:endParaRPr sz="654" b="1" i="1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endParaRPr sz="754" b="1" i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6"/>
          <p:cNvSpPr/>
          <p:nvPr/>
        </p:nvSpPr>
        <p:spPr>
          <a:xfrm>
            <a:off x="4830250" y="3279425"/>
            <a:ext cx="1694400" cy="804900"/>
          </a:xfrm>
          <a:prstGeom prst="chevron">
            <a:avLst>
              <a:gd name="adj" fmla="val 12125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lang="en-US" sz="554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554" b="1" i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6"/>
          <p:cNvSpPr/>
          <p:nvPr/>
        </p:nvSpPr>
        <p:spPr>
          <a:xfrm>
            <a:off x="4905425" y="3504675"/>
            <a:ext cx="787200" cy="286500"/>
          </a:xfrm>
          <a:prstGeom prst="chevron">
            <a:avLst>
              <a:gd name="adj" fmla="val 17064"/>
            </a:avLst>
          </a:prstGeom>
          <a:solidFill>
            <a:srgbClr val="55649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endParaRPr sz="654" b="1" i="1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lang="en-US" sz="654" b="1" i="1">
                <a:solidFill>
                  <a:srgbClr val="FFFFFF"/>
                </a:solidFill>
              </a:rPr>
              <a:t>Discussion with users</a:t>
            </a:r>
            <a:endParaRPr sz="654" b="1" i="1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endParaRPr sz="754" b="1" i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6"/>
          <p:cNvSpPr/>
          <p:nvPr/>
        </p:nvSpPr>
        <p:spPr>
          <a:xfrm>
            <a:off x="4981625" y="3843075"/>
            <a:ext cx="787200" cy="178800"/>
          </a:xfrm>
          <a:prstGeom prst="chevron">
            <a:avLst>
              <a:gd name="adj" fmla="val 17064"/>
            </a:avLst>
          </a:prstGeom>
          <a:solidFill>
            <a:srgbClr val="55649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lang="en-US" sz="654" b="1" i="1">
                <a:solidFill>
                  <a:srgbClr val="FFFFFF"/>
                </a:solidFill>
              </a:rPr>
              <a:t>       Realization</a:t>
            </a:r>
            <a:endParaRPr sz="754" b="1" i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6"/>
          <p:cNvSpPr/>
          <p:nvPr/>
        </p:nvSpPr>
        <p:spPr>
          <a:xfrm>
            <a:off x="5057823" y="3288275"/>
            <a:ext cx="12327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1">
                <a:solidFill>
                  <a:srgbClr val="103184"/>
                </a:solidFill>
                <a:latin typeface="Calibri"/>
                <a:ea typeface="Calibri"/>
                <a:cs typeface="Calibri"/>
                <a:sym typeface="Calibri"/>
              </a:rPr>
              <a:t>Id uniqueness enhancement</a:t>
            </a:r>
            <a:endParaRPr sz="800" b="1" i="1">
              <a:solidFill>
                <a:srgbClr val="1031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6"/>
          <p:cNvSpPr/>
          <p:nvPr/>
        </p:nvSpPr>
        <p:spPr>
          <a:xfrm>
            <a:off x="4981625" y="2269150"/>
            <a:ext cx="863400" cy="248700"/>
          </a:xfrm>
          <a:prstGeom prst="chevron">
            <a:avLst>
              <a:gd name="adj" fmla="val 17064"/>
            </a:avLst>
          </a:prstGeom>
          <a:solidFill>
            <a:srgbClr val="55649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lang="en-US" sz="654" b="1" i="1">
                <a:solidFill>
                  <a:srgbClr val="FFFFFF"/>
                </a:solidFill>
              </a:rPr>
              <a:t>ASGs duplication </a:t>
            </a:r>
            <a:endParaRPr sz="654" b="1" i="1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endParaRPr sz="754" b="1" i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6"/>
          <p:cNvSpPr/>
          <p:nvPr/>
        </p:nvSpPr>
        <p:spPr>
          <a:xfrm>
            <a:off x="6505625" y="3949466"/>
            <a:ext cx="1694400" cy="1084800"/>
          </a:xfrm>
          <a:prstGeom prst="chevron">
            <a:avLst>
              <a:gd name="adj" fmla="val 12125"/>
            </a:avLst>
          </a:prstGeom>
          <a:solidFill>
            <a:srgbClr val="DDDDDD"/>
          </a:solidFill>
          <a:ln w="9525" cap="flat" cmpd="sng">
            <a:solidFill>
              <a:srgbClr val="9494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endParaRPr sz="554" b="1" i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6"/>
          <p:cNvSpPr/>
          <p:nvPr/>
        </p:nvSpPr>
        <p:spPr>
          <a:xfrm>
            <a:off x="6658025" y="4199550"/>
            <a:ext cx="863400" cy="248700"/>
          </a:xfrm>
          <a:prstGeom prst="chevron">
            <a:avLst>
              <a:gd name="adj" fmla="val 17064"/>
            </a:avLst>
          </a:prstGeom>
          <a:solidFill>
            <a:srgbClr val="55649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lang="en-US" sz="754" b="1" i="1">
                <a:solidFill>
                  <a:srgbClr val="FFFFFF"/>
                </a:solidFill>
              </a:rPr>
              <a:t>Authentication</a:t>
            </a:r>
            <a:endParaRPr sz="754" b="1" i="1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endParaRPr sz="754" b="1" i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6"/>
          <p:cNvSpPr/>
          <p:nvPr/>
        </p:nvSpPr>
        <p:spPr>
          <a:xfrm>
            <a:off x="7191425" y="4656750"/>
            <a:ext cx="863400" cy="248700"/>
          </a:xfrm>
          <a:prstGeom prst="chevron">
            <a:avLst>
              <a:gd name="adj" fmla="val 17064"/>
            </a:avLst>
          </a:prstGeom>
          <a:solidFill>
            <a:srgbClr val="55649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lang="en-US" sz="754" b="1" i="1">
                <a:solidFill>
                  <a:srgbClr val="FFFFFF"/>
                </a:solidFill>
              </a:rPr>
              <a:t>Authorization</a:t>
            </a:r>
            <a:endParaRPr sz="754" b="1" i="1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endParaRPr sz="754" b="1" i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6"/>
          <p:cNvSpPr/>
          <p:nvPr/>
        </p:nvSpPr>
        <p:spPr>
          <a:xfrm>
            <a:off x="6545350" y="3923275"/>
            <a:ext cx="18270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1">
                <a:solidFill>
                  <a:srgbClr val="103184"/>
                </a:solidFill>
                <a:latin typeface="Calibri"/>
                <a:ea typeface="Calibri"/>
                <a:cs typeface="Calibri"/>
                <a:sym typeface="Calibri"/>
              </a:rPr>
              <a:t>Conception and Realization STEP 2</a:t>
            </a:r>
            <a:endParaRPr sz="800" b="1" i="1">
              <a:solidFill>
                <a:srgbClr val="1031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>
            <a:spLocks noGrp="1"/>
          </p:cNvSpPr>
          <p:nvPr>
            <p:ph type="sldNum" idx="12"/>
          </p:nvPr>
        </p:nvSpPr>
        <p:spPr>
          <a:xfrm>
            <a:off x="8472458" y="6065222"/>
            <a:ext cx="548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319" name="Google Shape;319;p37"/>
          <p:cNvSpPr/>
          <p:nvPr/>
        </p:nvSpPr>
        <p:spPr>
          <a:xfrm>
            <a:off x="3092890" y="1238250"/>
            <a:ext cx="2412000" cy="782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Steerco Meeting with management team </a:t>
            </a:r>
            <a:endParaRPr/>
          </a:p>
        </p:txBody>
      </p:sp>
      <p:sp>
        <p:nvSpPr>
          <p:cNvPr id="320" name="Google Shape;320;p37"/>
          <p:cNvSpPr/>
          <p:nvPr/>
        </p:nvSpPr>
        <p:spPr>
          <a:xfrm>
            <a:off x="6376085" y="1238250"/>
            <a:ext cx="2412000" cy="782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Follow Up meeting with project team </a:t>
            </a:r>
            <a:endParaRPr/>
          </a:p>
        </p:txBody>
      </p:sp>
      <p:sp>
        <p:nvSpPr>
          <p:cNvPr id="321" name="Google Shape;321;p37"/>
          <p:cNvSpPr/>
          <p:nvPr/>
        </p:nvSpPr>
        <p:spPr>
          <a:xfrm>
            <a:off x="3092890" y="2257393"/>
            <a:ext cx="2412000" cy="6228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963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Once a month</a:t>
            </a:r>
            <a:endParaRPr/>
          </a:p>
        </p:txBody>
      </p:sp>
      <p:sp>
        <p:nvSpPr>
          <p:cNvPr id="322" name="Google Shape;322;p37"/>
          <p:cNvSpPr/>
          <p:nvPr/>
        </p:nvSpPr>
        <p:spPr>
          <a:xfrm>
            <a:off x="6376085" y="3116414"/>
            <a:ext cx="2412000" cy="1447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Lionel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Rashmi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Souad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Chunan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K.GLA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Jean Paul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Françoise </a:t>
            </a:r>
            <a:endParaRPr/>
          </a:p>
        </p:txBody>
      </p:sp>
      <p:sp>
        <p:nvSpPr>
          <p:cNvPr id="323" name="Google Shape;323;p37"/>
          <p:cNvSpPr/>
          <p:nvPr/>
        </p:nvSpPr>
        <p:spPr>
          <a:xfrm>
            <a:off x="6376085" y="2257393"/>
            <a:ext cx="2412000" cy="6228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963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Once a week </a:t>
            </a:r>
            <a:endParaRPr/>
          </a:p>
        </p:txBody>
      </p:sp>
      <p:sp>
        <p:nvSpPr>
          <p:cNvPr id="324" name="Google Shape;324;p37"/>
          <p:cNvSpPr txBox="1">
            <a:spLocks noGrp="1"/>
          </p:cNvSpPr>
          <p:nvPr>
            <p:ph type="title" idx="4294967295"/>
          </p:nvPr>
        </p:nvSpPr>
        <p:spPr>
          <a:xfrm>
            <a:off x="481013" y="107950"/>
            <a:ext cx="78312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Communication Plan </a:t>
            </a:r>
            <a:endParaRPr b="0" i="1">
              <a:solidFill>
                <a:srgbClr val="000000"/>
              </a:solidFill>
            </a:endParaRPr>
          </a:p>
        </p:txBody>
      </p:sp>
      <p:sp>
        <p:nvSpPr>
          <p:cNvPr id="325" name="Google Shape;325;p37"/>
          <p:cNvSpPr/>
          <p:nvPr/>
        </p:nvSpPr>
        <p:spPr>
          <a:xfrm>
            <a:off x="3159894" y="3116414"/>
            <a:ext cx="2412000" cy="1447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Lionel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Viet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Jean Philippe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Christophe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Yoann</a:t>
            </a:r>
            <a:endParaRPr/>
          </a:p>
        </p:txBody>
      </p:sp>
      <p:sp>
        <p:nvSpPr>
          <p:cNvPr id="326" name="Google Shape;326;p37"/>
          <p:cNvSpPr/>
          <p:nvPr/>
        </p:nvSpPr>
        <p:spPr>
          <a:xfrm>
            <a:off x="44890" y="1238250"/>
            <a:ext cx="2412000" cy="782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/>
              <a:t>Meeting Type </a:t>
            </a:r>
            <a:endParaRPr sz="2300"/>
          </a:p>
        </p:txBody>
      </p:sp>
      <p:sp>
        <p:nvSpPr>
          <p:cNvPr id="327" name="Google Shape;327;p37"/>
          <p:cNvSpPr/>
          <p:nvPr/>
        </p:nvSpPr>
        <p:spPr>
          <a:xfrm>
            <a:off x="44890" y="2257393"/>
            <a:ext cx="2412000" cy="6228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963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/>
              <a:t>When</a:t>
            </a:r>
            <a:endParaRPr sz="2300" b="1"/>
          </a:p>
        </p:txBody>
      </p:sp>
      <p:sp>
        <p:nvSpPr>
          <p:cNvPr id="328" name="Google Shape;328;p37"/>
          <p:cNvSpPr/>
          <p:nvPr/>
        </p:nvSpPr>
        <p:spPr>
          <a:xfrm>
            <a:off x="121100" y="3400400"/>
            <a:ext cx="2335800" cy="6228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/>
              <a:t>Who</a:t>
            </a:r>
            <a:endParaRPr sz="2300" b="1"/>
          </a:p>
        </p:txBody>
      </p:sp>
      <p:cxnSp>
        <p:nvCxnSpPr>
          <p:cNvPr id="329" name="Google Shape;329;p37"/>
          <p:cNvCxnSpPr/>
          <p:nvPr/>
        </p:nvCxnSpPr>
        <p:spPr>
          <a:xfrm>
            <a:off x="2757675" y="804575"/>
            <a:ext cx="19200" cy="432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37"/>
          <p:cNvCxnSpPr/>
          <p:nvPr/>
        </p:nvCxnSpPr>
        <p:spPr>
          <a:xfrm rot="10800000" flipH="1">
            <a:off x="95775" y="2106900"/>
            <a:ext cx="90993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37"/>
          <p:cNvCxnSpPr/>
          <p:nvPr/>
        </p:nvCxnSpPr>
        <p:spPr>
          <a:xfrm rot="10800000" flipH="1">
            <a:off x="95775" y="3021300"/>
            <a:ext cx="90993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Franfinance">
  <a:themeElements>
    <a:clrScheme name="SG_FR 1">
      <a:dk1>
        <a:srgbClr val="E60028"/>
      </a:dk1>
      <a:lt1>
        <a:srgbClr val="FFFFFF"/>
      </a:lt1>
      <a:dk2>
        <a:srgbClr val="7DBE78"/>
      </a:dk2>
      <a:lt2>
        <a:srgbClr val="6E6E87"/>
      </a:lt2>
      <a:accent1>
        <a:srgbClr val="69AACD"/>
      </a:accent1>
      <a:accent2>
        <a:srgbClr val="C8AAC3"/>
      </a:accent2>
      <a:accent3>
        <a:srgbClr val="FFFFFF"/>
      </a:accent3>
      <a:accent4>
        <a:srgbClr val="C40021"/>
      </a:accent4>
      <a:accent5>
        <a:srgbClr val="B9D2E3"/>
      </a:accent5>
      <a:accent6>
        <a:srgbClr val="B59AB0"/>
      </a:accent6>
      <a:hlink>
        <a:srgbClr val="F0B93C"/>
      </a:hlink>
      <a:folHlink>
        <a:srgbClr val="C86E5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RED">
  <a:themeElements>
    <a:clrScheme name="BRED">
      <a:dk1>
        <a:srgbClr val="000000"/>
      </a:dk1>
      <a:lt1>
        <a:srgbClr val="FFFFFF"/>
      </a:lt1>
      <a:dk2>
        <a:srgbClr val="003985"/>
      </a:dk2>
      <a:lt2>
        <a:srgbClr val="565656"/>
      </a:lt2>
      <a:accent1>
        <a:srgbClr val="003985"/>
      </a:accent1>
      <a:accent2>
        <a:srgbClr val="00B3E9"/>
      </a:accent2>
      <a:accent3>
        <a:srgbClr val="6BA8D2"/>
      </a:accent3>
      <a:accent4>
        <a:srgbClr val="005A8C"/>
      </a:accent4>
      <a:accent5>
        <a:srgbClr val="ACC6DB"/>
      </a:accent5>
      <a:accent6>
        <a:srgbClr val="F0EFEE"/>
      </a:accent6>
      <a:hlink>
        <a:srgbClr val="003985"/>
      </a:hlink>
      <a:folHlink>
        <a:srgbClr val="0039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RED">
  <a:themeElements>
    <a:clrScheme name="BRED">
      <a:dk1>
        <a:srgbClr val="000000"/>
      </a:dk1>
      <a:lt1>
        <a:srgbClr val="FFFFFF"/>
      </a:lt1>
      <a:dk2>
        <a:srgbClr val="003985"/>
      </a:dk2>
      <a:lt2>
        <a:srgbClr val="565656"/>
      </a:lt2>
      <a:accent1>
        <a:srgbClr val="003985"/>
      </a:accent1>
      <a:accent2>
        <a:srgbClr val="00B3E9"/>
      </a:accent2>
      <a:accent3>
        <a:srgbClr val="6BA8D2"/>
      </a:accent3>
      <a:accent4>
        <a:srgbClr val="005A8C"/>
      </a:accent4>
      <a:accent5>
        <a:srgbClr val="ACC6DB"/>
      </a:accent5>
      <a:accent6>
        <a:srgbClr val="F0EFEE"/>
      </a:accent6>
      <a:hlink>
        <a:srgbClr val="003985"/>
      </a:hlink>
      <a:folHlink>
        <a:srgbClr val="0039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69be49-e63e-4505-90ce-d18b3283f86f" xsi:nil="true"/>
    <lcf76f155ced4ddcb4097134ff3c332f xmlns="71b77f45-859e-4a9f-b23d-c4b37bd56895">
      <Terms xmlns="http://schemas.microsoft.com/office/infopath/2007/PartnerControls"/>
    </lcf76f155ced4ddcb4097134ff3c332f>
    <Date xmlns="71b77f45-859e-4a9f-b23d-c4b37bd56895">2023-07-13T06:34:19+00:00</Date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A86F4A466F26046961D2FEADA0F794E" ma:contentTypeVersion="16" ma:contentTypeDescription="Creare un nuovo documento." ma:contentTypeScope="" ma:versionID="5e02355d5cecf19426e57b875a489e7c">
  <xsd:schema xmlns:xsd="http://www.w3.org/2001/XMLSchema" xmlns:xs="http://www.w3.org/2001/XMLSchema" xmlns:p="http://schemas.microsoft.com/office/2006/metadata/properties" xmlns:ns2="71b77f45-859e-4a9f-b23d-c4b37bd56895" xmlns:ns3="7a69be49-e63e-4505-90ce-d18b3283f86f" targetNamespace="http://schemas.microsoft.com/office/2006/metadata/properties" ma:root="true" ma:fieldsID="626cd6fb246126ddc64a9d91192dc07e" ns2:_="" ns3:_="">
    <xsd:import namespace="71b77f45-859e-4a9f-b23d-c4b37bd56895"/>
    <xsd:import namespace="7a69be49-e63e-4505-90ce-d18b3283f8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Dat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b77f45-859e-4a9f-b23d-c4b37bd568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Tag immagine" ma:readOnly="false" ma:fieldId="{5cf76f15-5ced-4ddc-b409-7134ff3c332f}" ma:taxonomyMulti="true" ma:sspId="029e37f2-6469-464b-a75a-0b705c5d6e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Date" ma:index="21" nillable="true" ma:displayName="Date" ma:default="[today]" ma:format="DateTime" ma:internalName="Date">
      <xsd:simpleType>
        <xsd:restriction base="dms:DateTim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9be49-e63e-4505-90ce-d18b3283f86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4030f8d-2af3-4553-87be-e676b21abbb9}" ma:internalName="TaxCatchAll" ma:showField="CatchAllData" ma:web="7a69be49-e63e-4505-90ce-d18b3283f8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3BB3A5-2BF6-4007-8E8B-D96F4F5FF5C5}">
  <ds:schemaRefs>
    <ds:schemaRef ds:uri="http://schemas.microsoft.com/office/2006/metadata/properties"/>
    <ds:schemaRef ds:uri="http://schemas.microsoft.com/office/infopath/2007/PartnerControls"/>
    <ds:schemaRef ds:uri="7a69be49-e63e-4505-90ce-d18b3283f86f"/>
    <ds:schemaRef ds:uri="71b77f45-859e-4a9f-b23d-c4b37bd56895"/>
  </ds:schemaRefs>
</ds:datastoreItem>
</file>

<file path=customXml/itemProps2.xml><?xml version="1.0" encoding="utf-8"?>
<ds:datastoreItem xmlns:ds="http://schemas.openxmlformats.org/officeDocument/2006/customXml" ds:itemID="{7EE3BC13-89F5-4D87-AE63-7929715112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CE8F15-AEC0-4018-8F36-010316D544D0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Franfinance</vt:lpstr>
      <vt:lpstr>BRED</vt:lpstr>
      <vt:lpstr>BRED</vt:lpstr>
      <vt:lpstr>Simple Light</vt:lpstr>
      <vt:lpstr>KICK OFF MEETING </vt:lpstr>
      <vt:lpstr>Summary</vt:lpstr>
      <vt:lpstr>Context &amp; Stake  </vt:lpstr>
      <vt:lpstr>Reminder of the process</vt:lpstr>
      <vt:lpstr>Target architecture</vt:lpstr>
      <vt:lpstr>Functional Scope Step 1 </vt:lpstr>
      <vt:lpstr>Functional Scope Step 2 </vt:lpstr>
      <vt:lpstr>PowerPoint Presentation</vt:lpstr>
      <vt:lpstr>Communication Plan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 OFF MEETING </dc:title>
  <cp:revision>1</cp:revision>
  <dcterms:modified xsi:type="dcterms:W3CDTF">2023-07-13T06:34:37Z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0x010100FA86F4A466F26046961D2FEADA0F794E</vt:lpwstr>
  </property>
  <property fmtid="{D5CDD505-2E9C-101B-9397-08002B2CF9AE}" pid="3" name="MSIP_Label_2e9a4386-74b9-4603-ae20-950a659f9b6e_Enabled">
    <vt:lpwstr>true</vt:lpwstr>
  </property>
  <property fmtid="{D5CDD505-2E9C-101B-9397-08002B2CF9AE}" pid="4" name="MSIP_Label_2e9a4386-74b9-4603-ae20-950a659f9b6e_SetDate">
    <vt:lpwstr>2023-07-13T06:34:34Z</vt:lpwstr>
  </property>
  <property fmtid="{D5CDD505-2E9C-101B-9397-08002B2CF9AE}" pid="5" name="MSIP_Label_2e9a4386-74b9-4603-ae20-950a659f9b6e_Method">
    <vt:lpwstr>Standard</vt:lpwstr>
  </property>
  <property fmtid="{D5CDD505-2E9C-101B-9397-08002B2CF9AE}" pid="6" name="MSIP_Label_2e9a4386-74b9-4603-ae20-950a659f9b6e_Name">
    <vt:lpwstr>Internal Use Only</vt:lpwstr>
  </property>
  <property fmtid="{D5CDD505-2E9C-101B-9397-08002B2CF9AE}" pid="7" name="MSIP_Label_2e9a4386-74b9-4603-ae20-950a659f9b6e_SiteId">
    <vt:lpwstr>c7d1a8f7-0546-4a0c-8cf5-3ddaebf97d51</vt:lpwstr>
  </property>
  <property fmtid="{D5CDD505-2E9C-101B-9397-08002B2CF9AE}" pid="8" name="MSIP_Label_2e9a4386-74b9-4603-ae20-950a659f9b6e_ActionId">
    <vt:lpwstr>93eee4b8-5448-45cc-8689-83bc5d533d08</vt:lpwstr>
  </property>
  <property fmtid="{D5CDD505-2E9C-101B-9397-08002B2CF9AE}" pid="9" name="MSIP_Label_2e9a4386-74b9-4603-ae20-950a659f9b6e_ContentBits">
    <vt:lpwstr>0</vt:lpwstr>
  </property>
  <property fmtid="{D5CDD505-2E9C-101B-9397-08002B2CF9AE}" pid="10" name="MediaServiceImageTags">
    <vt:lpwstr/>
  </property>
</Properties>
</file>
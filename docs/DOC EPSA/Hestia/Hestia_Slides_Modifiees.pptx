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 des demandes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list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75488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N°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Nom / Name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11680" y="1234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Email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83280" y="12344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Titre / Title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06240" y="1234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Statut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0" y="1234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Actions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572768"/>
            <a:ext cx="4754880" cy="38404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57276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11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157276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Gazol Marc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11680" y="15727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marc.gazol@...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383280" y="157276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Chef de projet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251960" y="1664208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D1FAE5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16642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66534"/>
                </a:solidFill>
              </a:rPr>
              <a:t>Valide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754880" y="15727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ⓘ  👁  🔑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1975104"/>
            <a:ext cx="47548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197510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10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" y="197510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Williams John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11680" y="19751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john.williams@...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383280" y="197510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COSED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206240" y="2066544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4206240" y="206654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2400E"/>
                </a:solidFill>
              </a:rPr>
              <a:t>En cours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754880" y="197510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ⓘ  ✏  🔑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0" y="1234440"/>
            <a:ext cx="338328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557784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Boutons d'action / Action buttons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1691640"/>
            <a:ext cx="3383280" cy="777240"/>
          </a:xfrm>
          <a:prstGeom prst="rect">
            <a:avLst>
              <a:gd name="adj" fmla="val 5882"/>
            </a:avLst>
          </a:prstGeom>
          <a:solidFill>
            <a:srgbClr val="F5F7FA"/>
          </a:solidFill>
          <a:ln/>
        </p:spPr>
      </p:sp>
      <p:sp>
        <p:nvSpPr>
          <p:cNvPr id="32" name="Shape 30"/>
          <p:cNvSpPr/>
          <p:nvPr/>
        </p:nvSpPr>
        <p:spPr>
          <a:xfrm>
            <a:off x="5623560" y="180136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5623560" y="1801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ⓘ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80760" y="1719072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Historique de la fiche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Affiche qui a créé et modifié la demande.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7C8DB5"/>
                </a:solidFill>
              </a:rPr>
              <a:t>Request history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7C8DB5"/>
                </a:solidFill>
              </a:rPr>
              <a:t>Shows who created and modified the request.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0" y="2578608"/>
            <a:ext cx="3383280" cy="1143000"/>
          </a:xfrm>
          <a:prstGeom prst="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36" name="Shape 34"/>
          <p:cNvSpPr/>
          <p:nvPr/>
        </p:nvSpPr>
        <p:spPr>
          <a:xfrm>
            <a:off x="5623560" y="2688336"/>
            <a:ext cx="365760" cy="3657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37" name="Text 35"/>
          <p:cNvSpPr/>
          <p:nvPr/>
        </p:nvSpPr>
        <p:spPr>
          <a:xfrm>
            <a:off x="5596128" y="2688336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👁/✏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80760" y="2578608"/>
            <a:ext cx="2697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Consulter ou modifier la fiche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7C8DB5"/>
                </a:solidFill>
              </a:rPr>
              <a:t>View or edit the request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👁 Œil = Statut « Validé ».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Le compte AD est créé. Fiche en lecture seule.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7C8DB5"/>
                </a:solidFill>
              </a:rPr>
              <a:t>Eye = "Valid" status. AD account created. Read-only.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✏ Crayon = Statut « En cours ».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Le compte n'est pas encore créé. Fiche modifiable.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7C8DB5"/>
                </a:solidFill>
              </a:rPr>
              <a:t>Pencil = "In progress". Account not yet created. Editable.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0" y="3831336"/>
            <a:ext cx="3383280" cy="777240"/>
          </a:xfrm>
          <a:prstGeom prst="rect">
            <a:avLst>
              <a:gd name="adj" fmla="val 5882"/>
            </a:avLst>
          </a:prstGeom>
          <a:solidFill>
            <a:srgbClr val="F5F7FA"/>
          </a:solidFill>
          <a:ln/>
        </p:spPr>
      </p:sp>
      <p:sp>
        <p:nvSpPr>
          <p:cNvPr id="40" name="Shape 38"/>
          <p:cNvSpPr/>
          <p:nvPr/>
        </p:nvSpPr>
        <p:spPr>
          <a:xfrm>
            <a:off x="5623560" y="394106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1" name="Text 39"/>
          <p:cNvSpPr/>
          <p:nvPr/>
        </p:nvSpPr>
        <p:spPr>
          <a:xfrm>
            <a:off x="5623560" y="3941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🔑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080760" y="3831336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Affecter les licences (IT uniquement)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Permet à l'IT d'attribuer les licences applicatives.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7C8DB5"/>
                </a:solidFill>
              </a:rPr>
              <a:t>Assign licenses (IT only)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7C8DB5"/>
                </a:solidFill>
              </a:rPr>
              <a:t>Allows IT to assign application licenses.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Formulaire de demande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request 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Champs obligatoires (*)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7C8DB5"/>
                </a:solidFill>
              </a:rPr>
              <a:t>Required fields (*)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114800" cy="1691640"/>
          </a:xfrm>
          <a:prstGeom prst="rect">
            <a:avLst>
              <a:gd name="adj" fmla="val 2703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54480"/>
            <a:ext cx="3886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2A4A"/>
                </a:solidFill>
              </a:rPr>
              <a:t>Badge Alma 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6B7280"/>
                </a:solidFill>
              </a:rPr>
              <a:t>Oui/Non</a:t>
            </a:r>
            <a:pPr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7C8DB5"/>
                </a:solidFill>
              </a:rPr>
              <a:t>  •  Need an Alma badge? Yes/No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2A4A"/>
                </a:solidFill>
              </a:rPr>
              <a:t>Prénom* / Nom*</a:t>
            </a:r>
            <a:pPr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7C8DB5"/>
                </a:solidFill>
              </a:rPr>
              <a:t>  •  First Name* / Last Name*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2A4A"/>
                </a:solidFill>
              </a:rPr>
              <a:t>Externe ?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6B7280"/>
                </a:solidFill>
              </a:rPr>
              <a:t>Oui/Non</a:t>
            </a:r>
            <a:pPr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7C8DB5"/>
                </a:solidFill>
              </a:rPr>
              <a:t>  •  External? Yes/No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2A4A"/>
                </a:solidFill>
              </a:rPr>
              <a:t>Domaine*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B7280"/>
                </a:solidFill>
              </a:rPr>
              <a:t> (liste déroulante)</a:t>
            </a:r>
            <a:pPr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7C8DB5"/>
                </a:solidFill>
              </a:rPr>
              <a:t>  •  Domaine* (dropdown)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2A4A"/>
                </a:solidFill>
              </a:rPr>
              <a:t>Email professionnel*</a:t>
            </a:r>
            <a:pPr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7C8DB5"/>
                </a:solidFill>
              </a:rPr>
              <a:t>  •  Professional Email Address*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2A4A"/>
                </a:solidFill>
              </a:rPr>
              <a:t>Pays</a:t>
            </a:r>
            <a:pPr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7C8DB5"/>
                </a:solidFill>
              </a:rPr>
              <a:t>  •  Country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2A4A"/>
                </a:solidFill>
              </a:rPr>
              <a:t>Titre du poste*</a:t>
            </a:r>
            <a:pPr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7C8DB5"/>
                </a:solidFill>
              </a:rPr>
              <a:t>  •  Job Title*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2A4A"/>
                </a:solidFill>
              </a:rPr>
              <a:t>Entité légale* / Secteur* / Service*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7C8DB5"/>
                </a:solidFill>
              </a:rPr>
              <a:t>Legal Entity* / Business Sector* / Department*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4114800" cy="1508760"/>
          </a:xfrm>
          <a:prstGeom prst="rect">
            <a:avLst>
              <a:gd name="adj" fmla="val 3030"/>
            </a:avLst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319272"/>
            <a:ext cx="388620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2A4A"/>
                </a:solidFill>
              </a:rPr>
              <a:t>Listes de distribution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B7280"/>
                </a:solidFill>
              </a:rPr>
              <a:t> (auto selon entité)</a:t>
            </a:r>
            <a:pPr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7C8DB5"/>
                </a:solidFill>
              </a:rPr>
              <a:t>  •  Distribution lists (auto by entity)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2A4A"/>
                </a:solidFill>
              </a:rPr>
              <a:t>Bureau / Statut employé</a:t>
            </a:r>
            <a:pPr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7C8DB5"/>
                </a:solidFill>
              </a:rPr>
              <a:t>  •  Office / Employee Status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2A4A"/>
                </a:solidFill>
              </a:rPr>
              <a:t>Manager*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B7280"/>
                </a:solidFill>
              </a:rPr>
              <a:t> (recherche par nom/email)</a:t>
            </a:r>
            <a:pPr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7C8DB5"/>
                </a:solidFill>
              </a:rPr>
              <a:t>  •  Search for a manager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2A4A"/>
                </a:solidFill>
              </a:rPr>
              <a:t>Manager Email*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2A4A"/>
                </a:solidFill>
              </a:rPr>
              <a:t>Collaborateur cible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B7280"/>
                </a:solidFill>
              </a:rPr>
              <a:t> (si remplacement)</a:t>
            </a:r>
            <a:pPr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7C8DB5"/>
                </a:solidFill>
              </a:rPr>
              <a:t>  •  Target collaborator (if replacing)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2A4A"/>
                </a:solidFill>
              </a:rPr>
              <a:t>Date d'entrée* / Date de sortie</a:t>
            </a:r>
            <a:pPr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7C8DB5"/>
                </a:solidFill>
              </a:rPr>
              <a:t>  •  Entry Date* / Exit Date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2A4A"/>
                </a:solidFill>
              </a:rPr>
              <a:t>Tél. pro / Fonction support</a:t>
            </a:r>
            <a:pPr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7C8DB5"/>
                </a:solidFill>
              </a:rPr>
              <a:t>  •  Phone / Support Function?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2A4A"/>
                </a:solidFill>
              </a:rPr>
              <a:t>Remarques*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B7280"/>
                </a:solidFill>
              </a:rPr>
              <a:t> (saisir « RAS » si aucune)</a:t>
            </a:r>
            <a:pPr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7C8DB5"/>
                </a:solidFill>
              </a:rPr>
              <a:t>  •  Remarks* (enter "RAS" / "N/A" if none)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4023360" cy="347472"/>
          </a:xfrm>
          <a:prstGeom prst="rect">
            <a:avLst>
              <a:gd name="adj" fmla="val 13158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</a:rPr>
              <a:t>Étape par étape</a:t>
            </a:r>
            <a:pPr indent="0" marL="0">
              <a:buNone/>
            </a:pPr>
            <a:r>
              <a:rPr lang="en-US" sz="900" i="1" dirty="0">
                <a:solidFill>
                  <a:srgbClr val="7C8DB5"/>
                </a:solidFill>
              </a:rPr>
              <a:t>  /  Step by step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1609344"/>
            <a:ext cx="256032" cy="256032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6093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57800" y="157276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</a:rPr>
              <a:t>Cliquez « + Ajouter » depuis la liste Onboarding.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57800" y="177393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8DB5"/>
                </a:solidFill>
              </a:rPr>
              <a:t>Click « + Add » from the Onboarding list.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92040" y="2093976"/>
            <a:ext cx="256032" cy="256032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0939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57800" y="205740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</a:rPr>
              <a:t>Remplissez tous les champs marqués *.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57800" y="225856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8DB5"/>
                </a:solidFill>
              </a:rPr>
              <a:t>Fill in all fields marked *.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92040" y="2578608"/>
            <a:ext cx="256032" cy="256032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5786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254203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</a:rPr>
              <a:t>Recherchez le manager par nom ou email.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57800" y="274320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8DB5"/>
                </a:solidFill>
              </a:rPr>
              <a:t>Search the manager by name or email.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92040" y="3063240"/>
            <a:ext cx="256032" cy="256032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063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302666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</a:rPr>
              <a:t>Vérifiez les listes de distribution (auto selon entité).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57800" y="322783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8DB5"/>
                </a:solidFill>
              </a:rPr>
              <a:t>Check distribution lists (auto-filled by entity).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92040" y="3547872"/>
            <a:ext cx="256032" cy="256032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5478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351129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</a:rPr>
              <a:t>Cliquez « Sauvegarder ». L'IT sera notifié.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57800" y="371246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8DB5"/>
                </a:solidFill>
              </a:rPr>
              <a:t>Click « Save ». IT will be notified.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0" y="4069080"/>
            <a:ext cx="4023360" cy="731520"/>
          </a:xfrm>
          <a:prstGeom prst="rect">
            <a:avLst>
              <a:gd name="adj" fmla="val 6250"/>
            </a:avLst>
          </a:prstGeom>
          <a:solidFill>
            <a:srgbClr val="FEF3C7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41148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⚠ Important : </a:t>
            </a:r>
            <a:pPr indent="0" marL="0">
              <a:buNone/>
            </a:pPr>
            <a:r>
              <a:rPr lang="en-US" sz="800" dirty="0">
                <a:solidFill>
                  <a:srgbClr val="92400E"/>
                </a:solidFill>
              </a:rPr>
              <a:t>Le champ Remarques est obligatoire. Saisissez « RAS » si rien à signaler.</a:t>
            </a:r>
            <a:endParaRPr lang="en-US" sz="850" dirty="0"/>
          </a:p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</a:rPr>
              <a:t>⚠ Note: </a:t>
            </a:r>
            <a:pPr indent="0" marL="0">
              <a:buNone/>
            </a:pPr>
            <a:r>
              <a:rPr lang="en-US" sz="750" i="1" dirty="0">
                <a:solidFill>
                  <a:srgbClr val="92400E"/>
                </a:solidFill>
              </a:rPr>
              <a:t>The Remarks field is mandatory. Enter « N/A » if nothing to report.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MAILING LISTS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3 onglets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 tabs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06040" cy="365760"/>
          </a:xfrm>
          <a:prstGeom prst="rect">
            <a:avLst>
              <a:gd name="adj" fmla="val 12500"/>
            </a:avLst>
          </a:prstGeom>
          <a:solidFill>
            <a:srgbClr val="E8A83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Propriétés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B5"/>
                </a:solidFill>
              </a:rPr>
              <a:t>Properties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2606040" cy="3246120"/>
          </a:xfrm>
          <a:prstGeom prst="rect">
            <a:avLst>
              <a:gd name="adj" fmla="val 1754"/>
            </a:avLst>
          </a:prstGeom>
          <a:solidFill>
            <a:srgbClr val="F5F7F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91640"/>
            <a:ext cx="2240280" cy="320040"/>
          </a:xfrm>
          <a:prstGeom prst="rect">
            <a:avLst>
              <a:gd name="adj" fmla="val 11429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Lecture seule</a:t>
            </a:r>
            <a:endParaRPr lang="en-US" sz="8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C8DB5"/>
                </a:solidFill>
              </a:rPr>
              <a:t>Read-only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2103120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B2A4A"/>
                </a:solidFill>
              </a:rPr>
              <a:t>Champs visibles 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i="1" dirty="0">
                <a:solidFill>
                  <a:srgbClr val="7C8DB5"/>
                </a:solidFill>
              </a:rPr>
              <a:t>Visible fields: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</a:rPr>
              <a:t>• Nom du groupe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7C8DB5"/>
                </a:solidFill>
              </a:rPr>
              <a:t>   Group name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</a:rPr>
              <a:t>• Adresse e-mail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7C8DB5"/>
                </a:solidFill>
              </a:rPr>
              <a:t>   Email address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</a:rPr>
              <a:t>• Description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7C8DB5"/>
                </a:solidFill>
              </a:rPr>
              <a:t>   Description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9CA3AF"/>
                </a:solidFill>
              </a:rPr>
              <a:t>Tous les champs sont grisés.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9CA3AF"/>
                </a:solidFill>
              </a:rPr>
              <a:t>Aucune modification possible.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i="1" dirty="0">
                <a:solidFill>
                  <a:srgbClr val="7C8DB5"/>
                </a:solidFill>
              </a:rPr>
              <a:t>All fields are greyed out.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i="1" dirty="0">
                <a:solidFill>
                  <a:srgbClr val="7C8DB5"/>
                </a:solidFill>
              </a:rPr>
              <a:t>No editing allowed.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64408" y="1143000"/>
            <a:ext cx="2606040" cy="365760"/>
          </a:xfrm>
          <a:prstGeom prst="rect">
            <a:avLst>
              <a:gd name="adj" fmla="val 12500"/>
            </a:avLst>
          </a:prstGeom>
          <a:solidFill>
            <a:srgbClr val="2C3E6B"/>
          </a:solidFill>
          <a:ln/>
        </p:spPr>
      </p:sp>
      <p:sp>
        <p:nvSpPr>
          <p:cNvPr id="13" name="Text 11"/>
          <p:cNvSpPr/>
          <p:nvPr/>
        </p:nvSpPr>
        <p:spPr>
          <a:xfrm>
            <a:off x="3264408" y="1143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Membres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B5"/>
                </a:solidFill>
              </a:rPr>
              <a:t>Members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64408" y="1554480"/>
            <a:ext cx="2606040" cy="3246120"/>
          </a:xfrm>
          <a:prstGeom prst="rect">
            <a:avLst>
              <a:gd name="adj" fmla="val 1754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3447288" y="1691640"/>
            <a:ext cx="2240280" cy="320040"/>
          </a:xfrm>
          <a:prstGeom prst="rect">
            <a:avLst>
              <a:gd name="adj" fmla="val 11429"/>
            </a:avLst>
          </a:prstGeom>
          <a:solidFill>
            <a:srgbClr val="DCFCE7"/>
          </a:solidFill>
          <a:ln/>
        </p:spPr>
      </p:sp>
      <p:sp>
        <p:nvSpPr>
          <p:cNvPr id="16" name="Text 14"/>
          <p:cNvSpPr/>
          <p:nvPr/>
        </p:nvSpPr>
        <p:spPr>
          <a:xfrm>
            <a:off x="3447288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Ajout &amp; Suppression</a:t>
            </a:r>
            <a:endParaRPr lang="en-US" sz="8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166534"/>
                </a:solidFill>
              </a:rPr>
              <a:t>Add &amp; Remove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01568" y="2103120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B2A4A"/>
                </a:solidFill>
              </a:rPr>
              <a:t>Fonctions 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i="1" dirty="0">
                <a:solidFill>
                  <a:srgbClr val="7C8DB5"/>
                </a:solidFill>
              </a:rPr>
              <a:t>Features: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</a:rPr>
              <a:t>• Liste des membres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7C8DB5"/>
                </a:solidFill>
              </a:rPr>
              <a:t>   Member list (name + email)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</a:rPr>
              <a:t>• Filtrer les membres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7C8DB5"/>
                </a:solidFill>
              </a:rPr>
              <a:t>   Filter members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</a:rPr>
              <a:t>• Ajouter des membres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7C8DB5"/>
                </a:solidFill>
              </a:rPr>
              <a:t>   Add members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</a:rPr>
              <a:t>• Supprimer (individuel ou lot)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7C8DB5"/>
                </a:solidFill>
              </a:rPr>
              <a:t>   Remove (individual or bulk)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</a:rPr>
              <a:t>• Confirmation avant suppression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7C8DB5"/>
                </a:solidFill>
              </a:rPr>
              <a:t>   Confirmation required before deletion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71616" y="1143000"/>
            <a:ext cx="2606040" cy="365760"/>
          </a:xfrm>
          <a:prstGeom prst="rect">
            <a:avLst>
              <a:gd name="adj" fmla="val 12500"/>
            </a:avLst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6071616" y="1143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Propriétaires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D1D5DB"/>
                </a:solidFill>
              </a:rPr>
              <a:t>Owners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71616" y="1554480"/>
            <a:ext cx="2606040" cy="3246120"/>
          </a:xfrm>
          <a:prstGeom prst="rect">
            <a:avLst>
              <a:gd name="adj" fmla="val 1754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4496" y="1691640"/>
            <a:ext cx="2240280" cy="320040"/>
          </a:xfrm>
          <a:prstGeom prst="rect">
            <a:avLst>
              <a:gd name="adj" fmla="val 11429"/>
            </a:avLst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6254496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Lecture seule</a:t>
            </a:r>
            <a:endParaRPr lang="en-US" sz="8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C8DB5"/>
                </a:solidFill>
              </a:rPr>
              <a:t>Read-only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08776" y="2103120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B2A4A"/>
                </a:solidFill>
              </a:rPr>
              <a:t>Infos affichées 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i="1" dirty="0">
                <a:solidFill>
                  <a:srgbClr val="7C8DB5"/>
                </a:solidFill>
              </a:rPr>
              <a:t>Displayed info: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</a:rPr>
              <a:t>• Nom du propriétaire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7C8DB5"/>
                </a:solidFill>
              </a:rPr>
              <a:t>   Owner name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</a:rPr>
              <a:t>• Adresse email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7C8DB5"/>
                </a:solidFill>
              </a:rPr>
              <a:t>   Email address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9CA3AF"/>
                </a:solidFill>
              </a:rPr>
              <a:t>La gestion des propriétaires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9CA3AF"/>
                </a:solidFill>
              </a:rPr>
              <a:t>se fait via le portail Azure.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i="1" dirty="0">
                <a:solidFill>
                  <a:srgbClr val="7C8DB5"/>
                </a:solidFill>
              </a:rPr>
              <a:t>Owner management is done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i="1" dirty="0">
                <a:solidFill>
                  <a:srgbClr val="7C8DB5"/>
                </a:solidFill>
              </a:rPr>
              <a:t>via the Azure portal.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Hestia - Slides modifiées</dc:title>
  <dc:subject>PptxGenJS Presentation</dc:subject>
  <dc:creator>EPSA Group</dc:creator>
  <cp:lastModifiedBy>EPSA Group</cp:lastModifiedBy>
  <cp:revision>1</cp:revision>
  <dcterms:created xsi:type="dcterms:W3CDTF">2026-02-03T14:52:22Z</dcterms:created>
  <dcterms:modified xsi:type="dcterms:W3CDTF">2026-02-03T14:52:22Z</dcterms:modified>
</cp:coreProperties>
</file>
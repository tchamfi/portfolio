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  <p:sldMasterId id="2147483662" r:id="rId5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9144000" cy="5143500" type="screen16x9"/>
  <p:notesSz cx="6662738" cy="9926638"/>
  <p:embeddedFontLst>
    <p:embeddedFont>
      <p:font typeface="Rambla" panose="020B0604020202020204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h-Viet TON THAT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FA42FB-BFE6-41E9-815B-F85DEFA9ECF2}">
  <a:tblStyle styleId="{30FA42FB-BFE6-41E9-815B-F85DEFA9EC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7.fntdata"/><Relationship Id="rId21" Type="http://schemas.openxmlformats.org/officeDocument/2006/relationships/slide" Target="slides/slide16.xml"/><Relationship Id="rId34" Type="http://schemas.openxmlformats.org/officeDocument/2006/relationships/font" Target="fonts/font2.fntdata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4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3.fntdata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rren DILIDILI" userId="S::warren.dilidili@ext.essilor.com::69202629-0b5b-4123-86c7-c185813df694" providerId="AD" clId="Web-{8FAA1986-962D-80DE-8EFE-EE3F992F5434}"/>
    <pc:docChg chg="mod">
      <pc:chgData name="Warren DILIDILI" userId="S::warren.dilidili@ext.essilor.com::69202629-0b5b-4123-86c7-c185813df694" providerId="AD" clId="Web-{8FAA1986-962D-80DE-8EFE-EE3F992F5434}" dt="2023-11-28T04:31:30.820" v="0" actId="33475"/>
      <pc:docMkLst>
        <pc:docMk/>
      </pc:docMkLst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9-02T07:27:13.759" idx="1">
    <p:pos x="2939" y="1133"/>
    <p:text>will be move to ALB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7663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73488" y="0"/>
            <a:ext cx="2887662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1696" y="744538"/>
            <a:ext cx="6621000" cy="372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3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54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54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54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54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54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163"/>
            <a:ext cx="2887663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662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603a08a165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5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603a08a165_0_246:notes"/>
          <p:cNvSpPr txBox="1">
            <a:spLocks noGrp="1"/>
          </p:cNvSpPr>
          <p:nvPr>
            <p:ph type="body" idx="1"/>
          </p:nvPr>
        </p:nvSpPr>
        <p:spPr>
          <a:xfrm>
            <a:off x="666272" y="4715147"/>
            <a:ext cx="53301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d688bc506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5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ed688bc506_0_384:notes"/>
          <p:cNvSpPr txBox="1">
            <a:spLocks noGrp="1"/>
          </p:cNvSpPr>
          <p:nvPr>
            <p:ph type="body" idx="1"/>
          </p:nvPr>
        </p:nvSpPr>
        <p:spPr>
          <a:xfrm>
            <a:off x="666272" y="4715147"/>
            <a:ext cx="53301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9e9c9c0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5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9e9c9c0e3_0_0:notes"/>
          <p:cNvSpPr txBox="1">
            <a:spLocks noGrp="1"/>
          </p:cNvSpPr>
          <p:nvPr>
            <p:ph type="body" idx="1"/>
          </p:nvPr>
        </p:nvSpPr>
        <p:spPr>
          <a:xfrm>
            <a:off x="666272" y="4715147"/>
            <a:ext cx="53301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9e9c9c0e3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9e9c9c0e3_0_192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79e9c9c0e3_0_192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ed688bc506_0_6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ed688bc506_0_671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ed688bc506_0_671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ed688bc506_0_6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ed688bc506_0_696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ed688bc506_0_696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b7fe4d15cd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5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b7fe4d15cd_0_39:notes"/>
          <p:cNvSpPr txBox="1">
            <a:spLocks noGrp="1"/>
          </p:cNvSpPr>
          <p:nvPr>
            <p:ph type="body" idx="1"/>
          </p:nvPr>
        </p:nvSpPr>
        <p:spPr>
          <a:xfrm>
            <a:off x="666272" y="4715147"/>
            <a:ext cx="53301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ed688bc506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5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ed688bc506_0_484:notes"/>
          <p:cNvSpPr txBox="1">
            <a:spLocks noGrp="1"/>
          </p:cNvSpPr>
          <p:nvPr>
            <p:ph type="body" idx="1"/>
          </p:nvPr>
        </p:nvSpPr>
        <p:spPr>
          <a:xfrm>
            <a:off x="666272" y="4715147"/>
            <a:ext cx="53301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ed688bc50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5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ed688bc506_0_1:notes"/>
          <p:cNvSpPr txBox="1">
            <a:spLocks noGrp="1"/>
          </p:cNvSpPr>
          <p:nvPr>
            <p:ph type="body" idx="1"/>
          </p:nvPr>
        </p:nvSpPr>
        <p:spPr>
          <a:xfrm>
            <a:off x="666272" y="4715147"/>
            <a:ext cx="53301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ed688bc506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ed688bc506_0_141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ed688bc506_0_141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d688bc506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d688bc506_0_215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ed688bc506_0_215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ed688bc506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ed688bc506_0_368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ed688bc506_0_368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ed688bc506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ed688bc506_0_358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ed688bc506_0_358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ed688bc506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5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ed688bc506_0_496:notes"/>
          <p:cNvSpPr txBox="1">
            <a:spLocks noGrp="1"/>
          </p:cNvSpPr>
          <p:nvPr>
            <p:ph type="body" idx="1"/>
          </p:nvPr>
        </p:nvSpPr>
        <p:spPr>
          <a:xfrm>
            <a:off x="666272" y="4715147"/>
            <a:ext cx="53301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ed688bc506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ed688bc506_0_518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ed688bc506_0_518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b7fe4d15cd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b7fe4d15cd_0_77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b7fe4d15cd_0_77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3e43ed0a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3e43ed0af3_0_0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13e43ed0af3_0_0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ed688bc506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ed688bc506_0_567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ged688bc506_0_567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ed688bc506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ed688bc506_0_398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ged688bc506_0_398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b7fe4d15cd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b7fe4d15cd_0_154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gb7fe4d15cd_0_154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ed688bc506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ed688bc506_0_585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ged688bc506_0_585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ed688bc506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ed688bc506_0_591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ged688bc506_0_591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ed688bc506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ed688bc506_0_631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ged688bc506_0_631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ed688bc506_0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ed688bc506_0_573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ged688bc506_0_573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b7fe4d15c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b7fe4d15cd_0_226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gb7fe4d15cd_0_226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b7fe4d15cd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b7fe4d15cd_0_266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29200" cy="44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gb7fe4d15cd_0_266:notes"/>
          <p:cNvSpPr txBox="1">
            <a:spLocks noGrp="1"/>
          </p:cNvSpPr>
          <p:nvPr>
            <p:ph type="sldNum" idx="12"/>
          </p:nvPr>
        </p:nvSpPr>
        <p:spPr>
          <a:xfrm>
            <a:off x="3773488" y="9428163"/>
            <a:ext cx="2887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 bleu">
  <p:cSld name="Titre et contenu bleu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553225" y="3058"/>
            <a:ext cx="8050800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553234" y="1187537"/>
            <a:ext cx="80508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sz="2400" i="0" u="none" strike="noStrike" cap="none">
                <a:solidFill>
                  <a:srgbClr val="535353"/>
                </a:solidFill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sz="2000" i="0" u="none" strike="noStrike" cap="none">
                <a:solidFill>
                  <a:srgbClr val="535353"/>
                </a:solidFill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i="0" u="none" strike="noStrike" cap="none">
                <a:solidFill>
                  <a:schemeClr val="dk1"/>
                </a:solidFill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i="0" u="none" strike="noStrike" cap="none">
                <a:solidFill>
                  <a:schemeClr val="dk1"/>
                </a:solidFill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955194"/>
            <a:ext cx="722459" cy="18836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2038643" y="4747256"/>
            <a:ext cx="44820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672175" y="4768481"/>
            <a:ext cx="14718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 vert">
  <p:cSld name="Titre et contenu ver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1031"/>
            <a:ext cx="7559700" cy="5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descr="\\localhost\Volumes\Commun\CLIENTS\ESSILOR\ESSI 051_Logotype Groupe\LOGOTHEQUE\LOGOTHEQUE ESSILOR GROUP\ESSILOR GROUP GREY\GREY\ESSI G GRE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1975" y="4792266"/>
            <a:ext cx="1692300" cy="3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553234" y="3407"/>
            <a:ext cx="8050800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92C233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553234" y="1191719"/>
            <a:ext cx="8050800" cy="3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C0C0C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C233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C0C0C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2143125" y="4767263"/>
            <a:ext cx="44832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566738" y="4768453"/>
            <a:ext cx="1471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955194"/>
            <a:ext cx="722459" cy="18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588" y="1191"/>
            <a:ext cx="1200" cy="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1" name="Google Shape;1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955194"/>
            <a:ext cx="722459" cy="18836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7672175" y="4768481"/>
            <a:ext cx="14718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comments" Target="../comments/commen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5.png"/><Relationship Id="rId5" Type="http://schemas.openxmlformats.org/officeDocument/2006/relationships/image" Target="../media/image27.png"/><Relationship Id="rId10" Type="http://schemas.openxmlformats.org/officeDocument/2006/relationships/image" Target="../media/image4.png"/><Relationship Id="rId4" Type="http://schemas.openxmlformats.org/officeDocument/2006/relationships/image" Target="../media/image19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4195748" y="605550"/>
            <a:ext cx="3501900" cy="3419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920000" algn="bl" rotWithShape="0">
              <a:srgbClr val="000000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/>
          <p:nvPr/>
        </p:nvSpPr>
        <p:spPr>
          <a:xfrm rot="-9047291">
            <a:off x="2420922" y="-424002"/>
            <a:ext cx="3047703" cy="2127969"/>
          </a:xfrm>
          <a:prstGeom prst="arc">
            <a:avLst>
              <a:gd name="adj1" fmla="val 13534526"/>
              <a:gd name="adj2" fmla="val 21451455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/>
          <p:nvPr/>
        </p:nvSpPr>
        <p:spPr>
          <a:xfrm rot="-2044681">
            <a:off x="6562355" y="1321866"/>
            <a:ext cx="3047537" cy="2128018"/>
          </a:xfrm>
          <a:prstGeom prst="arc">
            <a:avLst>
              <a:gd name="adj1" fmla="val 16200000"/>
              <a:gd name="adj2" fmla="val 21451455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21966"/>
          <a:stretch/>
        </p:blipFill>
        <p:spPr>
          <a:xfrm>
            <a:off x="7597048" y="4751234"/>
            <a:ext cx="1420535" cy="356300"/>
          </a:xfrm>
          <a:prstGeom prst="rect">
            <a:avLst/>
          </a:prstGeom>
          <a:noFill/>
          <a:ln>
            <a:noFill/>
          </a:ln>
          <a:effectLst>
            <a:outerShdw blurRad="57150" dist="19050" dir="2700000" algn="bl" rotWithShape="0">
              <a:srgbClr val="000000">
                <a:alpha val="61000"/>
              </a:srgbClr>
            </a:outerShdw>
          </a:effectLst>
        </p:spPr>
      </p:pic>
      <p:sp>
        <p:nvSpPr>
          <p:cNvPr id="80" name="Google Shape;80;p16"/>
          <p:cNvSpPr txBox="1"/>
          <p:nvPr/>
        </p:nvSpPr>
        <p:spPr>
          <a:xfrm>
            <a:off x="1474485" y="4999485"/>
            <a:ext cx="59727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© ESSILOR – Group IT Solutions / Digital Innovation – For internal use only. Do not disclose or copy.</a:t>
            </a:r>
            <a:endParaRPr sz="700">
              <a:solidFill>
                <a:srgbClr val="F3F3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921400" y="1459450"/>
            <a:ext cx="4046700" cy="15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EyeCloud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Introducing for RxIT management team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September 2021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4195748" y="605550"/>
            <a:ext cx="3501900" cy="3419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920000" algn="bl" rotWithShape="0">
              <a:srgbClr val="000000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/>
          <p:nvPr/>
        </p:nvSpPr>
        <p:spPr>
          <a:xfrm rot="-9047291">
            <a:off x="2420922" y="-424002"/>
            <a:ext cx="3047703" cy="2127969"/>
          </a:xfrm>
          <a:prstGeom prst="arc">
            <a:avLst>
              <a:gd name="adj1" fmla="val 13534526"/>
              <a:gd name="adj2" fmla="val 21451455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7"/>
          <p:cNvSpPr/>
          <p:nvPr/>
        </p:nvSpPr>
        <p:spPr>
          <a:xfrm rot="-2044681">
            <a:off x="6562355" y="1321866"/>
            <a:ext cx="3047537" cy="2128018"/>
          </a:xfrm>
          <a:prstGeom prst="arc">
            <a:avLst>
              <a:gd name="adj1" fmla="val 16200000"/>
              <a:gd name="adj2" fmla="val 21451455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21966"/>
          <a:stretch/>
        </p:blipFill>
        <p:spPr>
          <a:xfrm>
            <a:off x="7597048" y="4751234"/>
            <a:ext cx="1420535" cy="356300"/>
          </a:xfrm>
          <a:prstGeom prst="rect">
            <a:avLst/>
          </a:prstGeom>
          <a:noFill/>
          <a:ln>
            <a:noFill/>
          </a:ln>
          <a:effectLst>
            <a:outerShdw blurRad="57150" dist="19050" dir="2700000" algn="bl" rotWithShape="0">
              <a:srgbClr val="000000">
                <a:alpha val="61000"/>
              </a:srgbClr>
            </a:outerShdw>
          </a:effectLst>
        </p:spPr>
      </p:pic>
      <p:sp>
        <p:nvSpPr>
          <p:cNvPr id="90" name="Google Shape;90;p17"/>
          <p:cNvSpPr txBox="1"/>
          <p:nvPr/>
        </p:nvSpPr>
        <p:spPr>
          <a:xfrm>
            <a:off x="1474485" y="4999485"/>
            <a:ext cx="59727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© ESSILOR – Group IT Solutions / Digital Innovation – For internal use only. Do not disclose or copy.</a:t>
            </a:r>
            <a:endParaRPr sz="700">
              <a:solidFill>
                <a:srgbClr val="F3F3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921400" y="1459450"/>
            <a:ext cx="4046700" cy="15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EyeCloud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Introducing for RxIT management team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September 2021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111950" y="3302675"/>
            <a:ext cx="3607200" cy="2901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Introducing</a:t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111950" y="3683675"/>
            <a:ext cx="3607200" cy="290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Architecture, EC objects/vocabulary</a:t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111950" y="4064675"/>
            <a:ext cx="3607200" cy="290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Samples of use cases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2183375" y="2198875"/>
            <a:ext cx="4400700" cy="24645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314900" y="683275"/>
            <a:ext cx="8327700" cy="10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1">
                <a:solidFill>
                  <a:schemeClr val="dk1"/>
                </a:solidFill>
                <a:highlight>
                  <a:srgbClr val="FFFFFF"/>
                </a:highlight>
              </a:rPr>
              <a:t>"EyeCloud is </a:t>
            </a:r>
            <a:r>
              <a:rPr lang="fr-FR" sz="3600" b="1" i="1">
                <a:solidFill>
                  <a:schemeClr val="dk1"/>
                </a:solidFill>
                <a:highlight>
                  <a:srgbClr val="FFFFFF"/>
                </a:highlight>
              </a:rPr>
              <a:t>enabler </a:t>
            </a:r>
            <a:r>
              <a:rPr lang="fr-FR" sz="1200" b="1" i="1">
                <a:solidFill>
                  <a:schemeClr val="dk1"/>
                </a:solidFill>
                <a:highlight>
                  <a:srgbClr val="FFFFFF"/>
                </a:highlight>
              </a:rPr>
              <a:t>for Rx systems"</a:t>
            </a:r>
            <a:endParaRPr sz="1200" b="1" i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i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1">
                <a:solidFill>
                  <a:schemeClr val="dk1"/>
                </a:solidFill>
                <a:highlight>
                  <a:srgbClr val="FFFFFF"/>
                </a:highlight>
              </a:rPr>
              <a:t>The main purpose of EyeCloud is to EASE the exchanges of informations (data, files) between Rx chain systems by avoiding duplicate storage of data/files in each system of the chain.</a:t>
            </a:r>
            <a:endParaRPr sz="1200" b="1" i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8062475" y="4684475"/>
            <a:ext cx="953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2816" y="2101120"/>
            <a:ext cx="460257" cy="355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7919" y="2038050"/>
            <a:ext cx="460275" cy="48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75670" y="2431745"/>
            <a:ext cx="570375" cy="58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4657" y="2519400"/>
            <a:ext cx="614250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03800" y="3189675"/>
            <a:ext cx="718125" cy="71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52471" y="3318595"/>
            <a:ext cx="460276" cy="46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75385" y="1932950"/>
            <a:ext cx="460250" cy="46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99631" y="3532944"/>
            <a:ext cx="898932" cy="5353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8"/>
          <p:cNvCxnSpPr>
            <a:stCxn id="107" idx="3"/>
            <a:endCxn id="110" idx="0"/>
          </p:cNvCxnSpPr>
          <p:nvPr/>
        </p:nvCxnSpPr>
        <p:spPr>
          <a:xfrm rot="10800000" flipH="1">
            <a:off x="2621925" y="3532838"/>
            <a:ext cx="1827300" cy="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2" name="Google Shape;112;p18"/>
          <p:cNvCxnSpPr>
            <a:stCxn id="105" idx="3"/>
            <a:endCxn id="110" idx="0"/>
          </p:cNvCxnSpPr>
          <p:nvPr/>
        </p:nvCxnSpPr>
        <p:spPr>
          <a:xfrm>
            <a:off x="3046044" y="2724156"/>
            <a:ext cx="1403100" cy="80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3" name="Google Shape;113;p18"/>
          <p:cNvCxnSpPr>
            <a:stCxn id="104" idx="2"/>
            <a:endCxn id="110" idx="0"/>
          </p:cNvCxnSpPr>
          <p:nvPr/>
        </p:nvCxnSpPr>
        <p:spPr>
          <a:xfrm>
            <a:off x="3558057" y="2519569"/>
            <a:ext cx="891000" cy="101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4" name="Google Shape;114;p18"/>
          <p:cNvCxnSpPr>
            <a:stCxn id="109" idx="2"/>
            <a:endCxn id="110" idx="0"/>
          </p:cNvCxnSpPr>
          <p:nvPr/>
        </p:nvCxnSpPr>
        <p:spPr>
          <a:xfrm>
            <a:off x="4405510" y="2393200"/>
            <a:ext cx="43500" cy="113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5" name="Google Shape;115;p18"/>
          <p:cNvCxnSpPr>
            <a:stCxn id="103" idx="2"/>
            <a:endCxn id="110" idx="0"/>
          </p:cNvCxnSpPr>
          <p:nvPr/>
        </p:nvCxnSpPr>
        <p:spPr>
          <a:xfrm flipH="1">
            <a:off x="4449244" y="2456498"/>
            <a:ext cx="803700" cy="107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6" name="Google Shape;116;p18"/>
          <p:cNvCxnSpPr>
            <a:stCxn id="106" idx="2"/>
            <a:endCxn id="110" idx="0"/>
          </p:cNvCxnSpPr>
          <p:nvPr/>
        </p:nvCxnSpPr>
        <p:spPr>
          <a:xfrm flipH="1">
            <a:off x="4448982" y="2928900"/>
            <a:ext cx="1642800" cy="60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7" name="Google Shape;117;p18"/>
          <p:cNvCxnSpPr>
            <a:stCxn id="108" idx="1"/>
            <a:endCxn id="110" idx="0"/>
          </p:cNvCxnSpPr>
          <p:nvPr/>
        </p:nvCxnSpPr>
        <p:spPr>
          <a:xfrm rot="10800000">
            <a:off x="4448971" y="3532833"/>
            <a:ext cx="1903500" cy="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118" name="Google Shape;118;p1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43175" y="2647943"/>
            <a:ext cx="642000" cy="336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18"/>
          <p:cNvCxnSpPr>
            <a:stCxn id="118" idx="2"/>
            <a:endCxn id="110" idx="0"/>
          </p:cNvCxnSpPr>
          <p:nvPr/>
        </p:nvCxnSpPr>
        <p:spPr>
          <a:xfrm>
            <a:off x="3764175" y="2984350"/>
            <a:ext cx="684900" cy="54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0" name="Google Shape;120;p18"/>
          <p:cNvCxnSpPr>
            <a:stCxn id="103" idx="2"/>
            <a:endCxn id="118" idx="3"/>
          </p:cNvCxnSpPr>
          <p:nvPr/>
        </p:nvCxnSpPr>
        <p:spPr>
          <a:xfrm flipH="1">
            <a:off x="4085044" y="2456498"/>
            <a:ext cx="1167900" cy="35970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1" name="Google Shape;121;p18"/>
          <p:cNvCxnSpPr>
            <a:endCxn id="118" idx="0"/>
          </p:cNvCxnSpPr>
          <p:nvPr/>
        </p:nvCxnSpPr>
        <p:spPr>
          <a:xfrm>
            <a:off x="3558075" y="2519543"/>
            <a:ext cx="206100" cy="12840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2" name="Google Shape;122;p18"/>
          <p:cNvCxnSpPr>
            <a:stCxn id="105" idx="3"/>
            <a:endCxn id="118" idx="1"/>
          </p:cNvCxnSpPr>
          <p:nvPr/>
        </p:nvCxnSpPr>
        <p:spPr>
          <a:xfrm>
            <a:off x="3046044" y="2724156"/>
            <a:ext cx="397200" cy="9210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3" name="Google Shape;123;p18"/>
          <p:cNvCxnSpPr>
            <a:endCxn id="124" idx="0"/>
          </p:cNvCxnSpPr>
          <p:nvPr/>
        </p:nvCxnSpPr>
        <p:spPr>
          <a:xfrm>
            <a:off x="4449100" y="4068300"/>
            <a:ext cx="0" cy="12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8"/>
          <p:cNvSpPr/>
          <p:nvPr/>
        </p:nvSpPr>
        <p:spPr>
          <a:xfrm>
            <a:off x="5328625" y="3799650"/>
            <a:ext cx="2061000" cy="1165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1508575" y="3872625"/>
            <a:ext cx="2061000" cy="1165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" name="Google Shape;127;p18"/>
          <p:cNvGrpSpPr/>
          <p:nvPr/>
        </p:nvGrpSpPr>
        <p:grpSpPr>
          <a:xfrm>
            <a:off x="3576100" y="4143125"/>
            <a:ext cx="1789200" cy="820650"/>
            <a:chOff x="3576100" y="4143125"/>
            <a:chExt cx="1789200" cy="820650"/>
          </a:xfrm>
        </p:grpSpPr>
        <p:sp>
          <p:nvSpPr>
            <p:cNvPr id="128" name="Google Shape;128;p18"/>
            <p:cNvSpPr/>
            <p:nvPr/>
          </p:nvSpPr>
          <p:spPr>
            <a:xfrm>
              <a:off x="3576100" y="4143125"/>
              <a:ext cx="1789200" cy="718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4" name="Google Shape;124;p18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090038" y="4189200"/>
              <a:ext cx="718126" cy="3860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18"/>
            <p:cNvSpPr txBox="1"/>
            <p:nvPr/>
          </p:nvSpPr>
          <p:spPr>
            <a:xfrm>
              <a:off x="3576100" y="4608275"/>
              <a:ext cx="1789200" cy="355500"/>
            </a:xfrm>
            <a:prstGeom prst="rect">
              <a:avLst/>
            </a:prstGeom>
            <a:solidFill>
              <a:srgbClr val="CCCC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aseline="30000"/>
                <a:t>Platform of services above EC</a:t>
              </a:r>
              <a:endParaRPr sz="1200">
                <a:solidFill>
                  <a:srgbClr val="000000"/>
                </a:solidFill>
              </a:endParaRPr>
            </a:p>
          </p:txBody>
        </p:sp>
      </p:grpSp>
      <p:sp>
        <p:nvSpPr>
          <p:cNvPr id="130" name="Google Shape;130;p18"/>
          <p:cNvSpPr/>
          <p:nvPr/>
        </p:nvSpPr>
        <p:spPr>
          <a:xfrm>
            <a:off x="11775" y="0"/>
            <a:ext cx="9144000" cy="5847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2743200" y="0"/>
            <a:ext cx="20610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What is EyeCloud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883425" y="-9525"/>
            <a:ext cx="570374" cy="5703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0" y="3471000"/>
            <a:ext cx="30462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/>
              <a:t>EyeCloud benefits: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-FR" sz="1300"/>
              <a:t>Provides unique ID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-FR" sz="1300"/>
              <a:t>Can store any kind of info (files any format or metadata) in a centralized storage in the cloud.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-FR" sz="1300"/>
              <a:t>Secure the storage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/>
          <p:nvPr/>
        </p:nvSpPr>
        <p:spPr>
          <a:xfrm>
            <a:off x="1579350" y="643750"/>
            <a:ext cx="2691000" cy="4226100"/>
          </a:xfrm>
          <a:prstGeom prst="roundRect">
            <a:avLst>
              <a:gd name="adj" fmla="val 10000"/>
            </a:avLst>
          </a:prstGeom>
          <a:solidFill>
            <a:srgbClr val="CCD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1579350" y="640875"/>
            <a:ext cx="26910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148575" rIns="148575" bIns="1485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Business Expectations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1848450" y="1536570"/>
            <a:ext cx="2152800" cy="7857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E1E1E1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1873389" y="1559589"/>
            <a:ext cx="21030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41900" rIns="55875" bIns="419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i="0" u="none" strike="noStrike" cap="none">
                <a:latin typeface="Calibri"/>
                <a:ea typeface="Calibri"/>
                <a:cs typeface="Calibri"/>
                <a:sym typeface="Calibri"/>
              </a:rPr>
              <a:t>24/7 business with on-duty support</a:t>
            </a:r>
            <a:endParaRPr sz="16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1848450" y="2367226"/>
            <a:ext cx="2152800" cy="7857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E1E1E1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1873389" y="2390245"/>
            <a:ext cx="21030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41900" rIns="55875" bIns="419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i="0" u="none" strike="noStrike" cap="none">
                <a:latin typeface="Calibri"/>
                <a:ea typeface="Calibri"/>
                <a:cs typeface="Calibri"/>
                <a:sym typeface="Calibri"/>
              </a:rPr>
              <a:t>No disruption during hours of operations</a:t>
            </a:r>
            <a:endParaRPr sz="16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1848450" y="4036080"/>
            <a:ext cx="2152800" cy="7857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E1E1E1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latin typeface="Calibri"/>
                <a:ea typeface="Calibri"/>
                <a:cs typeface="Calibri"/>
                <a:sym typeface="Calibri"/>
              </a:rPr>
              <a:t>Storage of data for 3y (hot storage) + 2y (cold storage)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4472275" y="643875"/>
            <a:ext cx="2691000" cy="4226100"/>
          </a:xfrm>
          <a:prstGeom prst="roundRect">
            <a:avLst>
              <a:gd name="adj" fmla="val 10000"/>
            </a:avLst>
          </a:prstGeom>
          <a:solidFill>
            <a:srgbClr val="CCD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472276" y="640875"/>
            <a:ext cx="26910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148575" rIns="148575" bIns="1485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Services Capabilities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741378" y="1536570"/>
            <a:ext cx="2152800" cy="7857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E1E1E1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4766317" y="1559589"/>
            <a:ext cx="21030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41900" rIns="55875" bIns="419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i="0" u="none" strike="noStrike" cap="none">
                <a:latin typeface="Calibri"/>
                <a:ea typeface="Calibri"/>
                <a:cs typeface="Calibri"/>
                <a:sym typeface="Calibri"/>
              </a:rPr>
              <a:t>24/7 Support &amp; monitoring</a:t>
            </a:r>
            <a:endParaRPr sz="16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741378" y="2367226"/>
            <a:ext cx="2152800" cy="7857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E1E1E1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4766317" y="2390245"/>
            <a:ext cx="21030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41900" rIns="55875" bIns="419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>
                <a:latin typeface="Calibri"/>
                <a:ea typeface="Calibri"/>
                <a:cs typeface="Calibri"/>
                <a:sym typeface="Calibri"/>
              </a:rPr>
              <a:t>99.9%</a:t>
            </a:r>
            <a:r>
              <a:rPr lang="fr-FR" sz="1600" b="0" i="0" u="none" strike="noStrike" cap="none">
                <a:latin typeface="Calibri"/>
                <a:ea typeface="Calibri"/>
                <a:cs typeface="Calibri"/>
                <a:sym typeface="Calibri"/>
              </a:rPr>
              <a:t> Unplanned Downtime by 201</a:t>
            </a:r>
            <a:r>
              <a:rPr lang="fr-FR" sz="1600">
                <a:latin typeface="Calibri"/>
                <a:ea typeface="Calibri"/>
                <a:cs typeface="Calibri"/>
                <a:sym typeface="Calibri"/>
              </a:rPr>
              <a:t>9</a:t>
            </a:r>
            <a:endParaRPr sz="16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4741378" y="3197880"/>
            <a:ext cx="2152800" cy="7857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E1E1E1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4766317" y="3220899"/>
            <a:ext cx="21030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41900" rIns="55875" bIns="419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i="0" u="none" strike="noStrike" cap="none">
                <a:latin typeface="Calibri"/>
                <a:ea typeface="Calibri"/>
                <a:cs typeface="Calibri"/>
                <a:sym typeface="Calibri"/>
              </a:rPr>
              <a:t>All P1 addressed in </a:t>
            </a:r>
            <a:r>
              <a:rPr lang="fr-FR" sz="1600" b="1" i="0" u="none" strike="noStrike" cap="none">
                <a:latin typeface="Calibri"/>
                <a:ea typeface="Calibri"/>
                <a:cs typeface="Calibri"/>
                <a:sym typeface="Calibri"/>
              </a:rPr>
              <a:t>1H</a:t>
            </a:r>
            <a:r>
              <a:rPr lang="fr-FR" sz="1600" b="0" i="0" u="none" strike="noStrike" cap="none">
                <a:latin typeface="Calibri"/>
                <a:ea typeface="Calibri"/>
                <a:cs typeface="Calibri"/>
                <a:sym typeface="Calibri"/>
              </a:rPr>
              <a:t> &amp; resolved* in </a:t>
            </a:r>
            <a:r>
              <a:rPr lang="fr-FR" sz="1600" b="1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fr-FR" sz="1600" b="1" i="0" u="none" strike="noStrike" cap="none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fr-FR" sz="1600" b="0" i="0" u="none" strike="noStrike" cap="none"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744050" y="4036080"/>
            <a:ext cx="2152800" cy="7857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E1E1E1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latin typeface="Calibri"/>
                <a:ea typeface="Calibri"/>
                <a:cs typeface="Calibri"/>
                <a:sym typeface="Calibri"/>
              </a:rPr>
              <a:t>Storage of data for 3y (hot storage) + 2y (cold storage)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0" y="0"/>
            <a:ext cx="9144000" cy="507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FFFFFF"/>
                </a:solidFill>
              </a:rPr>
              <a:t>EyeCloud service level agreement</a:t>
            </a:r>
            <a:endParaRPr sz="1800" b="1">
              <a:solidFill>
                <a:srgbClr val="FFFFFF"/>
              </a:solidFill>
            </a:endParaRPr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975" y="4549525"/>
            <a:ext cx="39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7131050" y="4640050"/>
            <a:ext cx="1008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not in place yet</a:t>
            </a:r>
            <a:endParaRPr sz="900"/>
          </a:p>
        </p:txBody>
      </p:sp>
      <p:sp>
        <p:nvSpPr>
          <p:cNvPr id="158" name="Google Shape;158;p19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0" y="0"/>
            <a:ext cx="9144000" cy="507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FFFFFF"/>
                </a:solidFill>
              </a:rPr>
              <a:t>EyeCloud service level agreement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65" name="Google Shape;165;p20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75" y="557500"/>
            <a:ext cx="7246049" cy="44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0" y="0"/>
            <a:ext cx="9144000" cy="507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FFFFFF"/>
                </a:solidFill>
              </a:rPr>
              <a:t>EyeCloud service level agreement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73" name="Google Shape;173;p21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pic>
        <p:nvPicPr>
          <p:cNvPr id="174" name="Google Shape;17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875" y="631525"/>
            <a:ext cx="6513249" cy="442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/>
        </p:nvSpPr>
        <p:spPr>
          <a:xfrm>
            <a:off x="8062475" y="4684475"/>
            <a:ext cx="953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11775" y="0"/>
            <a:ext cx="9144000" cy="5847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1096950" y="0"/>
            <a:ext cx="37074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How EyeCloud eases exchanges ?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pic>
        <p:nvPicPr>
          <p:cNvPr id="183" name="Google Shape;1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3425" y="-9525"/>
            <a:ext cx="570374" cy="57037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2"/>
          <p:cNvSpPr txBox="1"/>
          <p:nvPr/>
        </p:nvSpPr>
        <p:spPr>
          <a:xfrm>
            <a:off x="378375" y="2079150"/>
            <a:ext cx="8471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-FR" sz="1500"/>
              <a:t>Provides unique ID for order, lenses, frames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-FR" sz="1500"/>
              <a:t>Can store any kind of info (files any format or metadata) in a centralized storage in the cloud.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-FR" sz="1500"/>
              <a:t>Secure the storage: AWS services usage (S3, dynamoDB), multi regions high availability (2021’s roadmap, to be done), regular penetration tests (2018, 2021 expected)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/>
          <p:nvPr/>
        </p:nvSpPr>
        <p:spPr>
          <a:xfrm>
            <a:off x="4195748" y="605550"/>
            <a:ext cx="3501900" cy="3419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920000" algn="bl" rotWithShape="0">
              <a:srgbClr val="000000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3"/>
          <p:cNvSpPr/>
          <p:nvPr/>
        </p:nvSpPr>
        <p:spPr>
          <a:xfrm rot="-9047291">
            <a:off x="2420922" y="-424002"/>
            <a:ext cx="3047703" cy="2127969"/>
          </a:xfrm>
          <a:prstGeom prst="arc">
            <a:avLst>
              <a:gd name="adj1" fmla="val 13534526"/>
              <a:gd name="adj2" fmla="val 21451455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3"/>
          <p:cNvSpPr/>
          <p:nvPr/>
        </p:nvSpPr>
        <p:spPr>
          <a:xfrm rot="-2044681">
            <a:off x="6562355" y="1321866"/>
            <a:ext cx="3047537" cy="2128018"/>
          </a:xfrm>
          <a:prstGeom prst="arc">
            <a:avLst>
              <a:gd name="adj1" fmla="val 16200000"/>
              <a:gd name="adj2" fmla="val 21451455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23"/>
          <p:cNvPicPr preferRelativeResize="0"/>
          <p:nvPr/>
        </p:nvPicPr>
        <p:blipFill rotWithShape="1">
          <a:blip r:embed="rId3">
            <a:alphaModFix/>
          </a:blip>
          <a:srcRect b="21966"/>
          <a:stretch/>
        </p:blipFill>
        <p:spPr>
          <a:xfrm>
            <a:off x="7597048" y="4751234"/>
            <a:ext cx="1420535" cy="356300"/>
          </a:xfrm>
          <a:prstGeom prst="rect">
            <a:avLst/>
          </a:prstGeom>
          <a:noFill/>
          <a:ln>
            <a:noFill/>
          </a:ln>
          <a:effectLst>
            <a:outerShdw blurRad="57150" dist="19050" dir="2700000" algn="bl" rotWithShape="0">
              <a:srgbClr val="000000">
                <a:alpha val="61000"/>
              </a:srgbClr>
            </a:outerShdw>
          </a:effectLst>
        </p:spPr>
      </p:pic>
      <p:sp>
        <p:nvSpPr>
          <p:cNvPr id="193" name="Google Shape;193;p23"/>
          <p:cNvSpPr txBox="1"/>
          <p:nvPr/>
        </p:nvSpPr>
        <p:spPr>
          <a:xfrm>
            <a:off x="1474485" y="4999485"/>
            <a:ext cx="59727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© ESSILOR – Group IT Solutions / Digital Innovation – For internal use only. Do not disclose or copy.</a:t>
            </a:r>
            <a:endParaRPr sz="700">
              <a:solidFill>
                <a:srgbClr val="F3F3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3921400" y="1459450"/>
            <a:ext cx="4046700" cy="15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EyeCloud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Introducing for RxIT management team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September 2021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111950" y="3302675"/>
            <a:ext cx="3607200" cy="290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Introducing</a:t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111950" y="3683675"/>
            <a:ext cx="3607200" cy="2901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Architecture, EC objects/vocabulary</a:t>
            </a:r>
            <a:endParaRPr/>
          </a:p>
        </p:txBody>
      </p:sp>
      <p:sp>
        <p:nvSpPr>
          <p:cNvPr id="197" name="Google Shape;197;p23"/>
          <p:cNvSpPr/>
          <p:nvPr/>
        </p:nvSpPr>
        <p:spPr>
          <a:xfrm>
            <a:off x="111950" y="4064675"/>
            <a:ext cx="3607200" cy="290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Samples of use cases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/>
        </p:nvSpPr>
        <p:spPr>
          <a:xfrm>
            <a:off x="8062475" y="4684475"/>
            <a:ext cx="953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11775" y="0"/>
            <a:ext cx="9144000" cy="5847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1096950" y="0"/>
            <a:ext cx="37074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Today’s EyeCloud architecture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pic>
        <p:nvPicPr>
          <p:cNvPr id="206" name="Google Shape;2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475" y="822025"/>
            <a:ext cx="3939521" cy="423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4"/>
          <p:cNvSpPr txBox="1"/>
          <p:nvPr/>
        </p:nvSpPr>
        <p:spPr>
          <a:xfrm>
            <a:off x="4667000" y="661600"/>
            <a:ext cx="447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 EC platform in AWS Ireland (</a:t>
            </a:r>
            <a:r>
              <a:rPr lang="fr-FR" sz="1100"/>
              <a:t>no HAMR multi regions yet</a:t>
            </a:r>
            <a:r>
              <a:rPr lang="fr-FR"/>
              <a:t>)</a:t>
            </a:r>
            <a:endParaRPr/>
          </a:p>
        </p:txBody>
      </p:sp>
      <p:grpSp>
        <p:nvGrpSpPr>
          <p:cNvPr id="208" name="Google Shape;208;p24"/>
          <p:cNvGrpSpPr/>
          <p:nvPr/>
        </p:nvGrpSpPr>
        <p:grpSpPr>
          <a:xfrm>
            <a:off x="1363775" y="1230475"/>
            <a:ext cx="7657425" cy="1297175"/>
            <a:chOff x="1363775" y="1230475"/>
            <a:chExt cx="7657425" cy="1297175"/>
          </a:xfrm>
        </p:grpSpPr>
        <p:sp>
          <p:nvSpPr>
            <p:cNvPr id="209" name="Google Shape;209;p24"/>
            <p:cNvSpPr txBox="1"/>
            <p:nvPr/>
          </p:nvSpPr>
          <p:spPr>
            <a:xfrm>
              <a:off x="4667000" y="1230475"/>
              <a:ext cx="435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/>
                <a:t>Private entry / load balancer (ALB) for internal flow</a:t>
              </a:r>
              <a:endParaRPr/>
            </a:p>
          </p:txBody>
        </p:sp>
        <p:sp>
          <p:nvSpPr>
            <p:cNvPr id="210" name="Google Shape;210;p24"/>
            <p:cNvSpPr txBox="1"/>
            <p:nvPr/>
          </p:nvSpPr>
          <p:spPr>
            <a:xfrm>
              <a:off x="4667000" y="1799350"/>
              <a:ext cx="4354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/>
                <a:t>Public entry / load balancer (ELB) for external/internet flow</a:t>
              </a:r>
              <a:endParaRPr/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1363775" y="1698750"/>
              <a:ext cx="2580000" cy="8289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2" name="Google Shape;212;p24"/>
            <p:cNvCxnSpPr>
              <a:stCxn id="211" idx="3"/>
              <a:endCxn id="209" idx="1"/>
            </p:cNvCxnSpPr>
            <p:nvPr/>
          </p:nvCxnSpPr>
          <p:spPr>
            <a:xfrm rot="10800000" flipH="1">
              <a:off x="3943775" y="1430700"/>
              <a:ext cx="723300" cy="682500"/>
            </a:xfrm>
            <a:prstGeom prst="bentConnector3">
              <a:avLst>
                <a:gd name="adj1" fmla="val 4999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24"/>
            <p:cNvCxnSpPr>
              <a:stCxn id="211" idx="3"/>
              <a:endCxn id="210" idx="1"/>
            </p:cNvCxnSpPr>
            <p:nvPr/>
          </p:nvCxnSpPr>
          <p:spPr>
            <a:xfrm rot="10800000" flipH="1">
              <a:off x="3943775" y="2107200"/>
              <a:ext cx="723300" cy="6000"/>
            </a:xfrm>
            <a:prstGeom prst="bentConnector3">
              <a:avLst>
                <a:gd name="adj1" fmla="val 4999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4" name="Google Shape;214;p24"/>
          <p:cNvGrpSpPr/>
          <p:nvPr/>
        </p:nvGrpSpPr>
        <p:grpSpPr>
          <a:xfrm>
            <a:off x="1363775" y="2583625"/>
            <a:ext cx="7657425" cy="1262100"/>
            <a:chOff x="1363775" y="2583625"/>
            <a:chExt cx="7657425" cy="1262100"/>
          </a:xfrm>
        </p:grpSpPr>
        <p:sp>
          <p:nvSpPr>
            <p:cNvPr id="215" name="Google Shape;215;p24"/>
            <p:cNvSpPr txBox="1"/>
            <p:nvPr/>
          </p:nvSpPr>
          <p:spPr>
            <a:xfrm>
              <a:off x="4667000" y="2583625"/>
              <a:ext cx="43542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/>
                <a:t>2 sets of API:</a:t>
              </a:r>
              <a:endParaRPr/>
            </a:p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Char char="❏"/>
              </a:pPr>
              <a:r>
                <a:rPr lang="fr-FR"/>
                <a:t>functional API: using by calling systems to get ID, post/get data/documents.</a:t>
              </a:r>
              <a:endParaRPr/>
            </a:p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Char char="❏"/>
              </a:pPr>
              <a:r>
                <a:rPr lang="fr-FR"/>
                <a:t>admin API: using by SSP/support team to give permission to calling systems.</a:t>
              </a: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1363775" y="2613150"/>
              <a:ext cx="2580000" cy="6156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7" name="Google Shape;217;p24"/>
            <p:cNvCxnSpPr>
              <a:stCxn id="216" idx="3"/>
              <a:endCxn id="215" idx="1"/>
            </p:cNvCxnSpPr>
            <p:nvPr/>
          </p:nvCxnSpPr>
          <p:spPr>
            <a:xfrm>
              <a:off x="3943775" y="2920950"/>
              <a:ext cx="723300" cy="293700"/>
            </a:xfrm>
            <a:prstGeom prst="bentConnector3">
              <a:avLst>
                <a:gd name="adj1" fmla="val 4999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8" name="Google Shape;218;p24"/>
          <p:cNvGrpSpPr/>
          <p:nvPr/>
        </p:nvGrpSpPr>
        <p:grpSpPr>
          <a:xfrm>
            <a:off x="695350" y="3451350"/>
            <a:ext cx="7777150" cy="1609750"/>
            <a:chOff x="695350" y="3451350"/>
            <a:chExt cx="7777150" cy="1609750"/>
          </a:xfrm>
        </p:grpSpPr>
        <p:sp>
          <p:nvSpPr>
            <p:cNvPr id="219" name="Google Shape;219;p24"/>
            <p:cNvSpPr txBox="1"/>
            <p:nvPr/>
          </p:nvSpPr>
          <p:spPr>
            <a:xfrm>
              <a:off x="4667000" y="4014400"/>
              <a:ext cx="38055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/>
                <a:t>Storage layer: </a:t>
              </a:r>
              <a:endParaRPr/>
            </a:p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Char char="❏"/>
              </a:pPr>
              <a:r>
                <a:rPr lang="fr-FR"/>
                <a:t>S3 + DynamoDB for data/document (by functional API)</a:t>
              </a:r>
              <a:endParaRPr/>
            </a:p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Char char="❏"/>
              </a:pPr>
              <a:r>
                <a:rPr lang="fr-FR"/>
                <a:t>MySQL for keys/permissions</a:t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695350" y="3451350"/>
              <a:ext cx="3248400" cy="9345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1" name="Google Shape;221;p24"/>
            <p:cNvCxnSpPr>
              <a:stCxn id="220" idx="3"/>
              <a:endCxn id="219" idx="1"/>
            </p:cNvCxnSpPr>
            <p:nvPr/>
          </p:nvCxnSpPr>
          <p:spPr>
            <a:xfrm>
              <a:off x="3943750" y="3918600"/>
              <a:ext cx="723300" cy="619200"/>
            </a:xfrm>
            <a:prstGeom prst="bentConnector3">
              <a:avLst>
                <a:gd name="adj1" fmla="val 4999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/>
          <p:nvPr/>
        </p:nvSpPr>
        <p:spPr>
          <a:xfrm>
            <a:off x="421850" y="2563890"/>
            <a:ext cx="4059600" cy="2285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5818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4662902" y="2600824"/>
            <a:ext cx="4059600" cy="2285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5818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5"/>
          <p:cNvSpPr/>
          <p:nvPr/>
        </p:nvSpPr>
        <p:spPr>
          <a:xfrm>
            <a:off x="421850" y="1665788"/>
            <a:ext cx="8353500" cy="799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5818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1428838" y="895090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Orchestra</a:t>
            </a:r>
            <a:endParaRPr sz="1000"/>
          </a:p>
        </p:txBody>
      </p:sp>
      <p:sp>
        <p:nvSpPr>
          <p:cNvPr id="231" name="Google Shape;231;p25"/>
          <p:cNvSpPr/>
          <p:nvPr/>
        </p:nvSpPr>
        <p:spPr>
          <a:xfrm>
            <a:off x="2618745" y="895090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Inlab</a:t>
            </a:r>
            <a:endParaRPr sz="1000"/>
          </a:p>
        </p:txBody>
      </p:sp>
      <p:sp>
        <p:nvSpPr>
          <p:cNvPr id="232" name="Google Shape;232;p25"/>
          <p:cNvSpPr/>
          <p:nvPr/>
        </p:nvSpPr>
        <p:spPr>
          <a:xfrm>
            <a:off x="3808651" y="895090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Rx.Net</a:t>
            </a:r>
            <a:endParaRPr sz="1000"/>
          </a:p>
        </p:txBody>
      </p:sp>
      <p:sp>
        <p:nvSpPr>
          <p:cNvPr id="233" name="Google Shape;233;p25"/>
          <p:cNvSpPr/>
          <p:nvPr/>
        </p:nvSpPr>
        <p:spPr>
          <a:xfrm>
            <a:off x="970801" y="4365443"/>
            <a:ext cx="606495" cy="426521"/>
          </a:xfrm>
          <a:prstGeom prst="flowChartMagneticDisk">
            <a:avLst/>
          </a:prstGeom>
          <a:solidFill>
            <a:srgbClr val="FF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FFFFFF"/>
                </a:solidFill>
              </a:rPr>
              <a:t>MySQL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2376349" y="4393888"/>
            <a:ext cx="606474" cy="398088"/>
          </a:xfrm>
          <a:prstGeom prst="flowChartDocument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S3</a:t>
            </a:r>
            <a:endParaRPr sz="900"/>
          </a:p>
        </p:txBody>
      </p:sp>
      <p:cxnSp>
        <p:nvCxnSpPr>
          <p:cNvPr id="235" name="Google Shape;235;p25"/>
          <p:cNvCxnSpPr>
            <a:stCxn id="236" idx="2"/>
            <a:endCxn id="233" idx="1"/>
          </p:cNvCxnSpPr>
          <p:nvPr/>
        </p:nvCxnSpPr>
        <p:spPr>
          <a:xfrm rot="5400000">
            <a:off x="1580049" y="3891174"/>
            <a:ext cx="168300" cy="780300"/>
          </a:xfrm>
          <a:prstGeom prst="bentConnector3">
            <a:avLst>
              <a:gd name="adj1" fmla="val 4996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5"/>
          <p:cNvCxnSpPr>
            <a:stCxn id="238" idx="3"/>
            <a:endCxn id="236" idx="2"/>
          </p:cNvCxnSpPr>
          <p:nvPr/>
        </p:nvCxnSpPr>
        <p:spPr>
          <a:xfrm rot="5400000">
            <a:off x="2783177" y="1692269"/>
            <a:ext cx="1776000" cy="3233700"/>
          </a:xfrm>
          <a:prstGeom prst="bentConnector3">
            <a:avLst>
              <a:gd name="adj1" fmla="val 112157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5"/>
          <p:cNvCxnSpPr>
            <a:stCxn id="234" idx="0"/>
            <a:endCxn id="236" idx="2"/>
          </p:cNvCxnSpPr>
          <p:nvPr/>
        </p:nvCxnSpPr>
        <p:spPr>
          <a:xfrm rot="5400000" flipH="1">
            <a:off x="2268586" y="3982888"/>
            <a:ext cx="196800" cy="6252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25"/>
          <p:cNvSpPr/>
          <p:nvPr/>
        </p:nvSpPr>
        <p:spPr>
          <a:xfrm>
            <a:off x="1527997" y="103325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Orchestra</a:t>
            </a:r>
            <a:endParaRPr sz="1000"/>
          </a:p>
        </p:txBody>
      </p:sp>
      <p:sp>
        <p:nvSpPr>
          <p:cNvPr id="241" name="Google Shape;241;p25"/>
          <p:cNvSpPr/>
          <p:nvPr/>
        </p:nvSpPr>
        <p:spPr>
          <a:xfrm>
            <a:off x="2717904" y="103325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Inlab</a:t>
            </a:r>
            <a:endParaRPr sz="1000"/>
          </a:p>
        </p:txBody>
      </p:sp>
      <p:sp>
        <p:nvSpPr>
          <p:cNvPr id="242" name="Google Shape;242;p25"/>
          <p:cNvSpPr/>
          <p:nvPr/>
        </p:nvSpPr>
        <p:spPr>
          <a:xfrm>
            <a:off x="3907810" y="103325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Rx.Net</a:t>
            </a:r>
            <a:endParaRPr sz="1000"/>
          </a:p>
        </p:txBody>
      </p:sp>
      <p:sp>
        <p:nvSpPr>
          <p:cNvPr id="243" name="Google Shape;243;p25"/>
          <p:cNvSpPr/>
          <p:nvPr/>
        </p:nvSpPr>
        <p:spPr>
          <a:xfrm>
            <a:off x="1627156" y="117142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Orchestra</a:t>
            </a:r>
            <a:endParaRPr sz="1000"/>
          </a:p>
        </p:txBody>
      </p:sp>
      <p:sp>
        <p:nvSpPr>
          <p:cNvPr id="244" name="Google Shape;244;p25"/>
          <p:cNvSpPr/>
          <p:nvPr/>
        </p:nvSpPr>
        <p:spPr>
          <a:xfrm>
            <a:off x="2817062" y="117142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Inlab</a:t>
            </a:r>
            <a:endParaRPr sz="1000"/>
          </a:p>
        </p:txBody>
      </p:sp>
      <p:sp>
        <p:nvSpPr>
          <p:cNvPr id="245" name="Google Shape;245;p25"/>
          <p:cNvSpPr/>
          <p:nvPr/>
        </p:nvSpPr>
        <p:spPr>
          <a:xfrm>
            <a:off x="4006969" y="117142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Rx.Net</a:t>
            </a:r>
            <a:endParaRPr sz="1000"/>
          </a:p>
        </p:txBody>
      </p:sp>
      <p:sp>
        <p:nvSpPr>
          <p:cNvPr id="246" name="Google Shape;246;p25"/>
          <p:cNvSpPr/>
          <p:nvPr/>
        </p:nvSpPr>
        <p:spPr>
          <a:xfrm>
            <a:off x="4181069" y="1767285"/>
            <a:ext cx="776400" cy="2274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R53</a:t>
            </a:r>
            <a:endParaRPr sz="900"/>
          </a:p>
        </p:txBody>
      </p:sp>
      <p:sp>
        <p:nvSpPr>
          <p:cNvPr id="247" name="Google Shape;247;p25"/>
          <p:cNvSpPr/>
          <p:nvPr/>
        </p:nvSpPr>
        <p:spPr>
          <a:xfrm>
            <a:off x="1449544" y="2596302"/>
            <a:ext cx="539700" cy="2274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ALB int</a:t>
            </a:r>
            <a:endParaRPr sz="900"/>
          </a:p>
        </p:txBody>
      </p:sp>
      <p:sp>
        <p:nvSpPr>
          <p:cNvPr id="248" name="Google Shape;248;p25"/>
          <p:cNvSpPr/>
          <p:nvPr/>
        </p:nvSpPr>
        <p:spPr>
          <a:xfrm>
            <a:off x="2099055" y="2596302"/>
            <a:ext cx="539700" cy="2274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ALB ext</a:t>
            </a:r>
            <a:endParaRPr sz="900"/>
          </a:p>
        </p:txBody>
      </p:sp>
      <p:sp>
        <p:nvSpPr>
          <p:cNvPr id="249" name="Google Shape;249;p25"/>
          <p:cNvSpPr/>
          <p:nvPr/>
        </p:nvSpPr>
        <p:spPr>
          <a:xfrm>
            <a:off x="6079675" y="895090"/>
            <a:ext cx="7764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Walmann</a:t>
            </a:r>
            <a:endParaRPr sz="1000"/>
          </a:p>
        </p:txBody>
      </p:sp>
      <p:sp>
        <p:nvSpPr>
          <p:cNvPr id="250" name="Google Shape;250;p25"/>
          <p:cNvSpPr/>
          <p:nvPr/>
        </p:nvSpPr>
        <p:spPr>
          <a:xfrm>
            <a:off x="6942262" y="895090"/>
            <a:ext cx="7764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OnSight</a:t>
            </a:r>
            <a:endParaRPr sz="1000"/>
          </a:p>
        </p:txBody>
      </p:sp>
      <p:cxnSp>
        <p:nvCxnSpPr>
          <p:cNvPr id="251" name="Google Shape;251;p25"/>
          <p:cNvCxnSpPr>
            <a:stCxn id="245" idx="2"/>
            <a:endCxn id="246" idx="0"/>
          </p:cNvCxnSpPr>
          <p:nvPr/>
        </p:nvCxnSpPr>
        <p:spPr>
          <a:xfrm rot="-5400000" flipH="1">
            <a:off x="4339669" y="1537729"/>
            <a:ext cx="306900" cy="152100"/>
          </a:xfrm>
          <a:prstGeom prst="bentConnector3">
            <a:avLst>
              <a:gd name="adj1" fmla="val 49989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5"/>
          <p:cNvCxnSpPr>
            <a:stCxn id="246" idx="2"/>
            <a:endCxn id="247" idx="0"/>
          </p:cNvCxnSpPr>
          <p:nvPr/>
        </p:nvCxnSpPr>
        <p:spPr>
          <a:xfrm rot="5400000">
            <a:off x="2843519" y="870435"/>
            <a:ext cx="601500" cy="2850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3" name="Google Shape;253;p25"/>
          <p:cNvCxnSpPr>
            <a:stCxn id="249" idx="2"/>
            <a:endCxn id="246" idx="0"/>
          </p:cNvCxnSpPr>
          <p:nvPr/>
        </p:nvCxnSpPr>
        <p:spPr>
          <a:xfrm rot="5400000">
            <a:off x="5226925" y="526240"/>
            <a:ext cx="583200" cy="18987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25"/>
          <p:cNvCxnSpPr>
            <a:stCxn id="246" idx="2"/>
            <a:endCxn id="248" idx="0"/>
          </p:cNvCxnSpPr>
          <p:nvPr/>
        </p:nvCxnSpPr>
        <p:spPr>
          <a:xfrm rot="5400000">
            <a:off x="3168269" y="1195185"/>
            <a:ext cx="601500" cy="2200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5" name="Google Shape;255;p25"/>
          <p:cNvSpPr/>
          <p:nvPr/>
        </p:nvSpPr>
        <p:spPr>
          <a:xfrm>
            <a:off x="4998546" y="895090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B2B portal</a:t>
            </a:r>
            <a:endParaRPr sz="1000"/>
          </a:p>
        </p:txBody>
      </p:sp>
      <p:sp>
        <p:nvSpPr>
          <p:cNvPr id="256" name="Google Shape;256;p25"/>
          <p:cNvSpPr/>
          <p:nvPr/>
        </p:nvSpPr>
        <p:spPr>
          <a:xfrm>
            <a:off x="5142310" y="103325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B2B portal</a:t>
            </a:r>
            <a:endParaRPr sz="1000"/>
          </a:p>
        </p:txBody>
      </p:sp>
      <p:cxnSp>
        <p:nvCxnSpPr>
          <p:cNvPr id="257" name="Google Shape;257;p25"/>
          <p:cNvCxnSpPr>
            <a:stCxn id="247" idx="2"/>
            <a:endCxn id="236" idx="0"/>
          </p:cNvCxnSpPr>
          <p:nvPr/>
        </p:nvCxnSpPr>
        <p:spPr>
          <a:xfrm>
            <a:off x="1719394" y="2823702"/>
            <a:ext cx="335100" cy="287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" name="Google Shape;258;p25"/>
          <p:cNvCxnSpPr>
            <a:stCxn id="248" idx="2"/>
            <a:endCxn id="236" idx="0"/>
          </p:cNvCxnSpPr>
          <p:nvPr/>
        </p:nvCxnSpPr>
        <p:spPr>
          <a:xfrm flipH="1">
            <a:off x="2054205" y="2823702"/>
            <a:ext cx="314700" cy="287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9" name="Google Shape;259;p25"/>
          <p:cNvSpPr txBox="1"/>
          <p:nvPr/>
        </p:nvSpPr>
        <p:spPr>
          <a:xfrm>
            <a:off x="888306" y="4884100"/>
            <a:ext cx="22833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AWS IE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5920063" y="4884100"/>
            <a:ext cx="22833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AWS CA</a:t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1391199" y="3111174"/>
            <a:ext cx="1326300" cy="10860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1455865" y="3753154"/>
            <a:ext cx="1189200" cy="1794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Provides (GET) document / metadata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1455865" y="3545900"/>
            <a:ext cx="1189200" cy="1794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Stores (POST) document / metadata</a:t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263" name="Google Shape;263;p25"/>
          <p:cNvCxnSpPr/>
          <p:nvPr/>
        </p:nvCxnSpPr>
        <p:spPr>
          <a:xfrm>
            <a:off x="4569087" y="2644965"/>
            <a:ext cx="6300" cy="2204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4" name="Google Shape;264;p25"/>
          <p:cNvSpPr/>
          <p:nvPr/>
        </p:nvSpPr>
        <p:spPr>
          <a:xfrm>
            <a:off x="1455865" y="3960408"/>
            <a:ext cx="1189200" cy="179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Authentication Authorization</a:t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265" name="Google Shape;265;p25"/>
          <p:cNvCxnSpPr>
            <a:stCxn id="247" idx="2"/>
          </p:cNvCxnSpPr>
          <p:nvPr/>
        </p:nvCxnSpPr>
        <p:spPr>
          <a:xfrm>
            <a:off x="1719394" y="2823702"/>
            <a:ext cx="331200" cy="1695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6" name="Google Shape;266;p25"/>
          <p:cNvCxnSpPr>
            <a:stCxn id="248" idx="2"/>
          </p:cNvCxnSpPr>
          <p:nvPr/>
        </p:nvCxnSpPr>
        <p:spPr>
          <a:xfrm flipH="1">
            <a:off x="2050605" y="2823702"/>
            <a:ext cx="318300" cy="169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7" name="Google Shape;267;p25"/>
          <p:cNvSpPr txBox="1"/>
          <p:nvPr/>
        </p:nvSpPr>
        <p:spPr>
          <a:xfrm>
            <a:off x="427298" y="3173957"/>
            <a:ext cx="8202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rgbClr val="000000"/>
                </a:solidFill>
              </a:rPr>
              <a:t>EC functional API 2.7.</a:t>
            </a:r>
            <a:r>
              <a:rPr lang="fr-FR" sz="1000"/>
              <a:t>3</a:t>
            </a:r>
            <a:endParaRPr/>
          </a:p>
        </p:txBody>
      </p:sp>
      <p:sp>
        <p:nvSpPr>
          <p:cNvPr id="268" name="Google Shape;268;p25"/>
          <p:cNvSpPr/>
          <p:nvPr/>
        </p:nvSpPr>
        <p:spPr>
          <a:xfrm>
            <a:off x="1189985" y="3010266"/>
            <a:ext cx="57300" cy="9942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4984780" y="1994598"/>
            <a:ext cx="606495" cy="426521"/>
          </a:xfrm>
          <a:prstGeom prst="flowChartMagneticDisk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FFFFFF"/>
                </a:solidFill>
              </a:rPr>
              <a:t>Pool ECID</a:t>
            </a:r>
            <a:endParaRPr sz="900">
              <a:solidFill>
                <a:srgbClr val="FFFFFF"/>
              </a:solidFill>
            </a:endParaRPr>
          </a:p>
        </p:txBody>
      </p:sp>
      <p:cxnSp>
        <p:nvCxnSpPr>
          <p:cNvPr id="269" name="Google Shape;269;p25"/>
          <p:cNvCxnSpPr>
            <a:stCxn id="270" idx="3"/>
            <a:endCxn id="238" idx="3"/>
          </p:cNvCxnSpPr>
          <p:nvPr/>
        </p:nvCxnSpPr>
        <p:spPr>
          <a:xfrm rot="10800000" flipH="1">
            <a:off x="2649024" y="2420992"/>
            <a:ext cx="2639100" cy="907500"/>
          </a:xfrm>
          <a:prstGeom prst="bentConnector2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271" name="Google Shape;271;p25"/>
          <p:cNvCxnSpPr>
            <a:stCxn id="272" idx="1"/>
            <a:endCxn id="238" idx="3"/>
          </p:cNvCxnSpPr>
          <p:nvPr/>
        </p:nvCxnSpPr>
        <p:spPr>
          <a:xfrm rot="10800000">
            <a:off x="5288064" y="2421046"/>
            <a:ext cx="561600" cy="889200"/>
          </a:xfrm>
          <a:prstGeom prst="bentConnector2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270" name="Google Shape;270;p25"/>
          <p:cNvSpPr/>
          <p:nvPr/>
        </p:nvSpPr>
        <p:spPr>
          <a:xfrm>
            <a:off x="1459824" y="3129442"/>
            <a:ext cx="1189200" cy="3981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Provides of unique ECID on the fly | batch mode.</a:t>
            </a:r>
            <a:endParaRPr sz="7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if the number of ID is below X, regenerate a pool of ID</a:t>
            </a:r>
            <a:endParaRPr sz="700"/>
          </a:p>
        </p:txBody>
      </p:sp>
      <p:sp>
        <p:nvSpPr>
          <p:cNvPr id="273" name="Google Shape;273;p25"/>
          <p:cNvSpPr/>
          <p:nvPr/>
        </p:nvSpPr>
        <p:spPr>
          <a:xfrm>
            <a:off x="2761916" y="3315833"/>
            <a:ext cx="606471" cy="227381"/>
          </a:xfrm>
          <a:prstGeom prst="flowChartMagneticDisk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">
                <a:solidFill>
                  <a:srgbClr val="FFFFFF"/>
                </a:solidFill>
              </a:rPr>
              <a:t>Regional pool of ECID</a:t>
            </a:r>
            <a:endParaRPr sz="600">
              <a:solidFill>
                <a:srgbClr val="FFFFFF"/>
              </a:solidFill>
            </a:endParaRPr>
          </a:p>
        </p:txBody>
      </p:sp>
      <p:cxnSp>
        <p:nvCxnSpPr>
          <p:cNvPr id="274" name="Google Shape;274;p25"/>
          <p:cNvCxnSpPr>
            <a:stCxn id="246" idx="2"/>
            <a:endCxn id="248" idx="0"/>
          </p:cNvCxnSpPr>
          <p:nvPr/>
        </p:nvCxnSpPr>
        <p:spPr>
          <a:xfrm rot="5400000">
            <a:off x="3168269" y="1195185"/>
            <a:ext cx="601500" cy="2200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5" name="Google Shape;275;p25"/>
          <p:cNvSpPr/>
          <p:nvPr/>
        </p:nvSpPr>
        <p:spPr>
          <a:xfrm>
            <a:off x="5762478" y="2596302"/>
            <a:ext cx="539700" cy="2274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ALB int</a:t>
            </a:r>
            <a:endParaRPr sz="900"/>
          </a:p>
        </p:txBody>
      </p:sp>
      <p:sp>
        <p:nvSpPr>
          <p:cNvPr id="276" name="Google Shape;276;p25"/>
          <p:cNvSpPr/>
          <p:nvPr/>
        </p:nvSpPr>
        <p:spPr>
          <a:xfrm>
            <a:off x="6411989" y="2596302"/>
            <a:ext cx="539700" cy="2274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ALB ext</a:t>
            </a:r>
            <a:endParaRPr sz="900"/>
          </a:p>
        </p:txBody>
      </p:sp>
      <p:sp>
        <p:nvSpPr>
          <p:cNvPr id="277" name="Google Shape;277;p25"/>
          <p:cNvSpPr/>
          <p:nvPr/>
        </p:nvSpPr>
        <p:spPr>
          <a:xfrm>
            <a:off x="6761165" y="4393888"/>
            <a:ext cx="606474" cy="398088"/>
          </a:xfrm>
          <a:prstGeom prst="flowChartDocument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S3</a:t>
            </a:r>
            <a:endParaRPr sz="900"/>
          </a:p>
        </p:txBody>
      </p:sp>
      <p:cxnSp>
        <p:nvCxnSpPr>
          <p:cNvPr id="278" name="Google Shape;278;p25"/>
          <p:cNvCxnSpPr>
            <a:stCxn id="279" idx="2"/>
            <a:endCxn id="280" idx="1"/>
          </p:cNvCxnSpPr>
          <p:nvPr/>
        </p:nvCxnSpPr>
        <p:spPr>
          <a:xfrm rot="5400000">
            <a:off x="6074815" y="4047189"/>
            <a:ext cx="214200" cy="5145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5"/>
          <p:cNvCxnSpPr>
            <a:stCxn id="277" idx="0"/>
            <a:endCxn id="279" idx="2"/>
          </p:cNvCxnSpPr>
          <p:nvPr/>
        </p:nvCxnSpPr>
        <p:spPr>
          <a:xfrm rot="5400000" flipH="1">
            <a:off x="6653552" y="3983038"/>
            <a:ext cx="196500" cy="6252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" name="Google Shape;279;p25"/>
          <p:cNvSpPr/>
          <p:nvPr/>
        </p:nvSpPr>
        <p:spPr>
          <a:xfrm>
            <a:off x="5776015" y="3010539"/>
            <a:ext cx="1326300" cy="11868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5840681" y="3753154"/>
            <a:ext cx="1189200" cy="1794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Provides (GET) document / metadata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840681" y="3545900"/>
            <a:ext cx="1189200" cy="1794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Stores (POST) document / metadata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840681" y="3960408"/>
            <a:ext cx="1189200" cy="179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Authentication Authorization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621426" y="4411578"/>
            <a:ext cx="606495" cy="426521"/>
          </a:xfrm>
          <a:prstGeom prst="flowChartMagneticDisk">
            <a:avLst/>
          </a:prstGeom>
          <a:solidFill>
            <a:srgbClr val="FF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FFFFFF"/>
                </a:solidFill>
              </a:rPr>
              <a:t>MySQL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5519404" y="1938342"/>
            <a:ext cx="876600" cy="1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i="1"/>
              <a:t>Dynamo - GT</a:t>
            </a:r>
            <a:endParaRPr sz="800" i="1"/>
          </a:p>
        </p:txBody>
      </p:sp>
      <p:sp>
        <p:nvSpPr>
          <p:cNvPr id="286" name="Google Shape;286;p25"/>
          <p:cNvSpPr txBox="1"/>
          <p:nvPr/>
        </p:nvSpPr>
        <p:spPr>
          <a:xfrm>
            <a:off x="2635177" y="1927871"/>
            <a:ext cx="10959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Get ECID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Post data/document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Get data/document</a:t>
            </a:r>
            <a:endParaRPr sz="700"/>
          </a:p>
        </p:txBody>
      </p:sp>
      <p:sp>
        <p:nvSpPr>
          <p:cNvPr id="272" name="Google Shape;272;p25"/>
          <p:cNvSpPr/>
          <p:nvPr/>
        </p:nvSpPr>
        <p:spPr>
          <a:xfrm>
            <a:off x="5849664" y="3111196"/>
            <a:ext cx="1189200" cy="3981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Provides of unique ECID on the fly | batch mode.</a:t>
            </a:r>
            <a:endParaRPr sz="7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if the number of ID is below X, regenerate a pool of ID</a:t>
            </a:r>
            <a:endParaRPr sz="700"/>
          </a:p>
        </p:txBody>
      </p:sp>
      <p:sp>
        <p:nvSpPr>
          <p:cNvPr id="287" name="Google Shape;287;p25"/>
          <p:cNvSpPr/>
          <p:nvPr/>
        </p:nvSpPr>
        <p:spPr>
          <a:xfrm>
            <a:off x="7027165" y="3217498"/>
            <a:ext cx="606471" cy="227381"/>
          </a:xfrm>
          <a:prstGeom prst="flowChartMagneticDisk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">
                <a:solidFill>
                  <a:srgbClr val="FFFFFF"/>
                </a:solidFill>
              </a:rPr>
              <a:t>Regional pool of ECID</a:t>
            </a:r>
            <a:endParaRPr sz="600">
              <a:solidFill>
                <a:srgbClr val="FFFFFF"/>
              </a:solidFill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6577550" y="1219050"/>
            <a:ext cx="2511900" cy="1246200"/>
          </a:xfrm>
          <a:prstGeom prst="rect">
            <a:avLst/>
          </a:prstGeom>
          <a:solidFill>
            <a:srgbClr val="45818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FFFFFF"/>
                </a:solidFill>
              </a:rPr>
              <a:t>Benefits (vs current EC)</a:t>
            </a:r>
            <a:endParaRPr sz="1200">
              <a:solidFill>
                <a:srgbClr val="FFFFFF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❏"/>
            </a:pPr>
            <a:r>
              <a:rPr lang="fr-FR" sz="1200">
                <a:solidFill>
                  <a:srgbClr val="FFFFFF"/>
                </a:solidFill>
              </a:rPr>
              <a:t>High Availability multi-regions Active/Active</a:t>
            </a:r>
            <a:endParaRPr sz="1200">
              <a:solidFill>
                <a:srgbClr val="FFFFFF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❏"/>
            </a:pPr>
            <a:r>
              <a:rPr lang="fr-FR" sz="1200">
                <a:solidFill>
                  <a:srgbClr val="FFFFFF"/>
                </a:solidFill>
              </a:rPr>
              <a:t>Performance</a:t>
            </a:r>
            <a:endParaRPr sz="1200">
              <a:solidFill>
                <a:srgbClr val="FFFFFF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❏"/>
            </a:pPr>
            <a:r>
              <a:rPr lang="fr-FR" sz="1200">
                <a:solidFill>
                  <a:srgbClr val="FFFFFF"/>
                </a:solidFill>
              </a:rPr>
              <a:t>Leverage RxDS std authorization layer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11775" y="0"/>
            <a:ext cx="9144000" cy="5847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1096950" y="0"/>
            <a:ext cx="54807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Tomorrow’s EyeCloud architecture &gt; HAMR AA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91" name="Google Shape;291;p25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/>
          <p:nvPr/>
        </p:nvSpPr>
        <p:spPr>
          <a:xfrm>
            <a:off x="421850" y="2563890"/>
            <a:ext cx="4059600" cy="2285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5818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4662902" y="2600824"/>
            <a:ext cx="4059600" cy="2285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5818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421850" y="1665788"/>
            <a:ext cx="8353500" cy="799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5818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1428838" y="895090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Orchestra</a:t>
            </a:r>
            <a:endParaRPr sz="1000"/>
          </a:p>
        </p:txBody>
      </p:sp>
      <p:sp>
        <p:nvSpPr>
          <p:cNvPr id="301" name="Google Shape;301;p26"/>
          <p:cNvSpPr/>
          <p:nvPr/>
        </p:nvSpPr>
        <p:spPr>
          <a:xfrm>
            <a:off x="2618745" y="895090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Inlab</a:t>
            </a:r>
            <a:endParaRPr sz="1000"/>
          </a:p>
        </p:txBody>
      </p:sp>
      <p:sp>
        <p:nvSpPr>
          <p:cNvPr id="302" name="Google Shape;302;p26"/>
          <p:cNvSpPr/>
          <p:nvPr/>
        </p:nvSpPr>
        <p:spPr>
          <a:xfrm>
            <a:off x="3808651" y="895090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Rx.Net</a:t>
            </a:r>
            <a:endParaRPr sz="1000"/>
          </a:p>
        </p:txBody>
      </p:sp>
      <p:sp>
        <p:nvSpPr>
          <p:cNvPr id="303" name="Google Shape;303;p26"/>
          <p:cNvSpPr/>
          <p:nvPr/>
        </p:nvSpPr>
        <p:spPr>
          <a:xfrm>
            <a:off x="970801" y="4365443"/>
            <a:ext cx="606495" cy="426521"/>
          </a:xfrm>
          <a:prstGeom prst="flowChartMagneticDisk">
            <a:avLst/>
          </a:prstGeom>
          <a:solidFill>
            <a:srgbClr val="FF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FFFFFF"/>
                </a:solidFill>
              </a:rPr>
              <a:t>MySQL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2376349" y="4393888"/>
            <a:ext cx="606474" cy="398088"/>
          </a:xfrm>
          <a:prstGeom prst="flowChartDocument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S3</a:t>
            </a:r>
            <a:endParaRPr sz="900"/>
          </a:p>
        </p:txBody>
      </p:sp>
      <p:cxnSp>
        <p:nvCxnSpPr>
          <p:cNvPr id="305" name="Google Shape;305;p26"/>
          <p:cNvCxnSpPr>
            <a:stCxn id="306" idx="2"/>
            <a:endCxn id="303" idx="1"/>
          </p:cNvCxnSpPr>
          <p:nvPr/>
        </p:nvCxnSpPr>
        <p:spPr>
          <a:xfrm rot="5400000">
            <a:off x="1580049" y="3891174"/>
            <a:ext cx="168300" cy="780300"/>
          </a:xfrm>
          <a:prstGeom prst="bentConnector3">
            <a:avLst>
              <a:gd name="adj1" fmla="val 4996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26"/>
          <p:cNvCxnSpPr>
            <a:stCxn id="308" idx="3"/>
            <a:endCxn id="306" idx="2"/>
          </p:cNvCxnSpPr>
          <p:nvPr/>
        </p:nvCxnSpPr>
        <p:spPr>
          <a:xfrm rot="5400000">
            <a:off x="2783177" y="1692269"/>
            <a:ext cx="1776000" cy="3233700"/>
          </a:xfrm>
          <a:prstGeom prst="bentConnector3">
            <a:avLst>
              <a:gd name="adj1" fmla="val 112157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26"/>
          <p:cNvCxnSpPr>
            <a:stCxn id="304" idx="0"/>
            <a:endCxn id="306" idx="2"/>
          </p:cNvCxnSpPr>
          <p:nvPr/>
        </p:nvCxnSpPr>
        <p:spPr>
          <a:xfrm rot="5400000" flipH="1">
            <a:off x="2268586" y="3982888"/>
            <a:ext cx="196800" cy="6252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" name="Google Shape;310;p26"/>
          <p:cNvSpPr/>
          <p:nvPr/>
        </p:nvSpPr>
        <p:spPr>
          <a:xfrm>
            <a:off x="1527997" y="103325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Orchestra</a:t>
            </a:r>
            <a:endParaRPr sz="1000"/>
          </a:p>
        </p:txBody>
      </p:sp>
      <p:sp>
        <p:nvSpPr>
          <p:cNvPr id="311" name="Google Shape;311;p26"/>
          <p:cNvSpPr/>
          <p:nvPr/>
        </p:nvSpPr>
        <p:spPr>
          <a:xfrm>
            <a:off x="2717904" y="103325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Inlab</a:t>
            </a:r>
            <a:endParaRPr sz="1000"/>
          </a:p>
        </p:txBody>
      </p:sp>
      <p:sp>
        <p:nvSpPr>
          <p:cNvPr id="312" name="Google Shape;312;p26"/>
          <p:cNvSpPr/>
          <p:nvPr/>
        </p:nvSpPr>
        <p:spPr>
          <a:xfrm>
            <a:off x="3907810" y="103325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Rx.Net</a:t>
            </a:r>
            <a:endParaRPr sz="1000"/>
          </a:p>
        </p:txBody>
      </p:sp>
      <p:sp>
        <p:nvSpPr>
          <p:cNvPr id="313" name="Google Shape;313;p26"/>
          <p:cNvSpPr/>
          <p:nvPr/>
        </p:nvSpPr>
        <p:spPr>
          <a:xfrm>
            <a:off x="1627156" y="117142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Orchestra</a:t>
            </a:r>
            <a:endParaRPr sz="1000"/>
          </a:p>
        </p:txBody>
      </p:sp>
      <p:sp>
        <p:nvSpPr>
          <p:cNvPr id="314" name="Google Shape;314;p26"/>
          <p:cNvSpPr/>
          <p:nvPr/>
        </p:nvSpPr>
        <p:spPr>
          <a:xfrm>
            <a:off x="2817062" y="117142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Inlab</a:t>
            </a:r>
            <a:endParaRPr sz="1000"/>
          </a:p>
        </p:txBody>
      </p:sp>
      <p:sp>
        <p:nvSpPr>
          <p:cNvPr id="315" name="Google Shape;315;p26"/>
          <p:cNvSpPr/>
          <p:nvPr/>
        </p:nvSpPr>
        <p:spPr>
          <a:xfrm>
            <a:off x="4006969" y="117142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Rx.Net</a:t>
            </a:r>
            <a:endParaRPr sz="1000"/>
          </a:p>
        </p:txBody>
      </p:sp>
      <p:sp>
        <p:nvSpPr>
          <p:cNvPr id="316" name="Google Shape;316;p26"/>
          <p:cNvSpPr/>
          <p:nvPr/>
        </p:nvSpPr>
        <p:spPr>
          <a:xfrm>
            <a:off x="4181069" y="1767285"/>
            <a:ext cx="776400" cy="2274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R53</a:t>
            </a:r>
            <a:endParaRPr sz="900"/>
          </a:p>
        </p:txBody>
      </p:sp>
      <p:sp>
        <p:nvSpPr>
          <p:cNvPr id="317" name="Google Shape;317;p26"/>
          <p:cNvSpPr/>
          <p:nvPr/>
        </p:nvSpPr>
        <p:spPr>
          <a:xfrm>
            <a:off x="1449544" y="2596302"/>
            <a:ext cx="539700" cy="2274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ALB int</a:t>
            </a:r>
            <a:endParaRPr sz="900"/>
          </a:p>
        </p:txBody>
      </p:sp>
      <p:sp>
        <p:nvSpPr>
          <p:cNvPr id="318" name="Google Shape;318;p26"/>
          <p:cNvSpPr/>
          <p:nvPr/>
        </p:nvSpPr>
        <p:spPr>
          <a:xfrm>
            <a:off x="2099055" y="2596302"/>
            <a:ext cx="539700" cy="2274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ALB ext</a:t>
            </a:r>
            <a:endParaRPr sz="900"/>
          </a:p>
        </p:txBody>
      </p:sp>
      <p:sp>
        <p:nvSpPr>
          <p:cNvPr id="319" name="Google Shape;319;p26"/>
          <p:cNvSpPr/>
          <p:nvPr/>
        </p:nvSpPr>
        <p:spPr>
          <a:xfrm>
            <a:off x="6079675" y="895090"/>
            <a:ext cx="7764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Walmann</a:t>
            </a:r>
            <a:endParaRPr sz="1000"/>
          </a:p>
        </p:txBody>
      </p:sp>
      <p:sp>
        <p:nvSpPr>
          <p:cNvPr id="320" name="Google Shape;320;p26"/>
          <p:cNvSpPr/>
          <p:nvPr/>
        </p:nvSpPr>
        <p:spPr>
          <a:xfrm>
            <a:off x="6942262" y="895090"/>
            <a:ext cx="7764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OnSight</a:t>
            </a:r>
            <a:endParaRPr sz="1000"/>
          </a:p>
        </p:txBody>
      </p:sp>
      <p:cxnSp>
        <p:nvCxnSpPr>
          <p:cNvPr id="321" name="Google Shape;321;p26"/>
          <p:cNvCxnSpPr>
            <a:stCxn id="315" idx="2"/>
            <a:endCxn id="316" idx="0"/>
          </p:cNvCxnSpPr>
          <p:nvPr/>
        </p:nvCxnSpPr>
        <p:spPr>
          <a:xfrm rot="-5400000" flipH="1">
            <a:off x="4339669" y="1537729"/>
            <a:ext cx="306900" cy="152100"/>
          </a:xfrm>
          <a:prstGeom prst="bentConnector3">
            <a:avLst>
              <a:gd name="adj1" fmla="val 49989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26"/>
          <p:cNvCxnSpPr>
            <a:stCxn id="316" idx="2"/>
            <a:endCxn id="317" idx="0"/>
          </p:cNvCxnSpPr>
          <p:nvPr/>
        </p:nvCxnSpPr>
        <p:spPr>
          <a:xfrm rot="5400000">
            <a:off x="2843519" y="870435"/>
            <a:ext cx="601500" cy="2850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3" name="Google Shape;323;p26"/>
          <p:cNvCxnSpPr>
            <a:stCxn id="319" idx="2"/>
            <a:endCxn id="316" idx="0"/>
          </p:cNvCxnSpPr>
          <p:nvPr/>
        </p:nvCxnSpPr>
        <p:spPr>
          <a:xfrm rot="5400000">
            <a:off x="5226925" y="526240"/>
            <a:ext cx="583200" cy="18987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26"/>
          <p:cNvCxnSpPr>
            <a:stCxn id="316" idx="2"/>
            <a:endCxn id="318" idx="0"/>
          </p:cNvCxnSpPr>
          <p:nvPr/>
        </p:nvCxnSpPr>
        <p:spPr>
          <a:xfrm rot="5400000">
            <a:off x="3168269" y="1195185"/>
            <a:ext cx="601500" cy="2200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5" name="Google Shape;325;p26"/>
          <p:cNvSpPr/>
          <p:nvPr/>
        </p:nvSpPr>
        <p:spPr>
          <a:xfrm>
            <a:off x="4998546" y="895090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B2B portal</a:t>
            </a:r>
            <a:endParaRPr sz="1000"/>
          </a:p>
        </p:txBody>
      </p:sp>
      <p:sp>
        <p:nvSpPr>
          <p:cNvPr id="326" name="Google Shape;326;p26"/>
          <p:cNvSpPr/>
          <p:nvPr/>
        </p:nvSpPr>
        <p:spPr>
          <a:xfrm>
            <a:off x="5142310" y="1033259"/>
            <a:ext cx="820200" cy="2889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B2B portal</a:t>
            </a:r>
            <a:endParaRPr sz="1000"/>
          </a:p>
        </p:txBody>
      </p:sp>
      <p:cxnSp>
        <p:nvCxnSpPr>
          <p:cNvPr id="327" name="Google Shape;327;p26"/>
          <p:cNvCxnSpPr>
            <a:stCxn id="317" idx="2"/>
            <a:endCxn id="306" idx="0"/>
          </p:cNvCxnSpPr>
          <p:nvPr/>
        </p:nvCxnSpPr>
        <p:spPr>
          <a:xfrm>
            <a:off x="1719394" y="2823702"/>
            <a:ext cx="335100" cy="287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8" name="Google Shape;328;p26"/>
          <p:cNvCxnSpPr>
            <a:stCxn id="318" idx="2"/>
            <a:endCxn id="306" idx="0"/>
          </p:cNvCxnSpPr>
          <p:nvPr/>
        </p:nvCxnSpPr>
        <p:spPr>
          <a:xfrm flipH="1">
            <a:off x="2054205" y="2823702"/>
            <a:ext cx="314700" cy="287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9" name="Google Shape;329;p26"/>
          <p:cNvSpPr txBox="1"/>
          <p:nvPr/>
        </p:nvSpPr>
        <p:spPr>
          <a:xfrm>
            <a:off x="888306" y="4884100"/>
            <a:ext cx="22833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AWS IE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5920063" y="4884100"/>
            <a:ext cx="22833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AWS CA</a:t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1391199" y="3111174"/>
            <a:ext cx="1326300" cy="10860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1455865" y="3753154"/>
            <a:ext cx="1189200" cy="1794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Provides (GET) document / metadata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1455865" y="3545900"/>
            <a:ext cx="1189200" cy="1794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Stores (POST) document / metadata</a:t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333" name="Google Shape;333;p26"/>
          <p:cNvCxnSpPr/>
          <p:nvPr/>
        </p:nvCxnSpPr>
        <p:spPr>
          <a:xfrm>
            <a:off x="4569087" y="2644965"/>
            <a:ext cx="6300" cy="2204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4" name="Google Shape;334;p26"/>
          <p:cNvSpPr/>
          <p:nvPr/>
        </p:nvSpPr>
        <p:spPr>
          <a:xfrm>
            <a:off x="1455865" y="3960408"/>
            <a:ext cx="1189200" cy="179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Authentication Authorization</a:t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335" name="Google Shape;335;p26"/>
          <p:cNvCxnSpPr>
            <a:stCxn id="317" idx="2"/>
          </p:cNvCxnSpPr>
          <p:nvPr/>
        </p:nvCxnSpPr>
        <p:spPr>
          <a:xfrm>
            <a:off x="1719394" y="2823702"/>
            <a:ext cx="331200" cy="1695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6" name="Google Shape;336;p26"/>
          <p:cNvCxnSpPr>
            <a:stCxn id="318" idx="2"/>
          </p:cNvCxnSpPr>
          <p:nvPr/>
        </p:nvCxnSpPr>
        <p:spPr>
          <a:xfrm flipH="1">
            <a:off x="2050605" y="2823702"/>
            <a:ext cx="318300" cy="169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7" name="Google Shape;337;p26"/>
          <p:cNvSpPr txBox="1"/>
          <p:nvPr/>
        </p:nvSpPr>
        <p:spPr>
          <a:xfrm>
            <a:off x="427298" y="3173957"/>
            <a:ext cx="8202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rgbClr val="000000"/>
                </a:solidFill>
              </a:rPr>
              <a:t>EC functional API 2.7.1</a:t>
            </a: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1189985" y="3010266"/>
            <a:ext cx="57300" cy="9942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4984780" y="1994598"/>
            <a:ext cx="606495" cy="426521"/>
          </a:xfrm>
          <a:prstGeom prst="flowChartMagneticDisk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FFFFFF"/>
                </a:solidFill>
              </a:rPr>
              <a:t>Pool ECID</a:t>
            </a:r>
            <a:endParaRPr sz="900">
              <a:solidFill>
                <a:srgbClr val="FFFFFF"/>
              </a:solidFill>
            </a:endParaRPr>
          </a:p>
        </p:txBody>
      </p:sp>
      <p:cxnSp>
        <p:nvCxnSpPr>
          <p:cNvPr id="339" name="Google Shape;339;p26"/>
          <p:cNvCxnSpPr>
            <a:stCxn id="340" idx="3"/>
            <a:endCxn id="308" idx="3"/>
          </p:cNvCxnSpPr>
          <p:nvPr/>
        </p:nvCxnSpPr>
        <p:spPr>
          <a:xfrm rot="10800000" flipH="1">
            <a:off x="2649024" y="2420992"/>
            <a:ext cx="2639100" cy="907500"/>
          </a:xfrm>
          <a:prstGeom prst="bentConnector2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41" name="Google Shape;341;p26"/>
          <p:cNvCxnSpPr>
            <a:stCxn id="342" idx="1"/>
            <a:endCxn id="308" idx="3"/>
          </p:cNvCxnSpPr>
          <p:nvPr/>
        </p:nvCxnSpPr>
        <p:spPr>
          <a:xfrm rot="10800000">
            <a:off x="5288064" y="2421046"/>
            <a:ext cx="561600" cy="889200"/>
          </a:xfrm>
          <a:prstGeom prst="bentConnector2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340" name="Google Shape;340;p26"/>
          <p:cNvSpPr/>
          <p:nvPr/>
        </p:nvSpPr>
        <p:spPr>
          <a:xfrm>
            <a:off x="1459824" y="3129442"/>
            <a:ext cx="1189200" cy="3981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Provides of unique ECID on the fly | batch mode.</a:t>
            </a:r>
            <a:endParaRPr sz="7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if the number of ID is below X, regenerate a pool of ID</a:t>
            </a:r>
            <a:endParaRPr sz="700"/>
          </a:p>
        </p:txBody>
      </p:sp>
      <p:sp>
        <p:nvSpPr>
          <p:cNvPr id="343" name="Google Shape;343;p26"/>
          <p:cNvSpPr/>
          <p:nvPr/>
        </p:nvSpPr>
        <p:spPr>
          <a:xfrm>
            <a:off x="2761916" y="3315833"/>
            <a:ext cx="606471" cy="227381"/>
          </a:xfrm>
          <a:prstGeom prst="flowChartMagneticDisk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">
                <a:solidFill>
                  <a:srgbClr val="FFFFFF"/>
                </a:solidFill>
              </a:rPr>
              <a:t>Regional pool of ECID</a:t>
            </a:r>
            <a:endParaRPr sz="600">
              <a:solidFill>
                <a:srgbClr val="FFFFFF"/>
              </a:solidFill>
            </a:endParaRPr>
          </a:p>
        </p:txBody>
      </p:sp>
      <p:cxnSp>
        <p:nvCxnSpPr>
          <p:cNvPr id="344" name="Google Shape;344;p26"/>
          <p:cNvCxnSpPr>
            <a:stCxn id="316" idx="2"/>
            <a:endCxn id="318" idx="0"/>
          </p:cNvCxnSpPr>
          <p:nvPr/>
        </p:nvCxnSpPr>
        <p:spPr>
          <a:xfrm rot="5400000">
            <a:off x="3168269" y="1195185"/>
            <a:ext cx="601500" cy="2200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5" name="Google Shape;345;p26"/>
          <p:cNvSpPr/>
          <p:nvPr/>
        </p:nvSpPr>
        <p:spPr>
          <a:xfrm>
            <a:off x="5762478" y="2596302"/>
            <a:ext cx="539700" cy="2274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ALB int</a:t>
            </a:r>
            <a:endParaRPr sz="900"/>
          </a:p>
        </p:txBody>
      </p:sp>
      <p:sp>
        <p:nvSpPr>
          <p:cNvPr id="346" name="Google Shape;346;p26"/>
          <p:cNvSpPr/>
          <p:nvPr/>
        </p:nvSpPr>
        <p:spPr>
          <a:xfrm>
            <a:off x="6411989" y="2596302"/>
            <a:ext cx="539700" cy="2274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ALB ext</a:t>
            </a:r>
            <a:endParaRPr sz="900"/>
          </a:p>
        </p:txBody>
      </p:sp>
      <p:sp>
        <p:nvSpPr>
          <p:cNvPr id="347" name="Google Shape;347;p26"/>
          <p:cNvSpPr/>
          <p:nvPr/>
        </p:nvSpPr>
        <p:spPr>
          <a:xfrm>
            <a:off x="6761165" y="4393888"/>
            <a:ext cx="606474" cy="398088"/>
          </a:xfrm>
          <a:prstGeom prst="flowChartDocument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S3</a:t>
            </a:r>
            <a:endParaRPr sz="900"/>
          </a:p>
        </p:txBody>
      </p:sp>
      <p:cxnSp>
        <p:nvCxnSpPr>
          <p:cNvPr id="348" name="Google Shape;348;p26"/>
          <p:cNvCxnSpPr>
            <a:stCxn id="349" idx="2"/>
            <a:endCxn id="350" idx="1"/>
          </p:cNvCxnSpPr>
          <p:nvPr/>
        </p:nvCxnSpPr>
        <p:spPr>
          <a:xfrm rot="5400000">
            <a:off x="6074815" y="4047189"/>
            <a:ext cx="214200" cy="5145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1" name="Google Shape;351;p26"/>
          <p:cNvCxnSpPr>
            <a:stCxn id="347" idx="0"/>
            <a:endCxn id="349" idx="2"/>
          </p:cNvCxnSpPr>
          <p:nvPr/>
        </p:nvCxnSpPr>
        <p:spPr>
          <a:xfrm rot="5400000" flipH="1">
            <a:off x="6653552" y="3983038"/>
            <a:ext cx="196500" cy="6252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9" name="Google Shape;349;p26"/>
          <p:cNvSpPr/>
          <p:nvPr/>
        </p:nvSpPr>
        <p:spPr>
          <a:xfrm>
            <a:off x="5776015" y="3010539"/>
            <a:ext cx="1326300" cy="11868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6"/>
          <p:cNvSpPr/>
          <p:nvPr/>
        </p:nvSpPr>
        <p:spPr>
          <a:xfrm>
            <a:off x="5840681" y="3753154"/>
            <a:ext cx="1189200" cy="1794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Provides (GET) document / metadata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5840681" y="3545900"/>
            <a:ext cx="1189200" cy="1794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Stores (POST) document / metadata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5840681" y="3960408"/>
            <a:ext cx="1189200" cy="179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FFFFF"/>
                </a:solidFill>
              </a:rPr>
              <a:t>Authentication Authorization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5621426" y="4411578"/>
            <a:ext cx="606495" cy="426521"/>
          </a:xfrm>
          <a:prstGeom prst="flowChartMagneticDisk">
            <a:avLst/>
          </a:prstGeom>
          <a:solidFill>
            <a:srgbClr val="FF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FFFFFF"/>
                </a:solidFill>
              </a:rPr>
              <a:t>MySQL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355" name="Google Shape;355;p26"/>
          <p:cNvSpPr txBox="1"/>
          <p:nvPr/>
        </p:nvSpPr>
        <p:spPr>
          <a:xfrm>
            <a:off x="5519404" y="1938342"/>
            <a:ext cx="876600" cy="1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i="1"/>
              <a:t>Dynamo - GT</a:t>
            </a:r>
            <a:endParaRPr sz="800" i="1"/>
          </a:p>
        </p:txBody>
      </p:sp>
      <p:sp>
        <p:nvSpPr>
          <p:cNvPr id="356" name="Google Shape;356;p26"/>
          <p:cNvSpPr txBox="1"/>
          <p:nvPr/>
        </p:nvSpPr>
        <p:spPr>
          <a:xfrm>
            <a:off x="2635177" y="1927871"/>
            <a:ext cx="10959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Get ECID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Post data/document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Get data/document</a:t>
            </a:r>
            <a:endParaRPr sz="700"/>
          </a:p>
        </p:txBody>
      </p:sp>
      <p:sp>
        <p:nvSpPr>
          <p:cNvPr id="342" name="Google Shape;342;p26"/>
          <p:cNvSpPr/>
          <p:nvPr/>
        </p:nvSpPr>
        <p:spPr>
          <a:xfrm>
            <a:off x="5849664" y="3111196"/>
            <a:ext cx="1189200" cy="3981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Provides of unique ECID on the fly | batch mode.</a:t>
            </a:r>
            <a:endParaRPr sz="7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if the number of ID is below X, regenerate a pool of ID</a:t>
            </a:r>
            <a:endParaRPr sz="700"/>
          </a:p>
        </p:txBody>
      </p:sp>
      <p:sp>
        <p:nvSpPr>
          <p:cNvPr id="357" name="Google Shape;357;p26"/>
          <p:cNvSpPr/>
          <p:nvPr/>
        </p:nvSpPr>
        <p:spPr>
          <a:xfrm>
            <a:off x="7027165" y="3217498"/>
            <a:ext cx="606471" cy="227381"/>
          </a:xfrm>
          <a:prstGeom prst="flowChartMagneticDisk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">
                <a:solidFill>
                  <a:srgbClr val="FFFFFF"/>
                </a:solidFill>
              </a:rPr>
              <a:t>Regional pool of ECID</a:t>
            </a:r>
            <a:endParaRPr sz="600">
              <a:solidFill>
                <a:srgbClr val="FFFFFF"/>
              </a:solidFill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6577550" y="690650"/>
            <a:ext cx="2481600" cy="44529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</a:rPr>
              <a:t>Pillars / Approach / Principales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</a:rPr>
              <a:t>2 platforms: AWS IE+CA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</a:rPr>
              <a:t>Usage of global db layer (Dynamo GT if AWS) to share a unique ID between regions. This db is called “IDs global pool”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</a:rPr>
              <a:t>A regional pool of IDs for performance. Each regional pool is an extract of the “IDs global pool”.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</a:rPr>
              <a:t>Home made permission layer will be replaced by RxDS permission standard  layer (AuthZ).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11775" y="0"/>
            <a:ext cx="9144000" cy="5847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1096950" y="0"/>
            <a:ext cx="54807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Tomorrow’s EyeCloud architecture &gt; HAMR AA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61" name="Google Shape;361;p26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"/>
          <p:cNvSpPr/>
          <p:nvPr/>
        </p:nvSpPr>
        <p:spPr>
          <a:xfrm>
            <a:off x="11775" y="0"/>
            <a:ext cx="9144000" cy="5847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1096950" y="0"/>
            <a:ext cx="54807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EyeCloud objects/vocabulary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graphicFrame>
        <p:nvGraphicFramePr>
          <p:cNvPr id="369" name="Google Shape;369;p27"/>
          <p:cNvGraphicFramePr/>
          <p:nvPr/>
        </p:nvGraphicFramePr>
        <p:xfrm>
          <a:off x="11775" y="636350"/>
          <a:ext cx="9144000" cy="4388940"/>
        </p:xfrm>
        <a:graphic>
          <a:graphicData uri="http://schemas.openxmlformats.org/drawingml/2006/table">
            <a:tbl>
              <a:tblPr>
                <a:noFill/>
                <a:tableStyleId>{30FA42FB-BFE6-41E9-815B-F85DEFA9ECF2}</a:tableStyleId>
              </a:tblPr>
              <a:tblGrid>
                <a:gridCol w="214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>
                          <a:solidFill>
                            <a:srgbClr val="FFFFFF"/>
                          </a:solidFill>
                        </a:rPr>
                        <a:t>Real life</a:t>
                      </a:r>
                      <a:endParaRPr sz="13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>
                          <a:solidFill>
                            <a:srgbClr val="FFFFFF"/>
                          </a:solidFill>
                        </a:rPr>
                        <a:t>Sample</a:t>
                      </a:r>
                      <a:endParaRPr sz="13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>
                          <a:solidFill>
                            <a:srgbClr val="FFFFFF"/>
                          </a:solidFill>
                        </a:rPr>
                        <a:t>Eyecloud object(s)</a:t>
                      </a:r>
                      <a:endParaRPr sz="13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>
                          <a:solidFill>
                            <a:srgbClr val="FFFFFF"/>
                          </a:solidFill>
                        </a:rPr>
                        <a:t>Sample of EC object</a:t>
                      </a:r>
                      <a:endParaRPr sz="13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58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Lab / ECP / ...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Columbus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Calling system application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Rx.Net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EC application key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1 application key per application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a-0bb2a895-9a10-4c65-8ac2-0413d06f4850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Calling system application instance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Rx.Net Columbus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EC actor key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1 actor key per instance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t-68968036-40a7-4e1c-919e-1096d47432ec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Type of document: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>
                          <a:solidFill>
                            <a:schemeClr val="dk1"/>
                          </a:solidFill>
                        </a:rPr>
                        <a:t>Calculation result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>
                          <a:solidFill>
                            <a:schemeClr val="dk1"/>
                          </a:solidFill>
                        </a:rPr>
                        <a:t>DLM files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>
                          <a:solidFill>
                            <a:schemeClr val="dk1"/>
                          </a:solidFill>
                        </a:rPr>
                        <a:t>Traceability files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>
                          <a:solidFill>
                            <a:schemeClr val="dk1"/>
                          </a:solidFill>
                        </a:rPr>
                        <a:t>Delivery note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>
                          <a:solidFill>
                            <a:schemeClr val="dk1"/>
                          </a:solidFill>
                        </a:rPr>
                        <a:t>e-warranty card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EC filetype key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by default, 1 filetype key per type of document but can have exception. For </a:t>
                      </a:r>
                      <a:r>
                        <a:rPr lang="fr-FR" sz="1100" b="1"/>
                        <a:t>instance</a:t>
                      </a:r>
                      <a:r>
                        <a:rPr lang="fr-FR" sz="1100"/>
                        <a:t>, for confidentiality purpose, 2 filetype keys can be created for the same type of document,but with different permission.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c-59353d92-cdcb-4e9c-9086-6bee6c9acd54 for traceability file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g-72a94428-4456-488a-8ad8-009bbfcf4c38 for Delivery Note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g-9c309eda-bc6e-4fba-ae93-0709f5ac6373 for e-warranty card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Order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>
                          <a:solidFill>
                            <a:schemeClr val="dk1"/>
                          </a:solidFill>
                        </a:rPr>
                        <a:t>811244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/>
                        <a:t>UOID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cn9kw27y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0" name="Google Shape;370;p27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/>
          <p:nvPr/>
        </p:nvSpPr>
        <p:spPr>
          <a:xfrm>
            <a:off x="11775" y="0"/>
            <a:ext cx="9144000" cy="5847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1096950" y="0"/>
            <a:ext cx="54807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EyeCloud “Unique” ID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78" name="Google Shape;378;p28"/>
          <p:cNvSpPr txBox="1"/>
          <p:nvPr/>
        </p:nvSpPr>
        <p:spPr>
          <a:xfrm>
            <a:off x="605300" y="1172425"/>
            <a:ext cx="7992300" cy="27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>
                <a:solidFill>
                  <a:schemeClr val="dk1"/>
                </a:solidFill>
              </a:rPr>
              <a:t>Unique Order ID (UOID)</a:t>
            </a:r>
            <a:endParaRPr sz="1100" b="1">
              <a:solidFill>
                <a:schemeClr val="dk1"/>
              </a:solidFill>
            </a:endParaRPr>
          </a:p>
          <a:p>
            <a:pPr marL="5969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Pattern:A*N*A*N*</a:t>
            </a:r>
            <a:endParaRPr sz="1100">
              <a:solidFill>
                <a:schemeClr val="dk1"/>
              </a:solidFill>
            </a:endParaRPr>
          </a:p>
          <a:p>
            <a:pPr marL="5969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Length: 8</a:t>
            </a:r>
            <a:endParaRPr sz="1100">
              <a:solidFill>
                <a:schemeClr val="dk1"/>
              </a:solidFill>
            </a:endParaRPr>
          </a:p>
          <a:p>
            <a:pPr marL="5969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Type Of character:AlphaNumeric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100" b="1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A: Stands for Alpha excludes </a:t>
            </a:r>
            <a:r>
              <a:rPr lang="fr-FR" sz="1100" b="1">
                <a:solidFill>
                  <a:schemeClr val="dk1"/>
                </a:solidFill>
              </a:rPr>
              <a:t>i,j</a:t>
            </a:r>
            <a:r>
              <a:rPr lang="fr-FR" sz="1100">
                <a:solidFill>
                  <a:schemeClr val="dk1"/>
                </a:solidFill>
              </a:rPr>
              <a:t> and </a:t>
            </a:r>
            <a:r>
              <a:rPr lang="fr-FR" sz="1100" b="1">
                <a:solidFill>
                  <a:schemeClr val="dk1"/>
                </a:solidFill>
              </a:rPr>
              <a:t>o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N: Stands for Numeric excludes </a:t>
            </a:r>
            <a:r>
              <a:rPr lang="fr-FR" sz="1100" b="1">
                <a:solidFill>
                  <a:schemeClr val="dk1"/>
                </a:solidFill>
              </a:rPr>
              <a:t>0 </a:t>
            </a:r>
            <a:r>
              <a:rPr lang="fr-FR" sz="1100">
                <a:solidFill>
                  <a:schemeClr val="dk1"/>
                </a:solidFill>
              </a:rPr>
              <a:t>and </a:t>
            </a:r>
            <a:r>
              <a:rPr lang="fr-FR" sz="1100" b="1">
                <a:solidFill>
                  <a:schemeClr val="dk1"/>
                </a:solidFill>
              </a:rPr>
              <a:t>1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*: Stands for AlphaNumeric [No exclusives .All alpha and numeric characters]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Rule to check the unicity :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1.Generation of random key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2.The generated random key has been validated against the dynamo db Id tables using </a:t>
            </a:r>
            <a:r>
              <a:rPr lang="fr-FR" sz="1100" b="1">
                <a:solidFill>
                  <a:schemeClr val="dk1"/>
                </a:solidFill>
              </a:rPr>
              <a:t>query </a:t>
            </a:r>
            <a:r>
              <a:rPr lang="fr-FR" sz="1100">
                <a:solidFill>
                  <a:schemeClr val="dk1"/>
                </a:solidFill>
              </a:rPr>
              <a:t>operator for its existence.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888888"/>
              </a:solidFill>
            </a:endParaRPr>
          </a:p>
        </p:txBody>
      </p:sp>
      <p:sp>
        <p:nvSpPr>
          <p:cNvPr id="379" name="Google Shape;379;p28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"/>
          <p:cNvSpPr/>
          <p:nvPr/>
        </p:nvSpPr>
        <p:spPr>
          <a:xfrm>
            <a:off x="4195748" y="605550"/>
            <a:ext cx="3501900" cy="3419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920000" algn="bl" rotWithShape="0">
              <a:srgbClr val="000000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9"/>
          <p:cNvSpPr/>
          <p:nvPr/>
        </p:nvSpPr>
        <p:spPr>
          <a:xfrm rot="-9047291">
            <a:off x="2420922" y="-424002"/>
            <a:ext cx="3047703" cy="2127969"/>
          </a:xfrm>
          <a:prstGeom prst="arc">
            <a:avLst>
              <a:gd name="adj1" fmla="val 13534526"/>
              <a:gd name="adj2" fmla="val 21451455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9"/>
          <p:cNvSpPr/>
          <p:nvPr/>
        </p:nvSpPr>
        <p:spPr>
          <a:xfrm rot="-2044681">
            <a:off x="6562355" y="1321866"/>
            <a:ext cx="3047537" cy="2128018"/>
          </a:xfrm>
          <a:prstGeom prst="arc">
            <a:avLst>
              <a:gd name="adj1" fmla="val 16200000"/>
              <a:gd name="adj2" fmla="val 21451455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7" name="Google Shape;387;p29"/>
          <p:cNvPicPr preferRelativeResize="0"/>
          <p:nvPr/>
        </p:nvPicPr>
        <p:blipFill rotWithShape="1">
          <a:blip r:embed="rId3">
            <a:alphaModFix/>
          </a:blip>
          <a:srcRect b="21966"/>
          <a:stretch/>
        </p:blipFill>
        <p:spPr>
          <a:xfrm>
            <a:off x="7597048" y="4751234"/>
            <a:ext cx="1420535" cy="356300"/>
          </a:xfrm>
          <a:prstGeom prst="rect">
            <a:avLst/>
          </a:prstGeom>
          <a:noFill/>
          <a:ln>
            <a:noFill/>
          </a:ln>
          <a:effectLst>
            <a:outerShdw blurRad="57150" dist="19050" dir="2700000" algn="bl" rotWithShape="0">
              <a:srgbClr val="000000">
                <a:alpha val="61000"/>
              </a:srgbClr>
            </a:outerShdw>
          </a:effectLst>
        </p:spPr>
      </p:pic>
      <p:sp>
        <p:nvSpPr>
          <p:cNvPr id="388" name="Google Shape;388;p29"/>
          <p:cNvSpPr txBox="1"/>
          <p:nvPr/>
        </p:nvSpPr>
        <p:spPr>
          <a:xfrm>
            <a:off x="1474485" y="4999485"/>
            <a:ext cx="59727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© ESSILOR – Group IT Solutions / Digital Innovation – For internal use only. Do not disclose or copy.</a:t>
            </a:r>
            <a:endParaRPr sz="700">
              <a:solidFill>
                <a:srgbClr val="F3F3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29"/>
          <p:cNvSpPr txBox="1"/>
          <p:nvPr/>
        </p:nvSpPr>
        <p:spPr>
          <a:xfrm>
            <a:off x="3921400" y="1459450"/>
            <a:ext cx="4046700" cy="15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EyeCloud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Introducing for RxIT management team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September 2021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111950" y="3302675"/>
            <a:ext cx="3607200" cy="290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Introducing</a:t>
            </a:r>
            <a:endParaRPr/>
          </a:p>
        </p:txBody>
      </p:sp>
      <p:sp>
        <p:nvSpPr>
          <p:cNvPr id="391" name="Google Shape;391;p29"/>
          <p:cNvSpPr/>
          <p:nvPr/>
        </p:nvSpPr>
        <p:spPr>
          <a:xfrm>
            <a:off x="111950" y="3683675"/>
            <a:ext cx="3607200" cy="290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Architecture, EC objects/vocabulary</a:t>
            </a:r>
            <a:endParaRPr/>
          </a:p>
        </p:txBody>
      </p:sp>
      <p:sp>
        <p:nvSpPr>
          <p:cNvPr id="392" name="Google Shape;392;p29"/>
          <p:cNvSpPr/>
          <p:nvPr/>
        </p:nvSpPr>
        <p:spPr>
          <a:xfrm>
            <a:off x="111950" y="4064675"/>
            <a:ext cx="3607200" cy="2901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Samples of use cases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15</a:t>
            </a:fld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3021450" y="2371650"/>
            <a:ext cx="310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Sample 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1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  <p:sp>
        <p:nvSpPr>
          <p:cNvPr id="406" name="Google Shape;406;p31"/>
          <p:cNvSpPr/>
          <p:nvPr/>
        </p:nvSpPr>
        <p:spPr>
          <a:xfrm>
            <a:off x="0" y="0"/>
            <a:ext cx="9144000" cy="507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07" name="Google Shape;407;p31"/>
          <p:cNvSpPr txBox="1"/>
          <p:nvPr/>
        </p:nvSpPr>
        <p:spPr>
          <a:xfrm>
            <a:off x="0" y="0"/>
            <a:ext cx="91440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Samples of current problematic possibly resolved by EyeCloud &gt; RxML &amp; DLM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408" name="Google Shape;408;p31"/>
          <p:cNvCxnSpPr>
            <a:stCxn id="409" idx="2"/>
            <a:endCxn id="410" idx="1"/>
          </p:cNvCxnSpPr>
          <p:nvPr/>
        </p:nvCxnSpPr>
        <p:spPr>
          <a:xfrm rot="-5400000">
            <a:off x="1403575" y="1718925"/>
            <a:ext cx="3385800" cy="2461500"/>
          </a:xfrm>
          <a:prstGeom prst="bentConnector4">
            <a:avLst>
              <a:gd name="adj1" fmla="val -7033"/>
              <a:gd name="adj2" fmla="val -60425"/>
            </a:avLst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1" name="Google Shape;411;p31"/>
          <p:cNvSpPr/>
          <p:nvPr/>
        </p:nvSpPr>
        <p:spPr>
          <a:xfrm>
            <a:off x="936175" y="2561400"/>
            <a:ext cx="1859100" cy="630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Walmann, OnSight, 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DVI | Optifacts | VisionStar</a:t>
            </a:r>
            <a:endParaRPr sz="900"/>
          </a:p>
        </p:txBody>
      </p:sp>
      <p:sp>
        <p:nvSpPr>
          <p:cNvPr id="412" name="Google Shape;412;p31"/>
          <p:cNvSpPr/>
          <p:nvPr/>
        </p:nvSpPr>
        <p:spPr>
          <a:xfrm>
            <a:off x="4327350" y="2561400"/>
            <a:ext cx="1323600" cy="6303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DEO</a:t>
            </a:r>
            <a:endParaRPr sz="1200"/>
          </a:p>
        </p:txBody>
      </p:sp>
      <p:sp>
        <p:nvSpPr>
          <p:cNvPr id="413" name="Google Shape;413;p31"/>
          <p:cNvSpPr/>
          <p:nvPr/>
        </p:nvSpPr>
        <p:spPr>
          <a:xfrm>
            <a:off x="7283450" y="2561400"/>
            <a:ext cx="1323600" cy="630300"/>
          </a:xfrm>
          <a:prstGeom prst="roundRect">
            <a:avLst>
              <a:gd name="adj" fmla="val 16667"/>
            </a:avLst>
          </a:prstGeom>
          <a:solidFill>
            <a:srgbClr val="76A5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FFFFFF"/>
                </a:solidFill>
              </a:rPr>
              <a:t>Saturn 2.0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414" name="Google Shape;414;p31"/>
          <p:cNvCxnSpPr>
            <a:stCxn id="411" idx="3"/>
            <a:endCxn id="412" idx="1"/>
          </p:cNvCxnSpPr>
          <p:nvPr/>
        </p:nvCxnSpPr>
        <p:spPr>
          <a:xfrm>
            <a:off x="2795275" y="2876550"/>
            <a:ext cx="1532100" cy="0"/>
          </a:xfrm>
          <a:prstGeom prst="straightConnector1">
            <a:avLst/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5" name="Google Shape;415;p31"/>
          <p:cNvSpPr txBox="1"/>
          <p:nvPr/>
        </p:nvSpPr>
        <p:spPr>
          <a:xfrm>
            <a:off x="3126388" y="2437950"/>
            <a:ext cx="869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RxML In</a:t>
            </a:r>
            <a:endParaRPr sz="1000"/>
          </a:p>
        </p:txBody>
      </p:sp>
      <p:sp>
        <p:nvSpPr>
          <p:cNvPr id="416" name="Google Shape;416;p31"/>
          <p:cNvSpPr txBox="1"/>
          <p:nvPr/>
        </p:nvSpPr>
        <p:spPr>
          <a:xfrm>
            <a:off x="6021988" y="2437950"/>
            <a:ext cx="869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RxML In</a:t>
            </a:r>
            <a:endParaRPr sz="1000"/>
          </a:p>
        </p:txBody>
      </p:sp>
      <p:cxnSp>
        <p:nvCxnSpPr>
          <p:cNvPr id="417" name="Google Shape;417;p31"/>
          <p:cNvCxnSpPr>
            <a:stCxn id="412" idx="3"/>
            <a:endCxn id="413" idx="1"/>
          </p:cNvCxnSpPr>
          <p:nvPr/>
        </p:nvCxnSpPr>
        <p:spPr>
          <a:xfrm>
            <a:off x="5650950" y="2876550"/>
            <a:ext cx="1632600" cy="0"/>
          </a:xfrm>
          <a:prstGeom prst="straightConnector1">
            <a:avLst/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8" name="Google Shape;418;p31"/>
          <p:cNvSpPr/>
          <p:nvPr/>
        </p:nvSpPr>
        <p:spPr>
          <a:xfrm>
            <a:off x="5689675" y="2915200"/>
            <a:ext cx="1575850" cy="454100"/>
          </a:xfrm>
          <a:custGeom>
            <a:avLst/>
            <a:gdLst/>
            <a:ahLst/>
            <a:cxnLst/>
            <a:rect l="l" t="t" r="r" b="b"/>
            <a:pathLst>
              <a:path w="63034" h="18164" extrusionOk="0">
                <a:moveTo>
                  <a:pt x="63034" y="504"/>
                </a:moveTo>
                <a:cubicBezTo>
                  <a:pt x="57067" y="3446"/>
                  <a:pt x="37737" y="18237"/>
                  <a:pt x="27231" y="18153"/>
                </a:cubicBezTo>
                <a:cubicBezTo>
                  <a:pt x="16725" y="18069"/>
                  <a:pt x="4539" y="3026"/>
                  <a:pt x="0" y="0"/>
                </a:cubicBezTo>
              </a:path>
            </a:pathLst>
          </a:cu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19" name="Google Shape;419;p31"/>
          <p:cNvSpPr/>
          <p:nvPr/>
        </p:nvSpPr>
        <p:spPr>
          <a:xfrm>
            <a:off x="2795125" y="2966750"/>
            <a:ext cx="1575850" cy="454100"/>
          </a:xfrm>
          <a:custGeom>
            <a:avLst/>
            <a:gdLst/>
            <a:ahLst/>
            <a:cxnLst/>
            <a:rect l="l" t="t" r="r" b="b"/>
            <a:pathLst>
              <a:path w="63034" h="18164" extrusionOk="0">
                <a:moveTo>
                  <a:pt x="63034" y="504"/>
                </a:moveTo>
                <a:cubicBezTo>
                  <a:pt x="57067" y="3446"/>
                  <a:pt x="37737" y="18237"/>
                  <a:pt x="27231" y="18153"/>
                </a:cubicBezTo>
                <a:cubicBezTo>
                  <a:pt x="16725" y="18069"/>
                  <a:pt x="4539" y="3026"/>
                  <a:pt x="0" y="0"/>
                </a:cubicBezTo>
              </a:path>
            </a:pathLst>
          </a:cu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20" name="Google Shape;420;p31"/>
          <p:cNvSpPr txBox="1"/>
          <p:nvPr/>
        </p:nvSpPr>
        <p:spPr>
          <a:xfrm>
            <a:off x="3029700" y="3352350"/>
            <a:ext cx="1222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RxML Out with _LDPATH for DLM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(URL+ID)</a:t>
            </a:r>
            <a:endParaRPr sz="1000"/>
          </a:p>
        </p:txBody>
      </p:sp>
      <p:sp>
        <p:nvSpPr>
          <p:cNvPr id="421" name="Google Shape;421;p31"/>
          <p:cNvSpPr txBox="1"/>
          <p:nvPr/>
        </p:nvSpPr>
        <p:spPr>
          <a:xfrm>
            <a:off x="6021988" y="3352350"/>
            <a:ext cx="869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RxML Out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including DLM</a:t>
            </a:r>
            <a:endParaRPr sz="1000"/>
          </a:p>
        </p:txBody>
      </p:sp>
      <p:pic>
        <p:nvPicPr>
          <p:cNvPr id="410" name="Google Shape;41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7347" y="862603"/>
            <a:ext cx="1323600" cy="788241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1"/>
          <p:cNvSpPr/>
          <p:nvPr/>
        </p:nvSpPr>
        <p:spPr>
          <a:xfrm>
            <a:off x="3260700" y="2186400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1</a:t>
            </a:r>
            <a:endParaRPr sz="1000"/>
          </a:p>
        </p:txBody>
      </p:sp>
      <p:sp>
        <p:nvSpPr>
          <p:cNvPr id="423" name="Google Shape;423;p31"/>
          <p:cNvSpPr/>
          <p:nvPr/>
        </p:nvSpPr>
        <p:spPr>
          <a:xfrm>
            <a:off x="6232500" y="2186400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2</a:t>
            </a:r>
            <a:endParaRPr sz="1000"/>
          </a:p>
        </p:txBody>
      </p:sp>
      <p:sp>
        <p:nvSpPr>
          <p:cNvPr id="424" name="Google Shape;424;p31"/>
          <p:cNvSpPr/>
          <p:nvPr/>
        </p:nvSpPr>
        <p:spPr>
          <a:xfrm>
            <a:off x="6232500" y="3786600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3</a:t>
            </a:r>
            <a:endParaRPr sz="1000"/>
          </a:p>
        </p:txBody>
      </p:sp>
      <p:cxnSp>
        <p:nvCxnSpPr>
          <p:cNvPr id="425" name="Google Shape;425;p31"/>
          <p:cNvCxnSpPr>
            <a:endCxn id="410" idx="2"/>
          </p:cNvCxnSpPr>
          <p:nvPr/>
        </p:nvCxnSpPr>
        <p:spPr>
          <a:xfrm rot="10800000">
            <a:off x="4989147" y="1650844"/>
            <a:ext cx="0" cy="910500"/>
          </a:xfrm>
          <a:prstGeom prst="straightConnector1">
            <a:avLst/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" name="Google Shape;426;p31"/>
          <p:cNvCxnSpPr/>
          <p:nvPr/>
        </p:nvCxnSpPr>
        <p:spPr>
          <a:xfrm rot="10800000">
            <a:off x="5141547" y="1650844"/>
            <a:ext cx="0" cy="910500"/>
          </a:xfrm>
          <a:prstGeom prst="straightConnector1">
            <a:avLst/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7" name="Google Shape;427;p31"/>
          <p:cNvCxnSpPr/>
          <p:nvPr/>
        </p:nvCxnSpPr>
        <p:spPr>
          <a:xfrm rot="10800000">
            <a:off x="4836747" y="1650844"/>
            <a:ext cx="0" cy="910500"/>
          </a:xfrm>
          <a:prstGeom prst="straightConnector1">
            <a:avLst/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28" name="Google Shape;428;p31"/>
          <p:cNvSpPr/>
          <p:nvPr/>
        </p:nvSpPr>
        <p:spPr>
          <a:xfrm>
            <a:off x="4760900" y="1918625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4</a:t>
            </a:r>
            <a:endParaRPr sz="1000"/>
          </a:p>
        </p:txBody>
      </p:sp>
      <p:sp>
        <p:nvSpPr>
          <p:cNvPr id="429" name="Google Shape;429;p31"/>
          <p:cNvSpPr txBox="1"/>
          <p:nvPr/>
        </p:nvSpPr>
        <p:spPr>
          <a:xfrm>
            <a:off x="3922353" y="1491950"/>
            <a:ext cx="1075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ECID → DLM</a:t>
            </a:r>
            <a:endParaRPr sz="1000"/>
          </a:p>
        </p:txBody>
      </p:sp>
      <p:sp>
        <p:nvSpPr>
          <p:cNvPr id="409" name="Google Shape;409;p31"/>
          <p:cNvSpPr/>
          <p:nvPr/>
        </p:nvSpPr>
        <p:spPr>
          <a:xfrm>
            <a:off x="1203925" y="4012275"/>
            <a:ext cx="1323600" cy="630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A&amp;R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LensMapper</a:t>
            </a:r>
            <a:endParaRPr sz="1200"/>
          </a:p>
        </p:txBody>
      </p:sp>
      <p:cxnSp>
        <p:nvCxnSpPr>
          <p:cNvPr id="430" name="Google Shape;430;p31"/>
          <p:cNvCxnSpPr>
            <a:stCxn id="411" idx="2"/>
            <a:endCxn id="409" idx="0"/>
          </p:cNvCxnSpPr>
          <p:nvPr/>
        </p:nvCxnSpPr>
        <p:spPr>
          <a:xfrm>
            <a:off x="1865725" y="3191700"/>
            <a:ext cx="0" cy="820500"/>
          </a:xfrm>
          <a:prstGeom prst="straightConnector1">
            <a:avLst/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1" name="Google Shape;431;p31"/>
          <p:cNvSpPr/>
          <p:nvPr/>
        </p:nvSpPr>
        <p:spPr>
          <a:xfrm>
            <a:off x="1675100" y="3414488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5</a:t>
            </a:r>
            <a:endParaRPr sz="1000"/>
          </a:p>
        </p:txBody>
      </p:sp>
      <p:sp>
        <p:nvSpPr>
          <p:cNvPr id="432" name="Google Shape;432;p31"/>
          <p:cNvSpPr txBox="1"/>
          <p:nvPr/>
        </p:nvSpPr>
        <p:spPr>
          <a:xfrm>
            <a:off x="1962900" y="3352350"/>
            <a:ext cx="1075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... _LDPATH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     _SFMODE</a:t>
            </a:r>
            <a:endParaRPr sz="1000"/>
          </a:p>
        </p:txBody>
      </p:sp>
      <p:sp>
        <p:nvSpPr>
          <p:cNvPr id="433" name="Google Shape;433;p31"/>
          <p:cNvSpPr/>
          <p:nvPr/>
        </p:nvSpPr>
        <p:spPr>
          <a:xfrm>
            <a:off x="4608500" y="2555600"/>
            <a:ext cx="777300" cy="201000"/>
          </a:xfrm>
          <a:prstGeom prst="roundRect">
            <a:avLst>
              <a:gd name="adj" fmla="val 0"/>
            </a:avLst>
          </a:prstGeom>
          <a:solidFill>
            <a:srgbClr val="EBCA9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DEO MQ</a:t>
            </a:r>
            <a:endParaRPr sz="800"/>
          </a:p>
        </p:txBody>
      </p:sp>
      <p:sp>
        <p:nvSpPr>
          <p:cNvPr id="434" name="Google Shape;434;p31"/>
          <p:cNvSpPr/>
          <p:nvPr/>
        </p:nvSpPr>
        <p:spPr>
          <a:xfrm>
            <a:off x="4500800" y="4546250"/>
            <a:ext cx="945600" cy="630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External labs</a:t>
            </a:r>
            <a:endParaRPr sz="900"/>
          </a:p>
        </p:txBody>
      </p:sp>
      <p:sp>
        <p:nvSpPr>
          <p:cNvPr id="435" name="Google Shape;435;p31"/>
          <p:cNvSpPr/>
          <p:nvPr/>
        </p:nvSpPr>
        <p:spPr>
          <a:xfrm>
            <a:off x="7485525" y="4546250"/>
            <a:ext cx="945600" cy="630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Internal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labs</a:t>
            </a:r>
            <a:endParaRPr sz="900"/>
          </a:p>
        </p:txBody>
      </p:sp>
      <p:cxnSp>
        <p:nvCxnSpPr>
          <p:cNvPr id="436" name="Google Shape;436;p31"/>
          <p:cNvCxnSpPr>
            <a:stCxn id="434" idx="0"/>
            <a:endCxn id="412" idx="2"/>
          </p:cNvCxnSpPr>
          <p:nvPr/>
        </p:nvCxnSpPr>
        <p:spPr>
          <a:xfrm rot="10800000" flipH="1">
            <a:off x="4973600" y="3191750"/>
            <a:ext cx="15600" cy="1354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7" name="Google Shape;437;p31"/>
          <p:cNvSpPr txBox="1"/>
          <p:nvPr/>
        </p:nvSpPr>
        <p:spPr>
          <a:xfrm>
            <a:off x="4574188" y="3733350"/>
            <a:ext cx="869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RxML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In / out</a:t>
            </a:r>
            <a:endParaRPr sz="1000"/>
          </a:p>
        </p:txBody>
      </p:sp>
      <p:cxnSp>
        <p:nvCxnSpPr>
          <p:cNvPr id="438" name="Google Shape;438;p31"/>
          <p:cNvCxnSpPr>
            <a:stCxn id="433" idx="3"/>
            <a:endCxn id="410" idx="3"/>
          </p:cNvCxnSpPr>
          <p:nvPr/>
        </p:nvCxnSpPr>
        <p:spPr>
          <a:xfrm rot="10800000" flipH="1">
            <a:off x="5385800" y="1256600"/>
            <a:ext cx="265200" cy="1399500"/>
          </a:xfrm>
          <a:prstGeom prst="bentConnector3">
            <a:avLst>
              <a:gd name="adj1" fmla="val 189771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9" name="Google Shape;439;p31"/>
          <p:cNvCxnSpPr>
            <a:stCxn id="435" idx="0"/>
            <a:endCxn id="413" idx="2"/>
          </p:cNvCxnSpPr>
          <p:nvPr/>
        </p:nvCxnSpPr>
        <p:spPr>
          <a:xfrm rot="10800000">
            <a:off x="7945125" y="3191750"/>
            <a:ext cx="13200" cy="13545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0" name="Google Shape;440;p31"/>
          <p:cNvSpPr txBox="1"/>
          <p:nvPr/>
        </p:nvSpPr>
        <p:spPr>
          <a:xfrm>
            <a:off x="7545988" y="3733350"/>
            <a:ext cx="869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RxML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In / out</a:t>
            </a:r>
            <a:endParaRPr sz="1000"/>
          </a:p>
        </p:txBody>
      </p:sp>
      <p:sp>
        <p:nvSpPr>
          <p:cNvPr id="441" name="Google Shape;441;p31"/>
          <p:cNvSpPr/>
          <p:nvPr/>
        </p:nvSpPr>
        <p:spPr>
          <a:xfrm>
            <a:off x="4403700" y="3786600"/>
            <a:ext cx="424500" cy="375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FFFFFF"/>
                </a:solidFill>
              </a:rPr>
              <a:t>1</a:t>
            </a:r>
            <a:endParaRPr sz="90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FFFFFF"/>
                </a:solidFill>
              </a:rPr>
              <a:t>3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442" name="Google Shape;442;p31"/>
          <p:cNvSpPr/>
          <p:nvPr/>
        </p:nvSpPr>
        <p:spPr>
          <a:xfrm>
            <a:off x="7375500" y="3786600"/>
            <a:ext cx="424500" cy="375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FFFFFF"/>
                </a:solidFill>
              </a:rPr>
              <a:t>1</a:t>
            </a:r>
            <a:endParaRPr sz="90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FFFFFF"/>
                </a:solidFill>
              </a:rPr>
              <a:t>3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443" name="Google Shape;443;p31"/>
          <p:cNvSpPr/>
          <p:nvPr/>
        </p:nvSpPr>
        <p:spPr>
          <a:xfrm>
            <a:off x="5699100" y="1805400"/>
            <a:ext cx="424500" cy="375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FFFFFF"/>
                </a:solidFill>
              </a:rPr>
              <a:t>2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6612700" y="545375"/>
            <a:ext cx="985750" cy="391750"/>
          </a:xfrm>
          <a:prstGeom prst="flowChartMagneticDisk">
            <a:avLst/>
          </a:prstGeom>
          <a:solidFill>
            <a:srgbClr val="BF9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rgbClr val="FFFFFF"/>
                </a:solidFill>
              </a:rPr>
              <a:t>Datalake</a:t>
            </a:r>
            <a:endParaRPr sz="1000">
              <a:solidFill>
                <a:srgbClr val="FFFFFF"/>
              </a:solidFill>
            </a:endParaRPr>
          </a:p>
        </p:txBody>
      </p:sp>
      <p:cxnSp>
        <p:nvCxnSpPr>
          <p:cNvPr id="445" name="Google Shape;445;p31"/>
          <p:cNvCxnSpPr>
            <a:stCxn id="410" idx="0"/>
            <a:endCxn id="444" idx="2"/>
          </p:cNvCxnSpPr>
          <p:nvPr/>
        </p:nvCxnSpPr>
        <p:spPr>
          <a:xfrm rot="-5400000">
            <a:off x="5740197" y="-9947"/>
            <a:ext cx="121500" cy="1623600"/>
          </a:xfrm>
          <a:prstGeom prst="bentConnector2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6" name="Google Shape;446;p31"/>
          <p:cNvSpPr txBox="1"/>
          <p:nvPr/>
        </p:nvSpPr>
        <p:spPr>
          <a:xfrm>
            <a:off x="5564788" y="380550"/>
            <a:ext cx="869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rgbClr val="FFFFFF"/>
                </a:solidFill>
              </a:rPr>
              <a:t>RxML out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151100" y="2728688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6</a:t>
            </a:r>
            <a:endParaRPr sz="1000"/>
          </a:p>
        </p:txBody>
      </p:sp>
      <p:sp>
        <p:nvSpPr>
          <p:cNvPr id="448" name="Google Shape;448;p31"/>
          <p:cNvSpPr/>
          <p:nvPr/>
        </p:nvSpPr>
        <p:spPr>
          <a:xfrm>
            <a:off x="1264675" y="2395550"/>
            <a:ext cx="1323600" cy="29520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rgbClr val="FFFFFF"/>
                </a:solidFill>
              </a:rPr>
              <a:t>External labs</a:t>
            </a:r>
            <a:endParaRPr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2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17</a:t>
            </a:fld>
            <a:endParaRPr/>
          </a:p>
        </p:txBody>
      </p:sp>
      <p:sp>
        <p:nvSpPr>
          <p:cNvPr id="455" name="Google Shape;455;p32"/>
          <p:cNvSpPr/>
          <p:nvPr/>
        </p:nvSpPr>
        <p:spPr>
          <a:xfrm>
            <a:off x="0" y="0"/>
            <a:ext cx="9144000" cy="507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56" name="Google Shape;456;p32"/>
          <p:cNvSpPr txBox="1"/>
          <p:nvPr/>
        </p:nvSpPr>
        <p:spPr>
          <a:xfrm>
            <a:off x="0" y="0"/>
            <a:ext cx="91440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Samples of current problematic possibly resolved by EyeCloud &gt; RxML &amp; DLM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457" name="Google Shape;457;p32"/>
          <p:cNvCxnSpPr>
            <a:stCxn id="458" idx="2"/>
            <a:endCxn id="459" idx="1"/>
          </p:cNvCxnSpPr>
          <p:nvPr/>
        </p:nvCxnSpPr>
        <p:spPr>
          <a:xfrm rot="-5400000">
            <a:off x="1403575" y="1718925"/>
            <a:ext cx="3385800" cy="2461500"/>
          </a:xfrm>
          <a:prstGeom prst="bentConnector4">
            <a:avLst>
              <a:gd name="adj1" fmla="val -7033"/>
              <a:gd name="adj2" fmla="val -60425"/>
            </a:avLst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60" name="Google Shape;460;p32"/>
          <p:cNvSpPr/>
          <p:nvPr/>
        </p:nvSpPr>
        <p:spPr>
          <a:xfrm>
            <a:off x="936175" y="2561400"/>
            <a:ext cx="1859100" cy="630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Walmann, OnSight, 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DVI | Optifacts | VisionStar</a:t>
            </a:r>
            <a:endParaRPr sz="900"/>
          </a:p>
        </p:txBody>
      </p:sp>
      <p:sp>
        <p:nvSpPr>
          <p:cNvPr id="461" name="Google Shape;461;p32"/>
          <p:cNvSpPr/>
          <p:nvPr/>
        </p:nvSpPr>
        <p:spPr>
          <a:xfrm>
            <a:off x="4327350" y="2561400"/>
            <a:ext cx="1323600" cy="6303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DEO</a:t>
            </a:r>
            <a:endParaRPr sz="1200"/>
          </a:p>
        </p:txBody>
      </p:sp>
      <p:sp>
        <p:nvSpPr>
          <p:cNvPr id="462" name="Google Shape;462;p32"/>
          <p:cNvSpPr/>
          <p:nvPr/>
        </p:nvSpPr>
        <p:spPr>
          <a:xfrm>
            <a:off x="7283450" y="2561400"/>
            <a:ext cx="1323600" cy="630300"/>
          </a:xfrm>
          <a:prstGeom prst="roundRect">
            <a:avLst>
              <a:gd name="adj" fmla="val 16667"/>
            </a:avLst>
          </a:prstGeom>
          <a:solidFill>
            <a:srgbClr val="76A5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FFFFFF"/>
                </a:solidFill>
              </a:rPr>
              <a:t>Saturn 2.0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463" name="Google Shape;463;p32"/>
          <p:cNvCxnSpPr>
            <a:stCxn id="460" idx="3"/>
            <a:endCxn id="461" idx="1"/>
          </p:cNvCxnSpPr>
          <p:nvPr/>
        </p:nvCxnSpPr>
        <p:spPr>
          <a:xfrm>
            <a:off x="2795275" y="2876550"/>
            <a:ext cx="1532100" cy="0"/>
          </a:xfrm>
          <a:prstGeom prst="straightConnector1">
            <a:avLst/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4" name="Google Shape;464;p32"/>
          <p:cNvSpPr txBox="1"/>
          <p:nvPr/>
        </p:nvSpPr>
        <p:spPr>
          <a:xfrm>
            <a:off x="3126388" y="2437950"/>
            <a:ext cx="869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RxML In</a:t>
            </a:r>
            <a:endParaRPr sz="1000"/>
          </a:p>
        </p:txBody>
      </p:sp>
      <p:sp>
        <p:nvSpPr>
          <p:cNvPr id="465" name="Google Shape;465;p32"/>
          <p:cNvSpPr txBox="1"/>
          <p:nvPr/>
        </p:nvSpPr>
        <p:spPr>
          <a:xfrm>
            <a:off x="6021988" y="2437950"/>
            <a:ext cx="869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RxML In</a:t>
            </a:r>
            <a:endParaRPr sz="1000"/>
          </a:p>
        </p:txBody>
      </p:sp>
      <p:cxnSp>
        <p:nvCxnSpPr>
          <p:cNvPr id="466" name="Google Shape;466;p32"/>
          <p:cNvCxnSpPr>
            <a:stCxn id="461" idx="3"/>
            <a:endCxn id="462" idx="1"/>
          </p:cNvCxnSpPr>
          <p:nvPr/>
        </p:nvCxnSpPr>
        <p:spPr>
          <a:xfrm>
            <a:off x="5650950" y="2876550"/>
            <a:ext cx="1632600" cy="0"/>
          </a:xfrm>
          <a:prstGeom prst="straightConnector1">
            <a:avLst/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7" name="Google Shape;467;p32"/>
          <p:cNvSpPr/>
          <p:nvPr/>
        </p:nvSpPr>
        <p:spPr>
          <a:xfrm>
            <a:off x="5689675" y="2915200"/>
            <a:ext cx="1575850" cy="454100"/>
          </a:xfrm>
          <a:custGeom>
            <a:avLst/>
            <a:gdLst/>
            <a:ahLst/>
            <a:cxnLst/>
            <a:rect l="l" t="t" r="r" b="b"/>
            <a:pathLst>
              <a:path w="63034" h="18164" extrusionOk="0">
                <a:moveTo>
                  <a:pt x="63034" y="504"/>
                </a:moveTo>
                <a:cubicBezTo>
                  <a:pt x="57067" y="3446"/>
                  <a:pt x="37737" y="18237"/>
                  <a:pt x="27231" y="18153"/>
                </a:cubicBezTo>
                <a:cubicBezTo>
                  <a:pt x="16725" y="18069"/>
                  <a:pt x="4539" y="3026"/>
                  <a:pt x="0" y="0"/>
                </a:cubicBezTo>
              </a:path>
            </a:pathLst>
          </a:cu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68" name="Google Shape;468;p32"/>
          <p:cNvSpPr/>
          <p:nvPr/>
        </p:nvSpPr>
        <p:spPr>
          <a:xfrm>
            <a:off x="2795125" y="2966750"/>
            <a:ext cx="1575850" cy="454100"/>
          </a:xfrm>
          <a:custGeom>
            <a:avLst/>
            <a:gdLst/>
            <a:ahLst/>
            <a:cxnLst/>
            <a:rect l="l" t="t" r="r" b="b"/>
            <a:pathLst>
              <a:path w="63034" h="18164" extrusionOk="0">
                <a:moveTo>
                  <a:pt x="63034" y="504"/>
                </a:moveTo>
                <a:cubicBezTo>
                  <a:pt x="57067" y="3446"/>
                  <a:pt x="37737" y="18237"/>
                  <a:pt x="27231" y="18153"/>
                </a:cubicBezTo>
                <a:cubicBezTo>
                  <a:pt x="16725" y="18069"/>
                  <a:pt x="4539" y="3026"/>
                  <a:pt x="0" y="0"/>
                </a:cubicBezTo>
              </a:path>
            </a:pathLst>
          </a:cu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69" name="Google Shape;469;p32"/>
          <p:cNvSpPr txBox="1"/>
          <p:nvPr/>
        </p:nvSpPr>
        <p:spPr>
          <a:xfrm>
            <a:off x="2648700" y="3504750"/>
            <a:ext cx="1705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RxML Out with </a:t>
            </a:r>
            <a:r>
              <a:rPr lang="fr-FR" sz="1000" b="1">
                <a:solidFill>
                  <a:srgbClr val="CC0000"/>
                </a:solidFill>
              </a:rPr>
              <a:t>LDPATH</a:t>
            </a:r>
            <a:r>
              <a:rPr lang="fr-FR" sz="1000"/>
              <a:t>+</a:t>
            </a:r>
            <a:r>
              <a:rPr lang="fr-FR" sz="1000">
                <a:solidFill>
                  <a:srgbClr val="BF9000"/>
                </a:solidFill>
              </a:rPr>
              <a:t>SFMODE</a:t>
            </a:r>
            <a:r>
              <a:rPr lang="fr-FR" sz="1000"/>
              <a:t> for DLM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(</a:t>
            </a:r>
            <a:r>
              <a:rPr lang="fr-FR" sz="1000" b="1">
                <a:solidFill>
                  <a:srgbClr val="CC0000"/>
                </a:solidFill>
              </a:rPr>
              <a:t>ID</a:t>
            </a:r>
            <a:r>
              <a:rPr lang="fr-FR" sz="1000"/>
              <a:t>+</a:t>
            </a:r>
            <a:r>
              <a:rPr lang="fr-FR" sz="1000">
                <a:solidFill>
                  <a:srgbClr val="BF9000"/>
                </a:solidFill>
              </a:rPr>
              <a:t>URL</a:t>
            </a:r>
            <a:r>
              <a:rPr lang="fr-FR" sz="1000"/>
              <a:t>)</a:t>
            </a:r>
            <a:endParaRPr sz="1000"/>
          </a:p>
        </p:txBody>
      </p:sp>
      <p:sp>
        <p:nvSpPr>
          <p:cNvPr id="470" name="Google Shape;470;p32"/>
          <p:cNvSpPr txBox="1"/>
          <p:nvPr/>
        </p:nvSpPr>
        <p:spPr>
          <a:xfrm>
            <a:off x="6021988" y="3352350"/>
            <a:ext cx="869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RxML Out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including DLM</a:t>
            </a:r>
            <a:endParaRPr sz="1000"/>
          </a:p>
        </p:txBody>
      </p:sp>
      <p:pic>
        <p:nvPicPr>
          <p:cNvPr id="459" name="Google Shape;45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7347" y="862603"/>
            <a:ext cx="1323600" cy="788241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2"/>
          <p:cNvSpPr/>
          <p:nvPr/>
        </p:nvSpPr>
        <p:spPr>
          <a:xfrm>
            <a:off x="3260700" y="2186400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1</a:t>
            </a:r>
            <a:endParaRPr sz="1000"/>
          </a:p>
        </p:txBody>
      </p:sp>
      <p:sp>
        <p:nvSpPr>
          <p:cNvPr id="472" name="Google Shape;472;p32"/>
          <p:cNvSpPr/>
          <p:nvPr/>
        </p:nvSpPr>
        <p:spPr>
          <a:xfrm>
            <a:off x="6232500" y="2186400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2</a:t>
            </a:r>
            <a:endParaRPr sz="1000"/>
          </a:p>
        </p:txBody>
      </p:sp>
      <p:sp>
        <p:nvSpPr>
          <p:cNvPr id="473" name="Google Shape;473;p32"/>
          <p:cNvSpPr/>
          <p:nvPr/>
        </p:nvSpPr>
        <p:spPr>
          <a:xfrm>
            <a:off x="6232500" y="3786600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3</a:t>
            </a:r>
            <a:endParaRPr sz="1000"/>
          </a:p>
        </p:txBody>
      </p:sp>
      <p:cxnSp>
        <p:nvCxnSpPr>
          <p:cNvPr id="474" name="Google Shape;474;p32"/>
          <p:cNvCxnSpPr/>
          <p:nvPr/>
        </p:nvCxnSpPr>
        <p:spPr>
          <a:xfrm rot="10800000">
            <a:off x="5141547" y="1650844"/>
            <a:ext cx="0" cy="910500"/>
          </a:xfrm>
          <a:prstGeom prst="straightConnector1">
            <a:avLst/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5" name="Google Shape;475;p32"/>
          <p:cNvCxnSpPr/>
          <p:nvPr/>
        </p:nvCxnSpPr>
        <p:spPr>
          <a:xfrm rot="10800000">
            <a:off x="4836747" y="1650844"/>
            <a:ext cx="0" cy="910500"/>
          </a:xfrm>
          <a:prstGeom prst="straightConnector1">
            <a:avLst/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76" name="Google Shape;476;p32"/>
          <p:cNvSpPr/>
          <p:nvPr/>
        </p:nvSpPr>
        <p:spPr>
          <a:xfrm>
            <a:off x="4760900" y="1918625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4</a:t>
            </a:r>
            <a:endParaRPr sz="1000"/>
          </a:p>
        </p:txBody>
      </p:sp>
      <p:sp>
        <p:nvSpPr>
          <p:cNvPr id="477" name="Google Shape;477;p32"/>
          <p:cNvSpPr txBox="1"/>
          <p:nvPr/>
        </p:nvSpPr>
        <p:spPr>
          <a:xfrm>
            <a:off x="5217753" y="1644350"/>
            <a:ext cx="1075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ECID → DLM</a:t>
            </a:r>
            <a:endParaRPr sz="1000"/>
          </a:p>
        </p:txBody>
      </p:sp>
      <p:sp>
        <p:nvSpPr>
          <p:cNvPr id="458" name="Google Shape;458;p32"/>
          <p:cNvSpPr/>
          <p:nvPr/>
        </p:nvSpPr>
        <p:spPr>
          <a:xfrm>
            <a:off x="1203925" y="4012275"/>
            <a:ext cx="1323600" cy="630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A&amp;R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LensMapper</a:t>
            </a:r>
            <a:endParaRPr sz="1200"/>
          </a:p>
        </p:txBody>
      </p:sp>
      <p:cxnSp>
        <p:nvCxnSpPr>
          <p:cNvPr id="478" name="Google Shape;478;p32"/>
          <p:cNvCxnSpPr>
            <a:stCxn id="460" idx="2"/>
            <a:endCxn id="458" idx="0"/>
          </p:cNvCxnSpPr>
          <p:nvPr/>
        </p:nvCxnSpPr>
        <p:spPr>
          <a:xfrm>
            <a:off x="1865725" y="3191700"/>
            <a:ext cx="0" cy="820500"/>
          </a:xfrm>
          <a:prstGeom prst="straightConnector1">
            <a:avLst/>
          </a:prstGeom>
          <a:noFill/>
          <a:ln w="19050" cap="flat" cmpd="sng">
            <a:solidFill>
              <a:srgbClr val="003F8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9" name="Google Shape;479;p32"/>
          <p:cNvSpPr/>
          <p:nvPr/>
        </p:nvSpPr>
        <p:spPr>
          <a:xfrm>
            <a:off x="1675100" y="3414488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6</a:t>
            </a:r>
            <a:endParaRPr sz="1000"/>
          </a:p>
        </p:txBody>
      </p:sp>
      <p:sp>
        <p:nvSpPr>
          <p:cNvPr id="480" name="Google Shape;480;p32"/>
          <p:cNvSpPr txBox="1"/>
          <p:nvPr/>
        </p:nvSpPr>
        <p:spPr>
          <a:xfrm>
            <a:off x="819900" y="3428550"/>
            <a:ext cx="1075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rgbClr val="CC0000"/>
                </a:solidFill>
              </a:rPr>
              <a:t>LDPATH</a:t>
            </a:r>
            <a:endParaRPr sz="1000" b="1">
              <a:solidFill>
                <a:srgbClr val="CC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rgbClr val="BF9000"/>
                </a:solidFill>
              </a:rPr>
              <a:t>SFMODE</a:t>
            </a:r>
            <a:endParaRPr sz="1000" b="1">
              <a:solidFill>
                <a:srgbClr val="BF9000"/>
              </a:solidFill>
            </a:endParaRPr>
          </a:p>
        </p:txBody>
      </p:sp>
      <p:sp>
        <p:nvSpPr>
          <p:cNvPr id="481" name="Google Shape;481;p32"/>
          <p:cNvSpPr/>
          <p:nvPr/>
        </p:nvSpPr>
        <p:spPr>
          <a:xfrm>
            <a:off x="4608500" y="2555600"/>
            <a:ext cx="777300" cy="201000"/>
          </a:xfrm>
          <a:prstGeom prst="roundRect">
            <a:avLst>
              <a:gd name="adj" fmla="val 0"/>
            </a:avLst>
          </a:prstGeom>
          <a:solidFill>
            <a:srgbClr val="EBCA9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DEO MQ</a:t>
            </a:r>
            <a:endParaRPr sz="800"/>
          </a:p>
        </p:txBody>
      </p:sp>
      <p:sp>
        <p:nvSpPr>
          <p:cNvPr id="482" name="Google Shape;482;p32"/>
          <p:cNvSpPr/>
          <p:nvPr/>
        </p:nvSpPr>
        <p:spPr>
          <a:xfrm>
            <a:off x="151100" y="2728688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7</a:t>
            </a:r>
            <a:endParaRPr sz="1000"/>
          </a:p>
        </p:txBody>
      </p:sp>
      <p:sp>
        <p:nvSpPr>
          <p:cNvPr id="483" name="Google Shape;483;p32"/>
          <p:cNvSpPr/>
          <p:nvPr/>
        </p:nvSpPr>
        <p:spPr>
          <a:xfrm>
            <a:off x="1264675" y="2395550"/>
            <a:ext cx="1323600" cy="29520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rgbClr val="FFFFFF"/>
                </a:solidFill>
              </a:rPr>
              <a:t>External labs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3260700" y="4015200"/>
            <a:ext cx="424500" cy="3750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5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3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  <p:sp>
        <p:nvSpPr>
          <p:cNvPr id="491" name="Google Shape;491;p33"/>
          <p:cNvSpPr txBox="1"/>
          <p:nvPr/>
        </p:nvSpPr>
        <p:spPr>
          <a:xfrm>
            <a:off x="3021450" y="2371650"/>
            <a:ext cx="310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Sample 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  <p:sp>
        <p:nvSpPr>
          <p:cNvPr id="498" name="Google Shape;498;p34"/>
          <p:cNvSpPr/>
          <p:nvPr/>
        </p:nvSpPr>
        <p:spPr>
          <a:xfrm>
            <a:off x="0" y="0"/>
            <a:ext cx="9144000" cy="507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99" name="Google Shape;499;p34"/>
          <p:cNvSpPr txBox="1"/>
          <p:nvPr/>
        </p:nvSpPr>
        <p:spPr>
          <a:xfrm>
            <a:off x="0" y="0"/>
            <a:ext cx="91440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Samples of current problematic possibly resolved by EyeCloud &gt; Shape files 1/2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500" name="Google Shape;500;p34"/>
          <p:cNvSpPr/>
          <p:nvPr/>
        </p:nvSpPr>
        <p:spPr>
          <a:xfrm>
            <a:off x="5149700" y="2046675"/>
            <a:ext cx="1587000" cy="1458900"/>
          </a:xfrm>
          <a:prstGeom prst="ellipse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1" name="Google Shape;50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46563" y="1687075"/>
            <a:ext cx="570375" cy="58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2432" y="2682495"/>
            <a:ext cx="460257" cy="355378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4"/>
          <p:cNvSpPr txBox="1"/>
          <p:nvPr/>
        </p:nvSpPr>
        <p:spPr>
          <a:xfrm>
            <a:off x="7805163" y="2335388"/>
            <a:ext cx="9144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ECP shop</a:t>
            </a:r>
            <a:endParaRPr sz="800"/>
          </a:p>
        </p:txBody>
      </p:sp>
      <p:sp>
        <p:nvSpPr>
          <p:cNvPr id="504" name="Google Shape;504;p34"/>
          <p:cNvSpPr txBox="1"/>
          <p:nvPr/>
        </p:nvSpPr>
        <p:spPr>
          <a:xfrm>
            <a:off x="369150" y="3074725"/>
            <a:ext cx="9144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Opsys Web</a:t>
            </a:r>
            <a:endParaRPr sz="800"/>
          </a:p>
        </p:txBody>
      </p:sp>
      <p:cxnSp>
        <p:nvCxnSpPr>
          <p:cNvPr id="505" name="Google Shape;505;p34"/>
          <p:cNvCxnSpPr>
            <a:stCxn id="502" idx="3"/>
            <a:endCxn id="506" idx="1"/>
          </p:cNvCxnSpPr>
          <p:nvPr/>
        </p:nvCxnSpPr>
        <p:spPr>
          <a:xfrm>
            <a:off x="1132689" y="2860184"/>
            <a:ext cx="1149000" cy="7800"/>
          </a:xfrm>
          <a:prstGeom prst="curvedConnector3">
            <a:avLst>
              <a:gd name="adj1" fmla="val 49994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07" name="Google Shape;50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3900" y="2613425"/>
            <a:ext cx="460275" cy="481519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4"/>
          <p:cNvSpPr txBox="1"/>
          <p:nvPr/>
        </p:nvSpPr>
        <p:spPr>
          <a:xfrm>
            <a:off x="3569550" y="3074725"/>
            <a:ext cx="9144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Orchestra</a:t>
            </a:r>
            <a:endParaRPr sz="800"/>
          </a:p>
        </p:txBody>
      </p:sp>
      <p:sp>
        <p:nvSpPr>
          <p:cNvPr id="506" name="Google Shape;506;p34"/>
          <p:cNvSpPr/>
          <p:nvPr/>
        </p:nvSpPr>
        <p:spPr>
          <a:xfrm>
            <a:off x="2281550" y="2653750"/>
            <a:ext cx="720900" cy="428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Generix</a:t>
            </a:r>
            <a:endParaRPr sz="1000"/>
          </a:p>
        </p:txBody>
      </p:sp>
      <p:sp>
        <p:nvSpPr>
          <p:cNvPr id="509" name="Google Shape;509;p34"/>
          <p:cNvSpPr txBox="1"/>
          <p:nvPr/>
        </p:nvSpPr>
        <p:spPr>
          <a:xfrm>
            <a:off x="7786663" y="3010825"/>
            <a:ext cx="9144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Essibox</a:t>
            </a:r>
            <a:endParaRPr sz="800"/>
          </a:p>
        </p:txBody>
      </p:sp>
      <p:pic>
        <p:nvPicPr>
          <p:cNvPr id="510" name="Google Shape;510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7071" y="2517671"/>
            <a:ext cx="548700" cy="2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4"/>
          <p:cNvSpPr txBox="1"/>
          <p:nvPr/>
        </p:nvSpPr>
        <p:spPr>
          <a:xfrm>
            <a:off x="1360700" y="2068075"/>
            <a:ext cx="6930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RxML including the shape</a:t>
            </a:r>
            <a:endParaRPr sz="800"/>
          </a:p>
        </p:txBody>
      </p:sp>
      <p:pic>
        <p:nvPicPr>
          <p:cNvPr id="512" name="Google Shape;51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4088" y="1908037"/>
            <a:ext cx="570375" cy="58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0350" y="2464887"/>
            <a:ext cx="570375" cy="58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4088" y="3122787"/>
            <a:ext cx="570375" cy="58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6200" y="3122787"/>
            <a:ext cx="570375" cy="58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12775" y="2574875"/>
            <a:ext cx="570375" cy="58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2950" y="1970262"/>
            <a:ext cx="570375" cy="584824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4"/>
          <p:cNvSpPr/>
          <p:nvPr/>
        </p:nvSpPr>
        <p:spPr>
          <a:xfrm rot="-4191964">
            <a:off x="3587485" y="1483623"/>
            <a:ext cx="1587086" cy="1258883"/>
          </a:xfrm>
          <a:prstGeom prst="triangle">
            <a:avLst>
              <a:gd name="adj" fmla="val 5000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9" name="Google Shape;519;p34"/>
          <p:cNvCxnSpPr>
            <a:stCxn id="506" idx="0"/>
            <a:endCxn id="520" idx="1"/>
          </p:cNvCxnSpPr>
          <p:nvPr/>
        </p:nvCxnSpPr>
        <p:spPr>
          <a:xfrm rot="-5400000">
            <a:off x="2528000" y="2002150"/>
            <a:ext cx="765600" cy="537600"/>
          </a:xfrm>
          <a:prstGeom prst="curvedConnector2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1" name="Google Shape;521;p34"/>
          <p:cNvSpPr txBox="1"/>
          <p:nvPr/>
        </p:nvSpPr>
        <p:spPr>
          <a:xfrm>
            <a:off x="2309450" y="2046450"/>
            <a:ext cx="6930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Shape file extracted from RxML</a:t>
            </a:r>
            <a:endParaRPr sz="800"/>
          </a:p>
        </p:txBody>
      </p:sp>
      <p:sp>
        <p:nvSpPr>
          <p:cNvPr id="522" name="Google Shape;522;p34"/>
          <p:cNvSpPr txBox="1"/>
          <p:nvPr/>
        </p:nvSpPr>
        <p:spPr>
          <a:xfrm>
            <a:off x="4163475" y="1799725"/>
            <a:ext cx="8013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Broadcast to all serving labs (Inlab, Rx.Net)</a:t>
            </a:r>
            <a:endParaRPr sz="800"/>
          </a:p>
        </p:txBody>
      </p:sp>
      <p:cxnSp>
        <p:nvCxnSpPr>
          <p:cNvPr id="523" name="Google Shape;523;p34"/>
          <p:cNvCxnSpPr>
            <a:stCxn id="506" idx="3"/>
            <a:endCxn id="507" idx="1"/>
          </p:cNvCxnSpPr>
          <p:nvPr/>
        </p:nvCxnSpPr>
        <p:spPr>
          <a:xfrm rot="10800000" flipH="1">
            <a:off x="3002450" y="2854150"/>
            <a:ext cx="801600" cy="13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4" name="Google Shape;524;p34"/>
          <p:cNvCxnSpPr>
            <a:stCxn id="507" idx="3"/>
            <a:endCxn id="516" idx="1"/>
          </p:cNvCxnSpPr>
          <p:nvPr/>
        </p:nvCxnSpPr>
        <p:spPr>
          <a:xfrm>
            <a:off x="4264175" y="2854184"/>
            <a:ext cx="548700" cy="13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" name="Google Shape;525;p34"/>
          <p:cNvCxnSpPr>
            <a:stCxn id="509" idx="2"/>
            <a:endCxn id="504" idx="2"/>
          </p:cNvCxnSpPr>
          <p:nvPr/>
        </p:nvCxnSpPr>
        <p:spPr>
          <a:xfrm rot="5400000">
            <a:off x="4503163" y="-318875"/>
            <a:ext cx="63900" cy="7417500"/>
          </a:xfrm>
          <a:prstGeom prst="curvedConnector3">
            <a:avLst>
              <a:gd name="adj1" fmla="val 472653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526" name="Google Shape;52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4488" y="3275187"/>
            <a:ext cx="570375" cy="58482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4"/>
          <p:cNvSpPr/>
          <p:nvPr/>
        </p:nvSpPr>
        <p:spPr>
          <a:xfrm>
            <a:off x="7242300" y="438526"/>
            <a:ext cx="1587000" cy="1563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rgbClr val="FFFFFF"/>
                </a:solidFill>
              </a:rPr>
              <a:t>Btw march 11 and 18th 2020, </a:t>
            </a:r>
            <a:r>
              <a:rPr lang="fr-FR" sz="1200" b="1">
                <a:solidFill>
                  <a:srgbClr val="FFFFFF"/>
                </a:solidFill>
              </a:rPr>
              <a:t>135K</a:t>
            </a:r>
            <a:r>
              <a:rPr lang="fr-FR" sz="1200" b="1" baseline="30000">
                <a:solidFill>
                  <a:srgbClr val="FFFFFF"/>
                </a:solidFill>
              </a:rPr>
              <a:t>(1)</a:t>
            </a:r>
            <a:r>
              <a:rPr lang="fr-FR" sz="1000">
                <a:solidFill>
                  <a:srgbClr val="FFFFFF"/>
                </a:solidFill>
              </a:rPr>
              <a:t> shape files have been received by Generix</a:t>
            </a:r>
            <a:r>
              <a:rPr lang="fr-FR" sz="1000" baseline="30000">
                <a:solidFill>
                  <a:srgbClr val="FFFFFF"/>
                </a:solidFill>
              </a:rPr>
              <a:t>(2) </a:t>
            </a:r>
            <a:r>
              <a:rPr lang="fr-FR" sz="1000">
                <a:solidFill>
                  <a:srgbClr val="FFFFFF"/>
                </a:solidFill>
              </a:rPr>
              <a:t>and broadcasted to downstream IS 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rgbClr val="FFFFFF"/>
                </a:solidFill>
              </a:rPr>
              <a:t>(</a:t>
            </a:r>
            <a:r>
              <a:rPr lang="fr-FR" sz="1200" b="1">
                <a:solidFill>
                  <a:srgbClr val="FFFFFF"/>
                </a:solidFill>
              </a:rPr>
              <a:t>7M</a:t>
            </a:r>
            <a:r>
              <a:rPr lang="fr-FR" sz="1000">
                <a:solidFill>
                  <a:srgbClr val="FFFFFF"/>
                </a:solidFill>
              </a:rPr>
              <a:t> in 52W)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528" name="Google Shape;528;p34"/>
          <p:cNvSpPr txBox="1"/>
          <p:nvPr/>
        </p:nvSpPr>
        <p:spPr>
          <a:xfrm>
            <a:off x="4246475" y="4681400"/>
            <a:ext cx="43065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i="1" baseline="30000"/>
              <a:t>(1) </a:t>
            </a:r>
            <a:r>
              <a:rPr lang="fr-FR" sz="800" i="1"/>
              <a:t>source: Generix support team, David Reverchon &amp; Bernard Evan, march 21th 2018</a:t>
            </a:r>
            <a:endParaRPr sz="8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i="1" baseline="30000"/>
              <a:t>(2)</a:t>
            </a:r>
            <a:r>
              <a:rPr lang="fr-FR" sz="800" i="1"/>
              <a:t>excludes non EDI orders and EDI by other platform than Generix (e.g: ECG)</a:t>
            </a:r>
            <a:endParaRPr sz="800" i="1"/>
          </a:p>
        </p:txBody>
      </p:sp>
      <p:pic>
        <p:nvPicPr>
          <p:cNvPr id="529" name="Google Shape;529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77188" y="2673950"/>
            <a:ext cx="570375" cy="38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0" name="Google Shape;530;p34"/>
          <p:cNvCxnSpPr>
            <a:stCxn id="516" idx="3"/>
            <a:endCxn id="529" idx="1"/>
          </p:cNvCxnSpPr>
          <p:nvPr/>
        </p:nvCxnSpPr>
        <p:spPr>
          <a:xfrm rot="10800000" flipH="1">
            <a:off x="5383150" y="2863987"/>
            <a:ext cx="2594100" cy="3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31" name="Google Shape;531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03471" y="2517671"/>
            <a:ext cx="548700" cy="264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6471" y="3660671"/>
            <a:ext cx="548700" cy="264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9671" y="1755671"/>
            <a:ext cx="548700" cy="264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5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20</a:t>
            </a:fld>
            <a:endParaRPr/>
          </a:p>
        </p:txBody>
      </p:sp>
      <p:sp>
        <p:nvSpPr>
          <p:cNvPr id="539" name="Google Shape;539;p35"/>
          <p:cNvSpPr/>
          <p:nvPr/>
        </p:nvSpPr>
        <p:spPr>
          <a:xfrm>
            <a:off x="0" y="0"/>
            <a:ext cx="9144000" cy="507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</a:endParaRPr>
          </a:p>
        </p:txBody>
      </p:sp>
      <p:sp>
        <p:nvSpPr>
          <p:cNvPr id="540" name="Google Shape;540;p35"/>
          <p:cNvSpPr txBox="1"/>
          <p:nvPr/>
        </p:nvSpPr>
        <p:spPr>
          <a:xfrm>
            <a:off x="0" y="0"/>
            <a:ext cx="91440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Samples of current problematic possibly resolved by EyeCloud &gt; Shape files 2/2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541" name="Google Shape;541;p35"/>
          <p:cNvSpPr txBox="1"/>
          <p:nvPr/>
        </p:nvSpPr>
        <p:spPr>
          <a:xfrm>
            <a:off x="7371425" y="2638475"/>
            <a:ext cx="1033500" cy="12291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UEID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….Metadata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………Prescription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………PMS order ID</a:t>
            </a:r>
            <a:endParaRPr sz="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….Document</a:t>
            </a:r>
            <a:endParaRPr sz="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700">
                <a:solidFill>
                  <a:srgbClr val="000000"/>
                </a:solidFill>
              </a:rPr>
              <a:t>………Calcul 1</a:t>
            </a:r>
            <a:endParaRPr sz="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………</a:t>
            </a:r>
            <a:r>
              <a:rPr lang="fr-FR" sz="900" b="1">
                <a:solidFill>
                  <a:srgbClr val="000000"/>
                </a:solidFill>
              </a:rPr>
              <a:t>Shape file</a:t>
            </a:r>
            <a:endParaRPr sz="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………</a:t>
            </a:r>
            <a:r>
              <a:rPr lang="fr-FR" sz="900">
                <a:solidFill>
                  <a:srgbClr val="000000"/>
                </a:solidFill>
              </a:rPr>
              <a:t>Calcul 2</a:t>
            </a:r>
            <a:endParaRPr sz="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………</a:t>
            </a:r>
            <a:r>
              <a:rPr lang="fr-FR" sz="900">
                <a:solidFill>
                  <a:srgbClr val="000000"/>
                </a:solidFill>
              </a:rPr>
              <a:t>Calcul 3</a:t>
            </a:r>
            <a:endParaRPr sz="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000000"/>
              </a:solidFill>
            </a:endParaRPr>
          </a:p>
        </p:txBody>
      </p:sp>
      <p:sp>
        <p:nvSpPr>
          <p:cNvPr id="542" name="Google Shape;542;p35"/>
          <p:cNvSpPr txBox="1"/>
          <p:nvPr/>
        </p:nvSpPr>
        <p:spPr>
          <a:xfrm>
            <a:off x="6881250" y="1778175"/>
            <a:ext cx="1033500" cy="10983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UEID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….Metadata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………Prescription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………PMS order ID</a:t>
            </a:r>
            <a:endParaRPr sz="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….Document</a:t>
            </a:r>
            <a:endParaRPr sz="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700">
                <a:solidFill>
                  <a:srgbClr val="000000"/>
                </a:solidFill>
              </a:rPr>
              <a:t>………Calcul 1</a:t>
            </a:r>
            <a:endParaRPr sz="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………</a:t>
            </a:r>
            <a:r>
              <a:rPr lang="fr-FR" sz="900" b="1">
                <a:solidFill>
                  <a:srgbClr val="000000"/>
                </a:solidFill>
              </a:rPr>
              <a:t>Shape file</a:t>
            </a:r>
            <a:endParaRPr sz="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………</a:t>
            </a:r>
            <a:r>
              <a:rPr lang="fr-FR" sz="900">
                <a:solidFill>
                  <a:srgbClr val="000000"/>
                </a:solidFill>
              </a:rPr>
              <a:t>Calcul 2</a:t>
            </a:r>
            <a:endParaRPr sz="700">
              <a:solidFill>
                <a:srgbClr val="000000"/>
              </a:solidFill>
            </a:endParaRPr>
          </a:p>
        </p:txBody>
      </p:sp>
      <p:pic>
        <p:nvPicPr>
          <p:cNvPr id="543" name="Google Shape;54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4056" y="1044137"/>
            <a:ext cx="898932" cy="5353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4" name="Google Shape;544;p35"/>
          <p:cNvCxnSpPr>
            <a:endCxn id="543" idx="1"/>
          </p:cNvCxnSpPr>
          <p:nvPr/>
        </p:nvCxnSpPr>
        <p:spPr>
          <a:xfrm>
            <a:off x="2276656" y="1311819"/>
            <a:ext cx="33174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545" name="Google Shape;54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4056" y="2034737"/>
            <a:ext cx="898932" cy="53536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5"/>
          <p:cNvSpPr txBox="1"/>
          <p:nvPr/>
        </p:nvSpPr>
        <p:spPr>
          <a:xfrm>
            <a:off x="3333800" y="1044125"/>
            <a:ext cx="1033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Ask for new UEID</a:t>
            </a:r>
            <a:endParaRPr sz="800"/>
          </a:p>
        </p:txBody>
      </p:sp>
      <p:sp>
        <p:nvSpPr>
          <p:cNvPr id="547" name="Google Shape;547;p35"/>
          <p:cNvSpPr txBox="1"/>
          <p:nvPr/>
        </p:nvSpPr>
        <p:spPr>
          <a:xfrm>
            <a:off x="2817200" y="1526025"/>
            <a:ext cx="22362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rgbClr val="000000"/>
                </a:solidFill>
              </a:rPr>
              <a:t>Post Shape file and metadata on UEID</a:t>
            </a:r>
            <a:endParaRPr sz="800">
              <a:solidFill>
                <a:srgbClr val="000000"/>
              </a:solidFill>
            </a:endParaRPr>
          </a:p>
        </p:txBody>
      </p:sp>
      <p:sp>
        <p:nvSpPr>
          <p:cNvPr id="548" name="Google Shape;548;p35"/>
          <p:cNvSpPr txBox="1"/>
          <p:nvPr/>
        </p:nvSpPr>
        <p:spPr>
          <a:xfrm>
            <a:off x="3333800" y="1272725"/>
            <a:ext cx="1033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New UEID</a:t>
            </a:r>
            <a:endParaRPr sz="800"/>
          </a:p>
        </p:txBody>
      </p:sp>
      <p:cxnSp>
        <p:nvCxnSpPr>
          <p:cNvPr id="549" name="Google Shape;549;p35"/>
          <p:cNvCxnSpPr>
            <a:endCxn id="550" idx="0"/>
          </p:cNvCxnSpPr>
          <p:nvPr/>
        </p:nvCxnSpPr>
        <p:spPr>
          <a:xfrm>
            <a:off x="1921694" y="1485363"/>
            <a:ext cx="0" cy="576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551" name="Google Shape;551;p35"/>
          <p:cNvSpPr txBox="1"/>
          <p:nvPr/>
        </p:nvSpPr>
        <p:spPr>
          <a:xfrm>
            <a:off x="1496425" y="1613975"/>
            <a:ext cx="448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UEID</a:t>
            </a:r>
            <a:endParaRPr sz="800"/>
          </a:p>
        </p:txBody>
      </p:sp>
      <p:cxnSp>
        <p:nvCxnSpPr>
          <p:cNvPr id="552" name="Google Shape;552;p35"/>
          <p:cNvCxnSpPr>
            <a:endCxn id="545" idx="1"/>
          </p:cNvCxnSpPr>
          <p:nvPr/>
        </p:nvCxnSpPr>
        <p:spPr>
          <a:xfrm>
            <a:off x="2276656" y="2302419"/>
            <a:ext cx="33174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53" name="Google Shape;553;p35"/>
          <p:cNvSpPr txBox="1"/>
          <p:nvPr/>
        </p:nvSpPr>
        <p:spPr>
          <a:xfrm>
            <a:off x="3122000" y="2059425"/>
            <a:ext cx="22362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rgbClr val="000000"/>
                </a:solidFill>
              </a:rPr>
              <a:t>Get shape file  on UEID</a:t>
            </a:r>
            <a:endParaRPr sz="800">
              <a:solidFill>
                <a:srgbClr val="000000"/>
              </a:solidFill>
            </a:endParaRPr>
          </a:p>
        </p:txBody>
      </p:sp>
      <p:pic>
        <p:nvPicPr>
          <p:cNvPr id="554" name="Google Shape;55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4056" y="2977549"/>
            <a:ext cx="898932" cy="5353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5" name="Google Shape;555;p35"/>
          <p:cNvCxnSpPr>
            <a:stCxn id="556" idx="3"/>
            <a:endCxn id="554" idx="1"/>
          </p:cNvCxnSpPr>
          <p:nvPr/>
        </p:nvCxnSpPr>
        <p:spPr>
          <a:xfrm>
            <a:off x="2206882" y="3245231"/>
            <a:ext cx="3387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57" name="Google Shape;557;p35"/>
          <p:cNvCxnSpPr>
            <a:stCxn id="550" idx="2"/>
            <a:endCxn id="556" idx="0"/>
          </p:cNvCxnSpPr>
          <p:nvPr/>
        </p:nvCxnSpPr>
        <p:spPr>
          <a:xfrm>
            <a:off x="1921694" y="2543181"/>
            <a:ext cx="0" cy="4095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558" name="Google Shape;558;p35"/>
          <p:cNvSpPr txBox="1"/>
          <p:nvPr/>
        </p:nvSpPr>
        <p:spPr>
          <a:xfrm>
            <a:off x="1490550" y="2559675"/>
            <a:ext cx="448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UEID</a:t>
            </a:r>
            <a:endParaRPr sz="800"/>
          </a:p>
        </p:txBody>
      </p:sp>
      <p:pic>
        <p:nvPicPr>
          <p:cNvPr id="559" name="Google Shape;55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4056" y="3932641"/>
            <a:ext cx="898932" cy="5353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0" name="Google Shape;560;p35"/>
          <p:cNvCxnSpPr>
            <a:stCxn id="559" idx="1"/>
            <a:endCxn id="561" idx="3"/>
          </p:cNvCxnSpPr>
          <p:nvPr/>
        </p:nvCxnSpPr>
        <p:spPr>
          <a:xfrm rot="10800000">
            <a:off x="2228956" y="4184123"/>
            <a:ext cx="3365100" cy="16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62" name="Google Shape;562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1566" y="1131908"/>
            <a:ext cx="460257" cy="355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4614" y="1107464"/>
            <a:ext cx="837983" cy="40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1557" y="2061663"/>
            <a:ext cx="460275" cy="48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9139" y="2072689"/>
            <a:ext cx="837983" cy="4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5"/>
          <p:cNvSpPr txBox="1"/>
          <p:nvPr/>
        </p:nvSpPr>
        <p:spPr>
          <a:xfrm>
            <a:off x="3122000" y="2973825"/>
            <a:ext cx="22362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rgbClr val="000000"/>
                </a:solidFill>
              </a:rPr>
              <a:t>Get shape file  on UEID</a:t>
            </a:r>
            <a:endParaRPr sz="800">
              <a:solidFill>
                <a:srgbClr val="000000"/>
              </a:solidFill>
            </a:endParaRPr>
          </a:p>
        </p:txBody>
      </p:sp>
      <p:pic>
        <p:nvPicPr>
          <p:cNvPr id="566" name="Google Shape;56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9139" y="3063289"/>
            <a:ext cx="837983" cy="40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36507" y="2952820"/>
            <a:ext cx="570375" cy="58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14569" y="3979325"/>
            <a:ext cx="61425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5"/>
          <p:cNvSpPr txBox="1"/>
          <p:nvPr/>
        </p:nvSpPr>
        <p:spPr>
          <a:xfrm>
            <a:off x="3122000" y="3888225"/>
            <a:ext cx="22362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rgbClr val="000000"/>
                </a:solidFill>
              </a:rPr>
              <a:t>Get shape file  on UEID</a:t>
            </a:r>
            <a:endParaRPr sz="800">
              <a:solidFill>
                <a:srgbClr val="000000"/>
              </a:solidFill>
            </a:endParaRPr>
          </a:p>
        </p:txBody>
      </p:sp>
      <p:pic>
        <p:nvPicPr>
          <p:cNvPr id="568" name="Google Shape;56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9139" y="3977689"/>
            <a:ext cx="837983" cy="4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5"/>
          <p:cNvSpPr/>
          <p:nvPr/>
        </p:nvSpPr>
        <p:spPr>
          <a:xfrm>
            <a:off x="980929" y="1314500"/>
            <a:ext cx="778300" cy="2813025"/>
          </a:xfrm>
          <a:custGeom>
            <a:avLst/>
            <a:gdLst/>
            <a:ahLst/>
            <a:cxnLst/>
            <a:rect l="l" t="t" r="r" b="b"/>
            <a:pathLst>
              <a:path w="31132" h="112521" extrusionOk="0">
                <a:moveTo>
                  <a:pt x="28307" y="0"/>
                </a:moveTo>
                <a:cubicBezTo>
                  <a:pt x="23599" y="9181"/>
                  <a:pt x="-412" y="36330"/>
                  <a:pt x="59" y="55083"/>
                </a:cubicBezTo>
                <a:cubicBezTo>
                  <a:pt x="530" y="73837"/>
                  <a:pt x="25953" y="102948"/>
                  <a:pt x="31132" y="112521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570" name="Google Shape;570;p35"/>
          <p:cNvSpPr txBox="1"/>
          <p:nvPr/>
        </p:nvSpPr>
        <p:spPr>
          <a:xfrm>
            <a:off x="728550" y="2559675"/>
            <a:ext cx="448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UEID</a:t>
            </a:r>
            <a:endParaRPr sz="800"/>
          </a:p>
        </p:txBody>
      </p:sp>
      <p:sp>
        <p:nvSpPr>
          <p:cNvPr id="571" name="Google Shape;571;p35"/>
          <p:cNvSpPr txBox="1"/>
          <p:nvPr/>
        </p:nvSpPr>
        <p:spPr>
          <a:xfrm>
            <a:off x="6554375" y="976025"/>
            <a:ext cx="1033500" cy="9144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UEID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….Metadata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/>
              <a:t>………Prescription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………PMS order ID</a:t>
            </a:r>
            <a:endParaRPr sz="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….Document</a:t>
            </a:r>
            <a:endParaRPr sz="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………Calcul 1</a:t>
            </a:r>
            <a:endParaRPr sz="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rgbClr val="000000"/>
                </a:solidFill>
              </a:rPr>
              <a:t>………</a:t>
            </a:r>
            <a:r>
              <a:rPr lang="fr-FR" sz="900" b="1">
                <a:solidFill>
                  <a:srgbClr val="000000"/>
                </a:solidFill>
              </a:rPr>
              <a:t>Shape file</a:t>
            </a:r>
            <a:endParaRPr sz="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000000"/>
              </a:solidFill>
            </a:endParaRPr>
          </a:p>
        </p:txBody>
      </p:sp>
      <p:cxnSp>
        <p:nvCxnSpPr>
          <p:cNvPr id="572" name="Google Shape;572;p35"/>
          <p:cNvCxnSpPr>
            <a:stCxn id="556" idx="2"/>
            <a:endCxn id="561" idx="0"/>
          </p:cNvCxnSpPr>
          <p:nvPr/>
        </p:nvCxnSpPr>
        <p:spPr>
          <a:xfrm>
            <a:off x="1921694" y="3537643"/>
            <a:ext cx="0" cy="44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6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21</a:t>
            </a:fld>
            <a:endParaRPr/>
          </a:p>
        </p:txBody>
      </p:sp>
      <p:sp>
        <p:nvSpPr>
          <p:cNvPr id="579" name="Google Shape;579;p36"/>
          <p:cNvSpPr txBox="1"/>
          <p:nvPr/>
        </p:nvSpPr>
        <p:spPr>
          <a:xfrm>
            <a:off x="3021450" y="2371650"/>
            <a:ext cx="310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Sample 3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7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22</a:t>
            </a:fld>
            <a:endParaRPr/>
          </a:p>
        </p:txBody>
      </p:sp>
      <p:sp>
        <p:nvSpPr>
          <p:cNvPr id="586" name="Google Shape;586;p37"/>
          <p:cNvSpPr/>
          <p:nvPr/>
        </p:nvSpPr>
        <p:spPr>
          <a:xfrm>
            <a:off x="0" y="0"/>
            <a:ext cx="9144000" cy="507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</a:endParaRPr>
          </a:p>
        </p:txBody>
      </p:sp>
      <p:sp>
        <p:nvSpPr>
          <p:cNvPr id="587" name="Google Shape;587;p37"/>
          <p:cNvSpPr/>
          <p:nvPr/>
        </p:nvSpPr>
        <p:spPr>
          <a:xfrm>
            <a:off x="1211800" y="86900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Web ordering system</a:t>
            </a:r>
            <a:endParaRPr sz="1200"/>
          </a:p>
        </p:txBody>
      </p:sp>
      <p:sp>
        <p:nvSpPr>
          <p:cNvPr id="588" name="Google Shape;588;p37"/>
          <p:cNvSpPr/>
          <p:nvPr/>
        </p:nvSpPr>
        <p:spPr>
          <a:xfrm>
            <a:off x="3157700" y="86900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dk1"/>
                </a:solidFill>
              </a:rPr>
              <a:t>Ordering management system</a:t>
            </a:r>
            <a:endParaRPr sz="1600"/>
          </a:p>
        </p:txBody>
      </p:sp>
      <p:sp>
        <p:nvSpPr>
          <p:cNvPr id="589" name="Google Shape;589;p37"/>
          <p:cNvSpPr/>
          <p:nvPr/>
        </p:nvSpPr>
        <p:spPr>
          <a:xfrm>
            <a:off x="5332200" y="86900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LMS</a:t>
            </a:r>
            <a:endParaRPr/>
          </a:p>
        </p:txBody>
      </p:sp>
      <p:sp>
        <p:nvSpPr>
          <p:cNvPr id="590" name="Google Shape;590;p37"/>
          <p:cNvSpPr/>
          <p:nvPr/>
        </p:nvSpPr>
        <p:spPr>
          <a:xfrm>
            <a:off x="1221325" y="239215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Business Sub Web portal</a:t>
            </a:r>
            <a:endParaRPr/>
          </a:p>
        </p:txBody>
      </p:sp>
      <p:sp>
        <p:nvSpPr>
          <p:cNvPr id="591" name="Google Shape;591;p37"/>
          <p:cNvSpPr/>
          <p:nvPr/>
        </p:nvSpPr>
        <p:spPr>
          <a:xfrm>
            <a:off x="7742325" y="380745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Internal Quality</a:t>
            </a:r>
            <a:endParaRPr/>
          </a:p>
        </p:txBody>
      </p:sp>
      <p:sp>
        <p:nvSpPr>
          <p:cNvPr id="592" name="Google Shape;592;p37"/>
          <p:cNvSpPr/>
          <p:nvPr/>
        </p:nvSpPr>
        <p:spPr>
          <a:xfrm>
            <a:off x="5332200" y="239215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EyeCloud</a:t>
            </a:r>
            <a:endParaRPr/>
          </a:p>
        </p:txBody>
      </p:sp>
      <p:sp>
        <p:nvSpPr>
          <p:cNvPr id="593" name="Google Shape;593;p37"/>
          <p:cNvSpPr/>
          <p:nvPr/>
        </p:nvSpPr>
        <p:spPr>
          <a:xfrm>
            <a:off x="5332200" y="380745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Datalake</a:t>
            </a:r>
            <a:endParaRPr/>
          </a:p>
        </p:txBody>
      </p:sp>
      <p:cxnSp>
        <p:nvCxnSpPr>
          <p:cNvPr id="594" name="Google Shape;594;p37"/>
          <p:cNvCxnSpPr>
            <a:stCxn id="591" idx="1"/>
            <a:endCxn id="593" idx="3"/>
          </p:cNvCxnSpPr>
          <p:nvPr/>
        </p:nvCxnSpPr>
        <p:spPr>
          <a:xfrm rot="10800000">
            <a:off x="6391125" y="4141500"/>
            <a:ext cx="1351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5" name="Google Shape;595;p37"/>
          <p:cNvCxnSpPr>
            <a:stCxn id="590" idx="3"/>
            <a:endCxn id="592" idx="1"/>
          </p:cNvCxnSpPr>
          <p:nvPr/>
        </p:nvCxnSpPr>
        <p:spPr>
          <a:xfrm>
            <a:off x="2280325" y="2726200"/>
            <a:ext cx="3051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6" name="Google Shape;596;p37"/>
          <p:cNvCxnSpPr>
            <a:stCxn id="587" idx="3"/>
            <a:endCxn id="588" idx="1"/>
          </p:cNvCxnSpPr>
          <p:nvPr/>
        </p:nvCxnSpPr>
        <p:spPr>
          <a:xfrm>
            <a:off x="2270800" y="1203050"/>
            <a:ext cx="88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7" name="Google Shape;597;p37"/>
          <p:cNvCxnSpPr>
            <a:stCxn id="588" idx="3"/>
            <a:endCxn id="589" idx="1"/>
          </p:cNvCxnSpPr>
          <p:nvPr/>
        </p:nvCxnSpPr>
        <p:spPr>
          <a:xfrm>
            <a:off x="4216700" y="1203050"/>
            <a:ext cx="111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8" name="Google Shape;598;p37"/>
          <p:cNvCxnSpPr>
            <a:stCxn id="589" idx="2"/>
            <a:endCxn id="592" idx="0"/>
          </p:cNvCxnSpPr>
          <p:nvPr/>
        </p:nvCxnSpPr>
        <p:spPr>
          <a:xfrm>
            <a:off x="5861700" y="1537100"/>
            <a:ext cx="0" cy="85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9" name="Google Shape;599;p37"/>
          <p:cNvSpPr txBox="1"/>
          <p:nvPr/>
        </p:nvSpPr>
        <p:spPr>
          <a:xfrm>
            <a:off x="2375200" y="1203050"/>
            <a:ext cx="677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ECID A</a:t>
            </a:r>
            <a:endParaRPr sz="1100"/>
          </a:p>
        </p:txBody>
      </p:sp>
      <p:sp>
        <p:nvSpPr>
          <p:cNvPr id="600" name="Google Shape;600;p37"/>
          <p:cNvSpPr txBox="1"/>
          <p:nvPr/>
        </p:nvSpPr>
        <p:spPr>
          <a:xfrm>
            <a:off x="4356400" y="1203050"/>
            <a:ext cx="677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ECID A</a:t>
            </a:r>
            <a:endParaRPr sz="1100"/>
          </a:p>
        </p:txBody>
      </p:sp>
      <p:sp>
        <p:nvSpPr>
          <p:cNvPr id="601" name="Google Shape;601;p37"/>
          <p:cNvSpPr txBox="1"/>
          <p:nvPr/>
        </p:nvSpPr>
        <p:spPr>
          <a:xfrm>
            <a:off x="5880400" y="1671050"/>
            <a:ext cx="1217400" cy="641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Traceability file (many info)  POST on ECID A</a:t>
            </a:r>
            <a:endParaRPr sz="1000"/>
          </a:p>
        </p:txBody>
      </p:sp>
      <p:sp>
        <p:nvSpPr>
          <p:cNvPr id="602" name="Google Shape;602;p37"/>
          <p:cNvSpPr txBox="1"/>
          <p:nvPr/>
        </p:nvSpPr>
        <p:spPr>
          <a:xfrm>
            <a:off x="5499400" y="1279250"/>
            <a:ext cx="7926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Picking</a:t>
            </a:r>
            <a:endParaRPr sz="1100"/>
          </a:p>
        </p:txBody>
      </p:sp>
      <p:sp>
        <p:nvSpPr>
          <p:cNvPr id="603" name="Google Shape;603;p37"/>
          <p:cNvSpPr txBox="1"/>
          <p:nvPr/>
        </p:nvSpPr>
        <p:spPr>
          <a:xfrm>
            <a:off x="6032800" y="4261850"/>
            <a:ext cx="894000" cy="393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Traceability info</a:t>
            </a:r>
            <a:endParaRPr sz="1100"/>
          </a:p>
        </p:txBody>
      </p:sp>
      <p:cxnSp>
        <p:nvCxnSpPr>
          <p:cNvPr id="604" name="Google Shape;604;p37"/>
          <p:cNvCxnSpPr>
            <a:stCxn id="592" idx="2"/>
            <a:endCxn id="593" idx="0"/>
          </p:cNvCxnSpPr>
          <p:nvPr/>
        </p:nvCxnSpPr>
        <p:spPr>
          <a:xfrm>
            <a:off x="5861700" y="3060250"/>
            <a:ext cx="0" cy="74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05" name="Google Shape;60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92150"/>
            <a:ext cx="962999" cy="64150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7"/>
          <p:cNvSpPr txBox="1"/>
          <p:nvPr/>
        </p:nvSpPr>
        <p:spPr>
          <a:xfrm>
            <a:off x="6185200" y="4414250"/>
            <a:ext cx="894000" cy="393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Traceability info</a:t>
            </a:r>
            <a:endParaRPr sz="1100"/>
          </a:p>
        </p:txBody>
      </p:sp>
      <p:sp>
        <p:nvSpPr>
          <p:cNvPr id="607" name="Google Shape;607;p37"/>
          <p:cNvSpPr txBox="1"/>
          <p:nvPr/>
        </p:nvSpPr>
        <p:spPr>
          <a:xfrm>
            <a:off x="6337600" y="4566650"/>
            <a:ext cx="894000" cy="393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Traceability info</a:t>
            </a:r>
            <a:endParaRPr sz="1100"/>
          </a:p>
        </p:txBody>
      </p:sp>
      <p:sp>
        <p:nvSpPr>
          <p:cNvPr id="608" name="Google Shape;608;p37"/>
          <p:cNvSpPr txBox="1"/>
          <p:nvPr/>
        </p:nvSpPr>
        <p:spPr>
          <a:xfrm>
            <a:off x="6492575" y="3808025"/>
            <a:ext cx="1115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Massive queries</a:t>
            </a:r>
            <a:endParaRPr sz="1000"/>
          </a:p>
        </p:txBody>
      </p:sp>
      <p:sp>
        <p:nvSpPr>
          <p:cNvPr id="609" name="Google Shape;609;p37"/>
          <p:cNvSpPr txBox="1"/>
          <p:nvPr/>
        </p:nvSpPr>
        <p:spPr>
          <a:xfrm>
            <a:off x="2622350" y="2747950"/>
            <a:ext cx="2318400" cy="3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i="1"/>
              <a:t>“GET traceability for ECID A”</a:t>
            </a:r>
            <a:endParaRPr sz="1100" i="1"/>
          </a:p>
        </p:txBody>
      </p:sp>
      <p:sp>
        <p:nvSpPr>
          <p:cNvPr id="610" name="Google Shape;610;p37"/>
          <p:cNvSpPr/>
          <p:nvPr/>
        </p:nvSpPr>
        <p:spPr>
          <a:xfrm>
            <a:off x="7536400" y="163055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Formater</a:t>
            </a:r>
            <a:endParaRPr sz="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GS1--&gt;Traceability format</a:t>
            </a:r>
            <a:endParaRPr sz="900"/>
          </a:p>
        </p:txBody>
      </p:sp>
      <p:cxnSp>
        <p:nvCxnSpPr>
          <p:cNvPr id="611" name="Google Shape;611;p37"/>
          <p:cNvCxnSpPr>
            <a:stCxn id="589" idx="3"/>
            <a:endCxn id="610" idx="0"/>
          </p:cNvCxnSpPr>
          <p:nvPr/>
        </p:nvCxnSpPr>
        <p:spPr>
          <a:xfrm>
            <a:off x="6391200" y="1203050"/>
            <a:ext cx="1674600" cy="42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12" name="Google Shape;612;p37"/>
          <p:cNvSpPr/>
          <p:nvPr/>
        </p:nvSpPr>
        <p:spPr>
          <a:xfrm>
            <a:off x="6896000" y="895900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3</a:t>
            </a:r>
            <a:endParaRPr/>
          </a:p>
        </p:txBody>
      </p:sp>
      <p:sp>
        <p:nvSpPr>
          <p:cNvPr id="613" name="Google Shape;613;p37"/>
          <p:cNvSpPr/>
          <p:nvPr/>
        </p:nvSpPr>
        <p:spPr>
          <a:xfrm>
            <a:off x="2484700" y="641425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2</a:t>
            </a:r>
            <a:endParaRPr/>
          </a:p>
        </p:txBody>
      </p:sp>
      <p:sp>
        <p:nvSpPr>
          <p:cNvPr id="614" name="Google Shape;614;p37"/>
          <p:cNvSpPr/>
          <p:nvPr/>
        </p:nvSpPr>
        <p:spPr>
          <a:xfrm>
            <a:off x="5427500" y="3220100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5</a:t>
            </a:r>
            <a:endParaRPr/>
          </a:p>
        </p:txBody>
      </p:sp>
      <p:pic>
        <p:nvPicPr>
          <p:cNvPr id="615" name="Google Shape;61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8150"/>
            <a:ext cx="962999" cy="641502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7"/>
          <p:cNvSpPr txBox="1"/>
          <p:nvPr/>
        </p:nvSpPr>
        <p:spPr>
          <a:xfrm>
            <a:off x="0" y="0"/>
            <a:ext cx="91440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Samples of current problematic possibly resolved by EyeCloud &gt; Traceability for EU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617" name="Google Shape;617;p37"/>
          <p:cNvCxnSpPr>
            <a:stCxn id="587" idx="2"/>
            <a:endCxn id="592" idx="1"/>
          </p:cNvCxnSpPr>
          <p:nvPr/>
        </p:nvCxnSpPr>
        <p:spPr>
          <a:xfrm>
            <a:off x="1741300" y="1537100"/>
            <a:ext cx="3591000" cy="118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18" name="Google Shape;618;p37"/>
          <p:cNvSpPr/>
          <p:nvPr/>
        </p:nvSpPr>
        <p:spPr>
          <a:xfrm>
            <a:off x="3166200" y="1817300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</a:t>
            </a:r>
            <a:endParaRPr/>
          </a:p>
        </p:txBody>
      </p:sp>
      <p:sp>
        <p:nvSpPr>
          <p:cNvPr id="619" name="Google Shape;619;p37"/>
          <p:cNvSpPr/>
          <p:nvPr/>
        </p:nvSpPr>
        <p:spPr>
          <a:xfrm>
            <a:off x="4542100" y="641425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2</a:t>
            </a:r>
            <a:endParaRPr/>
          </a:p>
        </p:txBody>
      </p:sp>
      <p:sp>
        <p:nvSpPr>
          <p:cNvPr id="620" name="Google Shape;620;p37"/>
          <p:cNvSpPr/>
          <p:nvPr/>
        </p:nvSpPr>
        <p:spPr>
          <a:xfrm>
            <a:off x="5452200" y="1741100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4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8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23</a:t>
            </a:fld>
            <a:endParaRPr/>
          </a:p>
        </p:txBody>
      </p:sp>
      <p:sp>
        <p:nvSpPr>
          <p:cNvPr id="627" name="Google Shape;627;p38"/>
          <p:cNvSpPr/>
          <p:nvPr/>
        </p:nvSpPr>
        <p:spPr>
          <a:xfrm>
            <a:off x="0" y="0"/>
            <a:ext cx="9144000" cy="507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</a:endParaRPr>
          </a:p>
        </p:txBody>
      </p:sp>
      <p:sp>
        <p:nvSpPr>
          <p:cNvPr id="628" name="Google Shape;628;p38"/>
          <p:cNvSpPr/>
          <p:nvPr/>
        </p:nvSpPr>
        <p:spPr>
          <a:xfrm>
            <a:off x="1211800" y="86900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Web ordering system</a:t>
            </a:r>
            <a:endParaRPr sz="1200"/>
          </a:p>
        </p:txBody>
      </p:sp>
      <p:sp>
        <p:nvSpPr>
          <p:cNvPr id="629" name="Google Shape;629;p38"/>
          <p:cNvSpPr/>
          <p:nvPr/>
        </p:nvSpPr>
        <p:spPr>
          <a:xfrm>
            <a:off x="3157700" y="869000"/>
            <a:ext cx="1059000" cy="6681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1"/>
                </a:solidFill>
              </a:rPr>
              <a:t>Orchestra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630" name="Google Shape;630;p38"/>
          <p:cNvSpPr/>
          <p:nvPr/>
        </p:nvSpPr>
        <p:spPr>
          <a:xfrm>
            <a:off x="5332200" y="869000"/>
            <a:ext cx="1594500" cy="6681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1"/>
                </a:solidFill>
              </a:rPr>
              <a:t>Gold + HubOne + Stock Maitre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1" name="Google Shape;631;p38"/>
          <p:cNvSpPr/>
          <p:nvPr/>
        </p:nvSpPr>
        <p:spPr>
          <a:xfrm>
            <a:off x="1221325" y="2392150"/>
            <a:ext cx="1059000" cy="6681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1"/>
                </a:solidFill>
              </a:rPr>
              <a:t>BBGR Essilor Pro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2" name="Google Shape;632;p38"/>
          <p:cNvSpPr/>
          <p:nvPr/>
        </p:nvSpPr>
        <p:spPr>
          <a:xfrm>
            <a:off x="7742325" y="380745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Internal Quality</a:t>
            </a:r>
            <a:endParaRPr/>
          </a:p>
        </p:txBody>
      </p:sp>
      <p:sp>
        <p:nvSpPr>
          <p:cNvPr id="633" name="Google Shape;633;p38"/>
          <p:cNvSpPr/>
          <p:nvPr/>
        </p:nvSpPr>
        <p:spPr>
          <a:xfrm>
            <a:off x="5599950" y="239215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EyeCloud</a:t>
            </a:r>
            <a:endParaRPr/>
          </a:p>
        </p:txBody>
      </p:sp>
      <p:sp>
        <p:nvSpPr>
          <p:cNvPr id="634" name="Google Shape;634;p38"/>
          <p:cNvSpPr/>
          <p:nvPr/>
        </p:nvSpPr>
        <p:spPr>
          <a:xfrm>
            <a:off x="5599950" y="380745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Datalake</a:t>
            </a:r>
            <a:endParaRPr/>
          </a:p>
        </p:txBody>
      </p:sp>
      <p:cxnSp>
        <p:nvCxnSpPr>
          <p:cNvPr id="635" name="Google Shape;635;p38"/>
          <p:cNvCxnSpPr>
            <a:stCxn id="632" idx="1"/>
            <a:endCxn id="634" idx="3"/>
          </p:cNvCxnSpPr>
          <p:nvPr/>
        </p:nvCxnSpPr>
        <p:spPr>
          <a:xfrm rot="10800000">
            <a:off x="6659025" y="4141500"/>
            <a:ext cx="1083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6" name="Google Shape;636;p38"/>
          <p:cNvCxnSpPr>
            <a:stCxn id="631" idx="3"/>
            <a:endCxn id="633" idx="1"/>
          </p:cNvCxnSpPr>
          <p:nvPr/>
        </p:nvCxnSpPr>
        <p:spPr>
          <a:xfrm>
            <a:off x="2280325" y="2726200"/>
            <a:ext cx="331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7" name="Google Shape;637;p38"/>
          <p:cNvCxnSpPr>
            <a:stCxn id="628" idx="3"/>
            <a:endCxn id="629" idx="1"/>
          </p:cNvCxnSpPr>
          <p:nvPr/>
        </p:nvCxnSpPr>
        <p:spPr>
          <a:xfrm>
            <a:off x="2270800" y="1203050"/>
            <a:ext cx="88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" name="Google Shape;638;p38"/>
          <p:cNvCxnSpPr>
            <a:stCxn id="629" idx="3"/>
            <a:endCxn id="630" idx="1"/>
          </p:cNvCxnSpPr>
          <p:nvPr/>
        </p:nvCxnSpPr>
        <p:spPr>
          <a:xfrm>
            <a:off x="4216700" y="1203050"/>
            <a:ext cx="111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9" name="Google Shape;639;p38"/>
          <p:cNvCxnSpPr>
            <a:stCxn id="630" idx="2"/>
            <a:endCxn id="633" idx="0"/>
          </p:cNvCxnSpPr>
          <p:nvPr/>
        </p:nvCxnSpPr>
        <p:spPr>
          <a:xfrm>
            <a:off x="6129450" y="1537100"/>
            <a:ext cx="0" cy="85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0" name="Google Shape;640;p38"/>
          <p:cNvSpPr txBox="1"/>
          <p:nvPr/>
        </p:nvSpPr>
        <p:spPr>
          <a:xfrm>
            <a:off x="2375200" y="1203050"/>
            <a:ext cx="677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ECID A</a:t>
            </a:r>
            <a:endParaRPr sz="1100"/>
          </a:p>
        </p:txBody>
      </p:sp>
      <p:sp>
        <p:nvSpPr>
          <p:cNvPr id="641" name="Google Shape;641;p38"/>
          <p:cNvSpPr txBox="1"/>
          <p:nvPr/>
        </p:nvSpPr>
        <p:spPr>
          <a:xfrm>
            <a:off x="4356400" y="1203050"/>
            <a:ext cx="677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ECID A</a:t>
            </a:r>
            <a:endParaRPr sz="1100"/>
          </a:p>
        </p:txBody>
      </p:sp>
      <p:sp>
        <p:nvSpPr>
          <p:cNvPr id="642" name="Google Shape;642;p38"/>
          <p:cNvSpPr txBox="1"/>
          <p:nvPr/>
        </p:nvSpPr>
        <p:spPr>
          <a:xfrm>
            <a:off x="6032800" y="4261850"/>
            <a:ext cx="894000" cy="393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Traceability info</a:t>
            </a:r>
            <a:endParaRPr sz="1100"/>
          </a:p>
        </p:txBody>
      </p:sp>
      <p:cxnSp>
        <p:nvCxnSpPr>
          <p:cNvPr id="643" name="Google Shape;643;p38"/>
          <p:cNvCxnSpPr>
            <a:stCxn id="633" idx="2"/>
            <a:endCxn id="634" idx="0"/>
          </p:cNvCxnSpPr>
          <p:nvPr/>
        </p:nvCxnSpPr>
        <p:spPr>
          <a:xfrm>
            <a:off x="6129450" y="3060250"/>
            <a:ext cx="0" cy="74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44" name="Google Shape;6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92150"/>
            <a:ext cx="962999" cy="641502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38"/>
          <p:cNvSpPr txBox="1"/>
          <p:nvPr/>
        </p:nvSpPr>
        <p:spPr>
          <a:xfrm>
            <a:off x="6185200" y="4414250"/>
            <a:ext cx="894000" cy="393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Traceability info</a:t>
            </a:r>
            <a:endParaRPr sz="1100"/>
          </a:p>
        </p:txBody>
      </p:sp>
      <p:sp>
        <p:nvSpPr>
          <p:cNvPr id="646" name="Google Shape;646;p38"/>
          <p:cNvSpPr txBox="1"/>
          <p:nvPr/>
        </p:nvSpPr>
        <p:spPr>
          <a:xfrm>
            <a:off x="6337600" y="4566650"/>
            <a:ext cx="894000" cy="393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Traceability info</a:t>
            </a:r>
            <a:endParaRPr sz="1100"/>
          </a:p>
        </p:txBody>
      </p:sp>
      <p:sp>
        <p:nvSpPr>
          <p:cNvPr id="647" name="Google Shape;647;p38"/>
          <p:cNvSpPr txBox="1"/>
          <p:nvPr/>
        </p:nvSpPr>
        <p:spPr>
          <a:xfrm>
            <a:off x="6492575" y="3808025"/>
            <a:ext cx="1115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Massive queries</a:t>
            </a:r>
            <a:endParaRPr sz="1000"/>
          </a:p>
        </p:txBody>
      </p:sp>
      <p:sp>
        <p:nvSpPr>
          <p:cNvPr id="648" name="Google Shape;648;p38"/>
          <p:cNvSpPr txBox="1"/>
          <p:nvPr/>
        </p:nvSpPr>
        <p:spPr>
          <a:xfrm>
            <a:off x="2622350" y="2747950"/>
            <a:ext cx="2318400" cy="3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i="1"/>
              <a:t>“GET traceability for ECID A”</a:t>
            </a:r>
            <a:endParaRPr sz="1100" i="1"/>
          </a:p>
        </p:txBody>
      </p:sp>
      <p:sp>
        <p:nvSpPr>
          <p:cNvPr id="649" name="Google Shape;649;p38"/>
          <p:cNvSpPr/>
          <p:nvPr/>
        </p:nvSpPr>
        <p:spPr>
          <a:xfrm>
            <a:off x="7536400" y="1630550"/>
            <a:ext cx="1059000" cy="66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Formater</a:t>
            </a:r>
            <a:endParaRPr sz="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/>
              <a:t>GS1--&gt;Traceability format</a:t>
            </a:r>
            <a:endParaRPr sz="900"/>
          </a:p>
        </p:txBody>
      </p:sp>
      <p:cxnSp>
        <p:nvCxnSpPr>
          <p:cNvPr id="650" name="Google Shape;650;p38"/>
          <p:cNvCxnSpPr>
            <a:stCxn id="630" idx="3"/>
            <a:endCxn id="649" idx="0"/>
          </p:cNvCxnSpPr>
          <p:nvPr/>
        </p:nvCxnSpPr>
        <p:spPr>
          <a:xfrm>
            <a:off x="6926700" y="1203050"/>
            <a:ext cx="1139100" cy="42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51" name="Google Shape;651;p38"/>
          <p:cNvSpPr/>
          <p:nvPr/>
        </p:nvSpPr>
        <p:spPr>
          <a:xfrm>
            <a:off x="6896000" y="895900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3</a:t>
            </a:r>
            <a:endParaRPr/>
          </a:p>
        </p:txBody>
      </p:sp>
      <p:sp>
        <p:nvSpPr>
          <p:cNvPr id="652" name="Google Shape;652;p38"/>
          <p:cNvSpPr/>
          <p:nvPr/>
        </p:nvSpPr>
        <p:spPr>
          <a:xfrm>
            <a:off x="2484700" y="641425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2</a:t>
            </a:r>
            <a:endParaRPr/>
          </a:p>
        </p:txBody>
      </p:sp>
      <p:sp>
        <p:nvSpPr>
          <p:cNvPr id="653" name="Google Shape;653;p38"/>
          <p:cNvSpPr/>
          <p:nvPr/>
        </p:nvSpPr>
        <p:spPr>
          <a:xfrm>
            <a:off x="5579900" y="3220100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5</a:t>
            </a:r>
            <a:endParaRPr/>
          </a:p>
        </p:txBody>
      </p:sp>
      <p:pic>
        <p:nvPicPr>
          <p:cNvPr id="654" name="Google Shape;65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8150"/>
            <a:ext cx="962999" cy="641502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8"/>
          <p:cNvSpPr txBox="1"/>
          <p:nvPr/>
        </p:nvSpPr>
        <p:spPr>
          <a:xfrm>
            <a:off x="0" y="0"/>
            <a:ext cx="91440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Samples of current problematic possibly resolved by EyeCloud &gt; Traceability for EU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656" name="Google Shape;656;p38"/>
          <p:cNvCxnSpPr>
            <a:stCxn id="628" idx="2"/>
            <a:endCxn id="633" idx="1"/>
          </p:cNvCxnSpPr>
          <p:nvPr/>
        </p:nvCxnSpPr>
        <p:spPr>
          <a:xfrm>
            <a:off x="1741300" y="1537100"/>
            <a:ext cx="3858600" cy="118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57" name="Google Shape;657;p38"/>
          <p:cNvSpPr/>
          <p:nvPr/>
        </p:nvSpPr>
        <p:spPr>
          <a:xfrm>
            <a:off x="3166200" y="1817300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</a:t>
            </a:r>
            <a:endParaRPr/>
          </a:p>
        </p:txBody>
      </p:sp>
      <p:sp>
        <p:nvSpPr>
          <p:cNvPr id="658" name="Google Shape;658;p38"/>
          <p:cNvSpPr/>
          <p:nvPr/>
        </p:nvSpPr>
        <p:spPr>
          <a:xfrm>
            <a:off x="4542100" y="641425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2</a:t>
            </a:r>
            <a:endParaRPr/>
          </a:p>
        </p:txBody>
      </p:sp>
      <p:sp>
        <p:nvSpPr>
          <p:cNvPr id="659" name="Google Shape;659;p38"/>
          <p:cNvSpPr/>
          <p:nvPr/>
        </p:nvSpPr>
        <p:spPr>
          <a:xfrm>
            <a:off x="5604600" y="1741100"/>
            <a:ext cx="491700" cy="427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4</a:t>
            </a:r>
            <a:endParaRPr/>
          </a:p>
        </p:txBody>
      </p:sp>
      <p:pic>
        <p:nvPicPr>
          <p:cNvPr id="660" name="Google Shape;66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625" y="3194475"/>
            <a:ext cx="3172138" cy="174103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8"/>
          <p:cNvSpPr/>
          <p:nvPr/>
        </p:nvSpPr>
        <p:spPr>
          <a:xfrm>
            <a:off x="5257150" y="3631525"/>
            <a:ext cx="2318400" cy="1399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9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24</a:t>
            </a:fld>
            <a:endParaRPr/>
          </a:p>
        </p:txBody>
      </p:sp>
      <p:sp>
        <p:nvSpPr>
          <p:cNvPr id="668" name="Google Shape;668;p39"/>
          <p:cNvSpPr txBox="1"/>
          <p:nvPr/>
        </p:nvSpPr>
        <p:spPr>
          <a:xfrm>
            <a:off x="3021450" y="2371650"/>
            <a:ext cx="310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Sample 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0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25</a:t>
            </a:fld>
            <a:endParaRPr/>
          </a:p>
        </p:txBody>
      </p:sp>
      <p:sp>
        <p:nvSpPr>
          <p:cNvPr id="675" name="Google Shape;675;p40"/>
          <p:cNvSpPr/>
          <p:nvPr/>
        </p:nvSpPr>
        <p:spPr>
          <a:xfrm>
            <a:off x="0" y="0"/>
            <a:ext cx="9144000" cy="507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</a:endParaRPr>
          </a:p>
        </p:txBody>
      </p:sp>
      <p:sp>
        <p:nvSpPr>
          <p:cNvPr id="676" name="Google Shape;676;p40"/>
          <p:cNvSpPr txBox="1"/>
          <p:nvPr/>
        </p:nvSpPr>
        <p:spPr>
          <a:xfrm>
            <a:off x="0" y="0"/>
            <a:ext cx="91440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Samples of current problematic possibly resolved by EyeCloud &gt; CCS improve 1/2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677" name="Google Shape;677;p40"/>
          <p:cNvCxnSpPr>
            <a:stCxn id="678" idx="2"/>
            <a:endCxn id="679" idx="1"/>
          </p:cNvCxnSpPr>
          <p:nvPr/>
        </p:nvCxnSpPr>
        <p:spPr>
          <a:xfrm>
            <a:off x="750161" y="3037873"/>
            <a:ext cx="3129900" cy="918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80" name="Google Shape;680;p40"/>
          <p:cNvSpPr/>
          <p:nvPr/>
        </p:nvSpPr>
        <p:spPr>
          <a:xfrm>
            <a:off x="6232521" y="3821538"/>
            <a:ext cx="642000" cy="347100"/>
          </a:xfrm>
          <a:prstGeom prst="roundRect">
            <a:avLst>
              <a:gd name="adj" fmla="val 16667"/>
            </a:avLst>
          </a:prstGeom>
          <a:solidFill>
            <a:srgbClr val="D5A6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Calc.E</a:t>
            </a:r>
            <a:endParaRPr sz="1000"/>
          </a:p>
        </p:txBody>
      </p:sp>
      <p:sp>
        <p:nvSpPr>
          <p:cNvPr id="681" name="Google Shape;681;p40"/>
          <p:cNvSpPr/>
          <p:nvPr/>
        </p:nvSpPr>
        <p:spPr>
          <a:xfrm>
            <a:off x="5851521" y="3591975"/>
            <a:ext cx="642000" cy="3471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rgbClr val="FFFFFF"/>
                </a:solidFill>
              </a:rPr>
              <a:t>Calc.D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682" name="Google Shape;682;p40"/>
          <p:cNvSpPr txBox="1"/>
          <p:nvPr/>
        </p:nvSpPr>
        <p:spPr>
          <a:xfrm>
            <a:off x="2184250" y="4168650"/>
            <a:ext cx="39624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/>
              <a:t>Use case: Result(A)=Result(B) &lt;&gt; Result(C)</a:t>
            </a:r>
            <a:endParaRPr b="1"/>
          </a:p>
        </p:txBody>
      </p:sp>
      <p:sp>
        <p:nvSpPr>
          <p:cNvPr id="683" name="Google Shape;683;p40"/>
          <p:cNvSpPr/>
          <p:nvPr/>
        </p:nvSpPr>
        <p:spPr>
          <a:xfrm>
            <a:off x="1688046" y="3264675"/>
            <a:ext cx="642000" cy="347100"/>
          </a:xfrm>
          <a:prstGeom prst="roundRect">
            <a:avLst>
              <a:gd name="adj" fmla="val 16667"/>
            </a:avLst>
          </a:prstGeom>
          <a:solidFill>
            <a:srgbClr val="D5A6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Calc.A</a:t>
            </a:r>
            <a:endParaRPr sz="1000"/>
          </a:p>
        </p:txBody>
      </p:sp>
      <p:pic>
        <p:nvPicPr>
          <p:cNvPr id="678" name="Google Shape;678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032" y="2682495"/>
            <a:ext cx="460257" cy="355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3825" y="2646475"/>
            <a:ext cx="855250" cy="428532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0"/>
          <p:cNvSpPr txBox="1"/>
          <p:nvPr/>
        </p:nvSpPr>
        <p:spPr>
          <a:xfrm>
            <a:off x="7652763" y="2335388"/>
            <a:ext cx="9144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ECP shop</a:t>
            </a:r>
            <a:endParaRPr sz="800"/>
          </a:p>
        </p:txBody>
      </p:sp>
      <p:sp>
        <p:nvSpPr>
          <p:cNvPr id="686" name="Google Shape;686;p40"/>
          <p:cNvSpPr txBox="1"/>
          <p:nvPr/>
        </p:nvSpPr>
        <p:spPr>
          <a:xfrm>
            <a:off x="217875" y="3037863"/>
            <a:ext cx="9144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Opsys Web</a:t>
            </a:r>
            <a:endParaRPr sz="800"/>
          </a:p>
        </p:txBody>
      </p:sp>
      <p:cxnSp>
        <p:nvCxnSpPr>
          <p:cNvPr id="687" name="Google Shape;687;p40"/>
          <p:cNvCxnSpPr>
            <a:stCxn id="678" idx="3"/>
            <a:endCxn id="688" idx="1"/>
          </p:cNvCxnSpPr>
          <p:nvPr/>
        </p:nvCxnSpPr>
        <p:spPr>
          <a:xfrm>
            <a:off x="980289" y="2860184"/>
            <a:ext cx="1149000" cy="7800"/>
          </a:xfrm>
          <a:prstGeom prst="curvedConnector3">
            <a:avLst>
              <a:gd name="adj1" fmla="val 49994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89" name="Google Shape;689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6300" y="2613425"/>
            <a:ext cx="460275" cy="48151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40"/>
          <p:cNvSpPr txBox="1"/>
          <p:nvPr/>
        </p:nvSpPr>
        <p:spPr>
          <a:xfrm>
            <a:off x="3429713" y="3037875"/>
            <a:ext cx="9144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Orchestra</a:t>
            </a:r>
            <a:endParaRPr sz="800"/>
          </a:p>
        </p:txBody>
      </p:sp>
      <p:sp>
        <p:nvSpPr>
          <p:cNvPr id="691" name="Google Shape;691;p40"/>
          <p:cNvSpPr txBox="1"/>
          <p:nvPr/>
        </p:nvSpPr>
        <p:spPr>
          <a:xfrm>
            <a:off x="5555163" y="3037863"/>
            <a:ext cx="9144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Inlab</a:t>
            </a:r>
            <a:endParaRPr sz="800"/>
          </a:p>
        </p:txBody>
      </p:sp>
      <p:sp>
        <p:nvSpPr>
          <p:cNvPr id="688" name="Google Shape;688;p40"/>
          <p:cNvSpPr/>
          <p:nvPr/>
        </p:nvSpPr>
        <p:spPr>
          <a:xfrm>
            <a:off x="2129150" y="2653750"/>
            <a:ext cx="720900" cy="428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Generix</a:t>
            </a:r>
            <a:endParaRPr sz="1000"/>
          </a:p>
        </p:txBody>
      </p:sp>
      <p:pic>
        <p:nvPicPr>
          <p:cNvPr id="692" name="Google Shape;692;p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27175" y="2574875"/>
            <a:ext cx="570375" cy="58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3" name="Google Shape;693;p40"/>
          <p:cNvCxnSpPr>
            <a:stCxn id="688" idx="3"/>
            <a:endCxn id="689" idx="1"/>
          </p:cNvCxnSpPr>
          <p:nvPr/>
        </p:nvCxnSpPr>
        <p:spPr>
          <a:xfrm rot="10800000" flipH="1">
            <a:off x="2850050" y="2854150"/>
            <a:ext cx="1106400" cy="13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4" name="Google Shape;694;p40"/>
          <p:cNvCxnSpPr>
            <a:stCxn id="689" idx="3"/>
            <a:endCxn id="692" idx="1"/>
          </p:cNvCxnSpPr>
          <p:nvPr/>
        </p:nvCxnSpPr>
        <p:spPr>
          <a:xfrm>
            <a:off x="4416575" y="2854184"/>
            <a:ext cx="1310700" cy="13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79" name="Google Shape;679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9950" y="3787618"/>
            <a:ext cx="642000" cy="336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5" name="Google Shape;695;p40"/>
          <p:cNvCxnSpPr>
            <a:stCxn id="689" idx="2"/>
            <a:endCxn id="679" idx="0"/>
          </p:cNvCxnSpPr>
          <p:nvPr/>
        </p:nvCxnSpPr>
        <p:spPr>
          <a:xfrm>
            <a:off x="4186438" y="3094944"/>
            <a:ext cx="14400" cy="692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96" name="Google Shape;696;p40"/>
          <p:cNvCxnSpPr>
            <a:stCxn id="692" idx="2"/>
            <a:endCxn id="679" idx="3"/>
          </p:cNvCxnSpPr>
          <p:nvPr/>
        </p:nvCxnSpPr>
        <p:spPr>
          <a:xfrm flipH="1">
            <a:off x="4521962" y="3159699"/>
            <a:ext cx="1490400" cy="796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97" name="Google Shape;697;p40"/>
          <p:cNvCxnSpPr>
            <a:stCxn id="692" idx="3"/>
            <a:endCxn id="684" idx="1"/>
          </p:cNvCxnSpPr>
          <p:nvPr/>
        </p:nvCxnSpPr>
        <p:spPr>
          <a:xfrm rot="10800000" flipH="1">
            <a:off x="6297550" y="2860687"/>
            <a:ext cx="1356300" cy="6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8" name="Google Shape;698;p40"/>
          <p:cNvSpPr/>
          <p:nvPr/>
        </p:nvSpPr>
        <p:spPr>
          <a:xfrm>
            <a:off x="3904396" y="3267738"/>
            <a:ext cx="642000" cy="347100"/>
          </a:xfrm>
          <a:prstGeom prst="roundRect">
            <a:avLst>
              <a:gd name="adj" fmla="val 16667"/>
            </a:avLst>
          </a:prstGeom>
          <a:solidFill>
            <a:srgbClr val="D5A6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Calc.B</a:t>
            </a:r>
            <a:endParaRPr sz="1000"/>
          </a:p>
        </p:txBody>
      </p:sp>
      <p:sp>
        <p:nvSpPr>
          <p:cNvPr id="699" name="Google Shape;699;p40"/>
          <p:cNvSpPr/>
          <p:nvPr/>
        </p:nvSpPr>
        <p:spPr>
          <a:xfrm>
            <a:off x="5504596" y="3267738"/>
            <a:ext cx="642000" cy="347100"/>
          </a:xfrm>
          <a:prstGeom prst="roundRect">
            <a:avLst>
              <a:gd name="adj" fmla="val 16667"/>
            </a:avLst>
          </a:prstGeom>
          <a:solidFill>
            <a:srgbClr val="D5A6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Calc.C</a:t>
            </a:r>
            <a:endParaRPr sz="1000"/>
          </a:p>
        </p:txBody>
      </p:sp>
      <p:grpSp>
        <p:nvGrpSpPr>
          <p:cNvPr id="700" name="Google Shape;700;p40"/>
          <p:cNvGrpSpPr/>
          <p:nvPr/>
        </p:nvGrpSpPr>
        <p:grpSpPr>
          <a:xfrm>
            <a:off x="6475300" y="901825"/>
            <a:ext cx="2123724" cy="1099200"/>
            <a:chOff x="6703900" y="1511425"/>
            <a:chExt cx="2123724" cy="1099200"/>
          </a:xfrm>
        </p:grpSpPr>
        <p:sp>
          <p:nvSpPr>
            <p:cNvPr id="701" name="Google Shape;701;p40"/>
            <p:cNvSpPr/>
            <p:nvPr/>
          </p:nvSpPr>
          <p:spPr>
            <a:xfrm>
              <a:off x="6703900" y="1511425"/>
              <a:ext cx="1903200" cy="1099200"/>
            </a:xfrm>
            <a:prstGeom prst="wedgeRoundRectCallout">
              <a:avLst>
                <a:gd name="adj1" fmla="val 18292"/>
                <a:gd name="adj2" fmla="val 88760"/>
                <a:gd name="adj3" fmla="val 0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/>
                <a:t>Why my lens doesn’t have the same properties (calculation results) as expected ?</a:t>
              </a:r>
              <a:endParaRPr sz="1200"/>
            </a:p>
          </p:txBody>
        </p:sp>
        <p:pic>
          <p:nvPicPr>
            <p:cNvPr id="702" name="Google Shape;702;p4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363225" y="1765225"/>
              <a:ext cx="464399" cy="4643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3" name="Google Shape;703;p40"/>
          <p:cNvSpPr txBox="1"/>
          <p:nvPr/>
        </p:nvSpPr>
        <p:spPr>
          <a:xfrm>
            <a:off x="6914425" y="3373725"/>
            <a:ext cx="1543200" cy="783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000000"/>
                </a:solidFill>
              </a:rPr>
              <a:t>Calculation D is the one from which the lenses are produced</a:t>
            </a:r>
            <a:endParaRPr sz="800">
              <a:solidFill>
                <a:srgbClr val="000000"/>
              </a:solidFill>
            </a:endParaRPr>
          </a:p>
        </p:txBody>
      </p:sp>
      <p:cxnSp>
        <p:nvCxnSpPr>
          <p:cNvPr id="704" name="Google Shape;704;p40"/>
          <p:cNvCxnSpPr>
            <a:stCxn id="703" idx="1"/>
            <a:endCxn id="681" idx="3"/>
          </p:cNvCxnSpPr>
          <p:nvPr/>
        </p:nvCxnSpPr>
        <p:spPr>
          <a:xfrm rot="10800000">
            <a:off x="6493525" y="3765525"/>
            <a:ext cx="42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05" name="Google Shape;705;p40"/>
          <p:cNvGrpSpPr/>
          <p:nvPr/>
        </p:nvGrpSpPr>
        <p:grpSpPr>
          <a:xfrm>
            <a:off x="6493521" y="2118238"/>
            <a:ext cx="846229" cy="783734"/>
            <a:chOff x="6722121" y="2727838"/>
            <a:chExt cx="846229" cy="783734"/>
          </a:xfrm>
        </p:grpSpPr>
        <p:sp>
          <p:nvSpPr>
            <p:cNvPr id="706" name="Google Shape;706;p40"/>
            <p:cNvSpPr/>
            <p:nvPr/>
          </p:nvSpPr>
          <p:spPr>
            <a:xfrm>
              <a:off x="6722121" y="2727838"/>
              <a:ext cx="642000" cy="347100"/>
            </a:xfrm>
            <a:prstGeom prst="roundRect">
              <a:avLst>
                <a:gd name="adj" fmla="val 16667"/>
              </a:avLst>
            </a:prstGeom>
            <a:solidFill>
              <a:srgbClr val="0B5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>
                  <a:solidFill>
                    <a:srgbClr val="FFFFFF"/>
                  </a:solidFill>
                </a:rPr>
                <a:t>Calc.D</a:t>
              </a:r>
              <a:endParaRPr sz="1000">
                <a:solidFill>
                  <a:srgbClr val="FFFFFF"/>
                </a:solidFill>
              </a:endParaRPr>
            </a:p>
          </p:txBody>
        </p:sp>
        <p:pic>
          <p:nvPicPr>
            <p:cNvPr id="707" name="Google Shape;707;p4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992625" y="2922546"/>
              <a:ext cx="423325" cy="436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8" name="Google Shape;708;p4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145025" y="3074946"/>
              <a:ext cx="423325" cy="4366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9" name="Google Shape;709;p40"/>
          <p:cNvGrpSpPr/>
          <p:nvPr/>
        </p:nvGrpSpPr>
        <p:grpSpPr>
          <a:xfrm>
            <a:off x="2534600" y="897625"/>
            <a:ext cx="2117445" cy="1157017"/>
            <a:chOff x="2763200" y="1507225"/>
            <a:chExt cx="2117445" cy="1157017"/>
          </a:xfrm>
        </p:grpSpPr>
        <p:sp>
          <p:nvSpPr>
            <p:cNvPr id="710" name="Google Shape;710;p40"/>
            <p:cNvSpPr/>
            <p:nvPr/>
          </p:nvSpPr>
          <p:spPr>
            <a:xfrm>
              <a:off x="2763200" y="1507225"/>
              <a:ext cx="2011800" cy="1099200"/>
            </a:xfrm>
            <a:prstGeom prst="wedgeRoundRectCallout">
              <a:avLst>
                <a:gd name="adj1" fmla="val 21264"/>
                <a:gd name="adj2" fmla="val 97707"/>
                <a:gd name="adj3" fmla="val 0"/>
              </a:avLst>
            </a:prstGeom>
            <a:solidFill>
              <a:srgbClr val="CFE2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/>
                <a:t>Sorry dear client….we’ll make you an adjustment.  </a:t>
              </a:r>
              <a:endParaRPr sz="12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/>
                <a:t>-€ for Essilor</a:t>
              </a:r>
              <a:endParaRPr sz="12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/>
                <a:t>+€ for ECP</a:t>
              </a:r>
              <a:endParaRPr sz="1200"/>
            </a:p>
          </p:txBody>
        </p:sp>
        <p:pic>
          <p:nvPicPr>
            <p:cNvPr id="711" name="Google Shape;711;p4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459745" y="2230701"/>
              <a:ext cx="420899" cy="4335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1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26</a:t>
            </a:fld>
            <a:endParaRPr/>
          </a:p>
        </p:txBody>
      </p:sp>
      <p:sp>
        <p:nvSpPr>
          <p:cNvPr id="718" name="Google Shape;718;p41"/>
          <p:cNvSpPr/>
          <p:nvPr/>
        </p:nvSpPr>
        <p:spPr>
          <a:xfrm>
            <a:off x="0" y="0"/>
            <a:ext cx="9144000" cy="507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</a:endParaRPr>
          </a:p>
        </p:txBody>
      </p:sp>
      <p:sp>
        <p:nvSpPr>
          <p:cNvPr id="719" name="Google Shape;719;p41"/>
          <p:cNvSpPr txBox="1"/>
          <p:nvPr/>
        </p:nvSpPr>
        <p:spPr>
          <a:xfrm>
            <a:off x="0" y="0"/>
            <a:ext cx="91440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Samples of current problematic possibly resolved by EyeCloud &gt; CCS improve 2/2</a:t>
            </a:r>
            <a:endParaRPr sz="2000" b="1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pic>
        <p:nvPicPr>
          <p:cNvPr id="720" name="Google Shape;72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9856" y="891737"/>
            <a:ext cx="898932" cy="535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9856" y="1882337"/>
            <a:ext cx="898932" cy="5353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2" name="Google Shape;722;p41"/>
          <p:cNvCxnSpPr>
            <a:stCxn id="723" idx="2"/>
          </p:cNvCxnSpPr>
          <p:nvPr/>
        </p:nvCxnSpPr>
        <p:spPr>
          <a:xfrm>
            <a:off x="2641348" y="1327048"/>
            <a:ext cx="0" cy="6495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24" name="Google Shape;724;p41"/>
          <p:cNvSpPr txBox="1"/>
          <p:nvPr/>
        </p:nvSpPr>
        <p:spPr>
          <a:xfrm>
            <a:off x="2277000" y="1494225"/>
            <a:ext cx="448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UEID</a:t>
            </a:r>
            <a:endParaRPr sz="800"/>
          </a:p>
        </p:txBody>
      </p:sp>
      <p:pic>
        <p:nvPicPr>
          <p:cNvPr id="725" name="Google Shape;725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0350" y="2735775"/>
            <a:ext cx="642000" cy="65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9856" y="2793614"/>
            <a:ext cx="898932" cy="5353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7" name="Google Shape;727;p41"/>
          <p:cNvCxnSpPr>
            <a:endCxn id="725" idx="0"/>
          </p:cNvCxnSpPr>
          <p:nvPr/>
        </p:nvCxnSpPr>
        <p:spPr>
          <a:xfrm flipH="1">
            <a:off x="2641350" y="2399775"/>
            <a:ext cx="5400" cy="336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28" name="Google Shape;728;p41"/>
          <p:cNvSpPr txBox="1"/>
          <p:nvPr/>
        </p:nvSpPr>
        <p:spPr>
          <a:xfrm>
            <a:off x="2277000" y="2332425"/>
            <a:ext cx="448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UEID</a:t>
            </a:r>
            <a:endParaRPr sz="800"/>
          </a:p>
        </p:txBody>
      </p:sp>
      <p:pic>
        <p:nvPicPr>
          <p:cNvPr id="729" name="Google Shape;729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75318" y="3656105"/>
            <a:ext cx="759688" cy="7836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0" name="Google Shape;730;p41"/>
          <p:cNvCxnSpPr>
            <a:stCxn id="731" idx="1"/>
            <a:endCxn id="729" idx="1"/>
          </p:cNvCxnSpPr>
          <p:nvPr/>
        </p:nvCxnSpPr>
        <p:spPr>
          <a:xfrm flipH="1">
            <a:off x="2275300" y="2182793"/>
            <a:ext cx="212100" cy="1865100"/>
          </a:xfrm>
          <a:prstGeom prst="curvedConnector3">
            <a:avLst>
              <a:gd name="adj1" fmla="val 212261"/>
            </a:avLst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pic>
        <p:nvPicPr>
          <p:cNvPr id="732" name="Google Shape;73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9856" y="3780241"/>
            <a:ext cx="898932" cy="535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30000" y="4061362"/>
            <a:ext cx="527700" cy="5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100" y="3887075"/>
            <a:ext cx="855250" cy="4285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5" name="Google Shape;735;p41"/>
          <p:cNvGrpSpPr/>
          <p:nvPr/>
        </p:nvGrpSpPr>
        <p:grpSpPr>
          <a:xfrm>
            <a:off x="2962456" y="847475"/>
            <a:ext cx="5096669" cy="869100"/>
            <a:chOff x="3038656" y="1228475"/>
            <a:chExt cx="5096669" cy="869100"/>
          </a:xfrm>
        </p:grpSpPr>
        <p:grpSp>
          <p:nvGrpSpPr>
            <p:cNvPr id="736" name="Google Shape;736;p41"/>
            <p:cNvGrpSpPr/>
            <p:nvPr/>
          </p:nvGrpSpPr>
          <p:grpSpPr>
            <a:xfrm>
              <a:off x="3038656" y="1272725"/>
              <a:ext cx="3317400" cy="693700"/>
              <a:chOff x="2810056" y="1272725"/>
              <a:chExt cx="3317400" cy="693700"/>
            </a:xfrm>
          </p:grpSpPr>
          <p:cxnSp>
            <p:nvCxnSpPr>
              <p:cNvPr id="737" name="Google Shape;737;p41"/>
              <p:cNvCxnSpPr>
                <a:endCxn id="720" idx="1"/>
              </p:cNvCxnSpPr>
              <p:nvPr/>
            </p:nvCxnSpPr>
            <p:spPr>
              <a:xfrm>
                <a:off x="2810056" y="1540419"/>
                <a:ext cx="3317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738" name="Google Shape;738;p41"/>
              <p:cNvSpPr txBox="1"/>
              <p:nvPr/>
            </p:nvSpPr>
            <p:spPr>
              <a:xfrm>
                <a:off x="3867200" y="1272725"/>
                <a:ext cx="1033500" cy="32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800"/>
                  <a:t>Ask for new UEID</a:t>
                </a:r>
                <a:endParaRPr sz="800"/>
              </a:p>
            </p:txBody>
          </p:sp>
          <p:sp>
            <p:nvSpPr>
              <p:cNvPr id="739" name="Google Shape;739;p41"/>
              <p:cNvSpPr txBox="1"/>
              <p:nvPr/>
            </p:nvSpPr>
            <p:spPr>
              <a:xfrm>
                <a:off x="3350600" y="1754625"/>
                <a:ext cx="2236200" cy="21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800">
                    <a:solidFill>
                      <a:srgbClr val="000000"/>
                    </a:solidFill>
                  </a:rPr>
                  <a:t>Post doc and metadata on UEID</a:t>
                </a:r>
                <a:endParaRPr sz="800">
                  <a:solidFill>
                    <a:srgbClr val="000000"/>
                  </a:solidFill>
                </a:endParaRPr>
              </a:p>
            </p:txBody>
          </p:sp>
          <p:sp>
            <p:nvSpPr>
              <p:cNvPr id="740" name="Google Shape;740;p41"/>
              <p:cNvSpPr txBox="1"/>
              <p:nvPr/>
            </p:nvSpPr>
            <p:spPr>
              <a:xfrm>
                <a:off x="3867200" y="1501325"/>
                <a:ext cx="1033500" cy="32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800"/>
                  <a:t>New UEID</a:t>
                </a:r>
                <a:endParaRPr sz="800"/>
              </a:p>
            </p:txBody>
          </p:sp>
        </p:grpSp>
        <p:sp>
          <p:nvSpPr>
            <p:cNvPr id="741" name="Google Shape;741;p41"/>
            <p:cNvSpPr txBox="1"/>
            <p:nvPr/>
          </p:nvSpPr>
          <p:spPr>
            <a:xfrm>
              <a:off x="7280025" y="1228475"/>
              <a:ext cx="855300" cy="869100"/>
            </a:xfrm>
            <a:prstGeom prst="rect">
              <a:avLst/>
            </a:prstGeom>
            <a:solidFill>
              <a:srgbClr val="F1C232"/>
            </a:solidFill>
            <a:ln w="9525" cap="flat" cmpd="sng">
              <a:solidFill>
                <a:srgbClr val="BF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700"/>
                <a:t>UEID</a:t>
              </a:r>
              <a:endParaRPr sz="7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700"/>
                <a:t>….Metadata</a:t>
              </a:r>
              <a:endParaRPr sz="7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700"/>
                <a:t>………AAAA</a:t>
              </a:r>
              <a:endParaRPr sz="7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700">
                  <a:solidFill>
                    <a:srgbClr val="000000"/>
                  </a:solidFill>
                </a:rPr>
                <a:t>………BBBB</a:t>
              </a:r>
              <a:endParaRPr sz="700">
                <a:solidFill>
                  <a:srgbClr val="000000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700">
                  <a:solidFill>
                    <a:srgbClr val="000000"/>
                  </a:solidFill>
                </a:rPr>
                <a:t>….Document</a:t>
              </a:r>
              <a:endParaRPr sz="700" b="1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700">
                  <a:solidFill>
                    <a:srgbClr val="000000"/>
                  </a:solidFill>
                </a:rPr>
                <a:t>………</a:t>
              </a:r>
              <a:r>
                <a:rPr lang="fr-FR" sz="700" b="1">
                  <a:solidFill>
                    <a:srgbClr val="000000"/>
                  </a:solidFill>
                </a:rPr>
                <a:t>Calcul A</a:t>
              </a:r>
              <a:endParaRPr sz="700">
                <a:solidFill>
                  <a:srgbClr val="000000"/>
                </a:solidFill>
              </a:endParaRPr>
            </a:p>
          </p:txBody>
        </p:sp>
      </p:grpSp>
      <p:grpSp>
        <p:nvGrpSpPr>
          <p:cNvPr id="742" name="Google Shape;742;p41"/>
          <p:cNvGrpSpPr/>
          <p:nvPr/>
        </p:nvGrpSpPr>
        <p:grpSpPr>
          <a:xfrm>
            <a:off x="1219200" y="2399475"/>
            <a:ext cx="7804050" cy="1256700"/>
            <a:chOff x="1295400" y="2780475"/>
            <a:chExt cx="7804050" cy="1256700"/>
          </a:xfrm>
        </p:grpSpPr>
        <p:pic>
          <p:nvPicPr>
            <p:cNvPr id="743" name="Google Shape;743;p4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295400" y="3274093"/>
              <a:ext cx="642000" cy="33640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44" name="Google Shape;744;p41"/>
            <p:cNvCxnSpPr>
              <a:stCxn id="725" idx="1"/>
              <a:endCxn id="743" idx="3"/>
            </p:cNvCxnSpPr>
            <p:nvPr/>
          </p:nvCxnSpPr>
          <p:spPr>
            <a:xfrm rot="10800000">
              <a:off x="1937250" y="3442306"/>
              <a:ext cx="459300" cy="3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745" name="Google Shape;745;p41"/>
            <p:cNvGrpSpPr/>
            <p:nvPr/>
          </p:nvGrpSpPr>
          <p:grpSpPr>
            <a:xfrm>
              <a:off x="3038550" y="2780475"/>
              <a:ext cx="6060900" cy="1256700"/>
              <a:chOff x="3038550" y="2780475"/>
              <a:chExt cx="6060900" cy="1256700"/>
            </a:xfrm>
          </p:grpSpPr>
          <p:grpSp>
            <p:nvGrpSpPr>
              <p:cNvPr id="746" name="Google Shape;746;p41"/>
              <p:cNvGrpSpPr/>
              <p:nvPr/>
            </p:nvGrpSpPr>
            <p:grpSpPr>
              <a:xfrm>
                <a:off x="3038550" y="3177725"/>
                <a:ext cx="3317400" cy="268181"/>
                <a:chOff x="2809950" y="3177725"/>
                <a:chExt cx="3317400" cy="268181"/>
              </a:xfrm>
            </p:grpSpPr>
            <p:cxnSp>
              <p:nvCxnSpPr>
                <p:cNvPr id="747" name="Google Shape;747;p41"/>
                <p:cNvCxnSpPr>
                  <a:stCxn id="725" idx="3"/>
                  <a:endCxn id="726" idx="1"/>
                </p:cNvCxnSpPr>
                <p:nvPr/>
              </p:nvCxnSpPr>
              <p:spPr>
                <a:xfrm rot="10800000" flipH="1">
                  <a:off x="2809950" y="3442306"/>
                  <a:ext cx="3317400" cy="3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748" name="Google Shape;748;p41"/>
                <p:cNvSpPr txBox="1"/>
                <p:nvPr/>
              </p:nvSpPr>
              <p:spPr>
                <a:xfrm>
                  <a:off x="3420625" y="3177725"/>
                  <a:ext cx="2236200" cy="211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-FR" sz="800">
                      <a:solidFill>
                        <a:srgbClr val="000000"/>
                      </a:solidFill>
                    </a:rPr>
                    <a:t>Post calc.result and metadata on UEID</a:t>
                  </a:r>
                  <a:endParaRPr sz="80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749" name="Google Shape;749;p41"/>
              <p:cNvSpPr txBox="1"/>
              <p:nvPr/>
            </p:nvSpPr>
            <p:spPr>
              <a:xfrm>
                <a:off x="8200650" y="2780475"/>
                <a:ext cx="898800" cy="1256700"/>
              </a:xfrm>
              <a:prstGeom prst="rect">
                <a:avLst/>
              </a:prstGeom>
              <a:solidFill>
                <a:srgbClr val="F1C232"/>
              </a:solidFill>
              <a:ln w="9525" cap="flat" cmpd="sng">
                <a:solidFill>
                  <a:srgbClr val="BF9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/>
                  <a:t>UEID</a:t>
                </a:r>
                <a:endParaRPr sz="70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/>
                  <a:t>….Metadata</a:t>
                </a:r>
                <a:endParaRPr sz="70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/>
                  <a:t>………AAAA</a:t>
                </a:r>
                <a:endParaRPr sz="70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>
                    <a:solidFill>
                      <a:srgbClr val="000000"/>
                    </a:solidFill>
                  </a:rPr>
                  <a:t>………BBBB</a:t>
                </a:r>
                <a:endParaRPr sz="700">
                  <a:solidFill>
                    <a:srgbClr val="000000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>
                    <a:solidFill>
                      <a:srgbClr val="000000"/>
                    </a:solidFill>
                  </a:rPr>
                  <a:t>….Document</a:t>
                </a:r>
                <a:endParaRPr sz="700" b="1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>
                    <a:solidFill>
                      <a:srgbClr val="000000"/>
                    </a:solidFill>
                  </a:rPr>
                  <a:t>………</a:t>
                </a:r>
                <a:r>
                  <a:rPr lang="fr-FR" sz="700" b="1">
                    <a:solidFill>
                      <a:srgbClr val="000000"/>
                    </a:solidFill>
                  </a:rPr>
                  <a:t>Calcul A</a:t>
                </a:r>
                <a:endParaRPr sz="700" b="1">
                  <a:solidFill>
                    <a:srgbClr val="000000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>
                    <a:solidFill>
                      <a:srgbClr val="000000"/>
                    </a:solidFill>
                  </a:rPr>
                  <a:t>………</a:t>
                </a:r>
                <a:r>
                  <a:rPr lang="fr-FR" sz="700" b="1">
                    <a:solidFill>
                      <a:srgbClr val="000000"/>
                    </a:solidFill>
                  </a:rPr>
                  <a:t>Calcul B</a:t>
                </a:r>
                <a:endParaRPr sz="700" b="1">
                  <a:solidFill>
                    <a:srgbClr val="000000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-FR" sz="700">
                    <a:solidFill>
                      <a:srgbClr val="000000"/>
                    </a:solidFill>
                  </a:rPr>
                  <a:t>………</a:t>
                </a:r>
                <a:r>
                  <a:rPr lang="fr-FR" sz="700" b="1">
                    <a:solidFill>
                      <a:srgbClr val="000000"/>
                    </a:solidFill>
                  </a:rPr>
                  <a:t>Calcul C</a:t>
                </a:r>
                <a:endParaRPr sz="700" b="1">
                  <a:solidFill>
                    <a:srgbClr val="000000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>
                    <a:solidFill>
                      <a:srgbClr val="000000"/>
                    </a:solidFill>
                  </a:rPr>
                  <a:t>………</a:t>
                </a:r>
                <a:r>
                  <a:rPr lang="fr-FR" sz="700" b="1">
                    <a:solidFill>
                      <a:srgbClr val="38761D"/>
                    </a:solidFill>
                  </a:rPr>
                  <a:t>Calcul D</a:t>
                </a:r>
                <a:endParaRPr sz="700" b="1">
                  <a:solidFill>
                    <a:srgbClr val="38761D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 b="1">
                    <a:solidFill>
                      <a:srgbClr val="000000"/>
                    </a:solidFill>
                  </a:rPr>
                  <a:t>…</a:t>
                </a:r>
                <a:endParaRPr sz="700" b="1">
                  <a:solidFill>
                    <a:srgbClr val="000000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>
                    <a:solidFill>
                      <a:srgbClr val="000000"/>
                    </a:solidFill>
                  </a:rPr>
                  <a:t>………</a:t>
                </a:r>
                <a:r>
                  <a:rPr lang="fr-FR" sz="700" b="1">
                    <a:solidFill>
                      <a:srgbClr val="000000"/>
                    </a:solidFill>
                  </a:rPr>
                  <a:t>Calcul n</a:t>
                </a:r>
                <a:endParaRPr sz="700" b="1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750" name="Google Shape;750;p41"/>
          <p:cNvSpPr/>
          <p:nvPr/>
        </p:nvSpPr>
        <p:spPr>
          <a:xfrm>
            <a:off x="130825" y="2399475"/>
            <a:ext cx="1903200" cy="1099200"/>
          </a:xfrm>
          <a:prstGeom prst="wedgeRoundRectCallout">
            <a:avLst>
              <a:gd name="adj1" fmla="val -18541"/>
              <a:gd name="adj2" fmla="val 82851"/>
              <a:gd name="adj3" fmla="val 0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Why my lens doesn’t have the same properties (calculation result D) as expected ?</a:t>
            </a:r>
            <a:endParaRPr sz="1200"/>
          </a:p>
        </p:txBody>
      </p:sp>
      <p:grpSp>
        <p:nvGrpSpPr>
          <p:cNvPr id="751" name="Google Shape;751;p41"/>
          <p:cNvGrpSpPr/>
          <p:nvPr/>
        </p:nvGrpSpPr>
        <p:grpSpPr>
          <a:xfrm>
            <a:off x="2947350" y="2505525"/>
            <a:ext cx="3332506" cy="2094975"/>
            <a:chOff x="3023550" y="2886525"/>
            <a:chExt cx="3332506" cy="2094975"/>
          </a:xfrm>
        </p:grpSpPr>
        <p:grpSp>
          <p:nvGrpSpPr>
            <p:cNvPr id="752" name="Google Shape;752;p41"/>
            <p:cNvGrpSpPr/>
            <p:nvPr/>
          </p:nvGrpSpPr>
          <p:grpSpPr>
            <a:xfrm>
              <a:off x="3023550" y="4242350"/>
              <a:ext cx="3332506" cy="739150"/>
              <a:chOff x="2794950" y="4242350"/>
              <a:chExt cx="3332506" cy="739150"/>
            </a:xfrm>
          </p:grpSpPr>
          <p:cxnSp>
            <p:nvCxnSpPr>
              <p:cNvPr id="753" name="Google Shape;753;p41"/>
              <p:cNvCxnSpPr>
                <a:stCxn id="732" idx="1"/>
                <a:endCxn id="729" idx="3"/>
              </p:cNvCxnSpPr>
              <p:nvPr/>
            </p:nvCxnSpPr>
            <p:spPr>
              <a:xfrm rot="10800000">
                <a:off x="2882656" y="4428923"/>
                <a:ext cx="3244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754" name="Google Shape;754;p41"/>
              <p:cNvSpPr txBox="1"/>
              <p:nvPr/>
            </p:nvSpPr>
            <p:spPr>
              <a:xfrm>
                <a:off x="3478875" y="4242350"/>
                <a:ext cx="2236200" cy="21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200" b="1">
                    <a:solidFill>
                      <a:srgbClr val="000000"/>
                    </a:solidFill>
                  </a:rPr>
                  <a:t>Get Calc. Result on UEID</a:t>
                </a:r>
                <a:endParaRPr sz="12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55" name="Google Shape;755;p41"/>
              <p:cNvSpPr txBox="1"/>
              <p:nvPr/>
            </p:nvSpPr>
            <p:spPr>
              <a:xfrm>
                <a:off x="2794950" y="4504013"/>
                <a:ext cx="693000" cy="40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000" b="1">
                    <a:solidFill>
                      <a:srgbClr val="38761D"/>
                    </a:solidFill>
                  </a:rPr>
                  <a:t>Calcul D</a:t>
                </a:r>
                <a:endParaRPr sz="1000" b="1">
                  <a:solidFill>
                    <a:srgbClr val="38761D"/>
                  </a:solidFill>
                </a:endParaRPr>
              </a:p>
            </p:txBody>
          </p:sp>
          <p:sp>
            <p:nvSpPr>
              <p:cNvPr id="756" name="Google Shape;756;p41"/>
              <p:cNvSpPr txBox="1"/>
              <p:nvPr/>
            </p:nvSpPr>
            <p:spPr>
              <a:xfrm>
                <a:off x="3758400" y="4515000"/>
                <a:ext cx="1575600" cy="4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800"/>
                  <a:t>Challenge: being sure to get the trusted calculation result</a:t>
                </a:r>
                <a:endParaRPr sz="800"/>
              </a:p>
            </p:txBody>
          </p:sp>
          <p:pic>
            <p:nvPicPr>
              <p:cNvPr id="757" name="Google Shape;757;p41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3466790" y="4514990"/>
                <a:ext cx="403800" cy="3501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58" name="Google Shape;758;p41"/>
            <p:cNvSpPr/>
            <p:nvPr/>
          </p:nvSpPr>
          <p:spPr>
            <a:xfrm>
              <a:off x="3261750" y="2886525"/>
              <a:ext cx="1903200" cy="931500"/>
            </a:xfrm>
            <a:prstGeom prst="wedgeRoundRectCallout">
              <a:avLst>
                <a:gd name="adj1" fmla="val -61566"/>
                <a:gd name="adj2" fmla="val 90480"/>
                <a:gd name="adj3" fmla="val 0"/>
              </a:avLst>
            </a:prstGeom>
            <a:solidFill>
              <a:srgbClr val="CFE2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/>
                <a:t>We’ve noticed that with this SF, the results are better….</a:t>
              </a:r>
              <a:endParaRPr sz="1200"/>
            </a:p>
          </p:txBody>
        </p:sp>
      </p:grpSp>
      <p:grpSp>
        <p:nvGrpSpPr>
          <p:cNvPr id="759" name="Google Shape;759;p41"/>
          <p:cNvGrpSpPr/>
          <p:nvPr/>
        </p:nvGrpSpPr>
        <p:grpSpPr>
          <a:xfrm>
            <a:off x="1165150" y="1640475"/>
            <a:ext cx="7362800" cy="911400"/>
            <a:chOff x="1241350" y="2021475"/>
            <a:chExt cx="7362800" cy="911400"/>
          </a:xfrm>
        </p:grpSpPr>
        <p:cxnSp>
          <p:nvCxnSpPr>
            <p:cNvPr id="760" name="Google Shape;760;p41"/>
            <p:cNvCxnSpPr>
              <a:stCxn id="731" idx="1"/>
              <a:endCxn id="761" idx="3"/>
            </p:cNvCxnSpPr>
            <p:nvPr/>
          </p:nvCxnSpPr>
          <p:spPr>
            <a:xfrm rot="10800000">
              <a:off x="1883500" y="2563793"/>
              <a:ext cx="6801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762" name="Google Shape;762;p41"/>
            <p:cNvGrpSpPr/>
            <p:nvPr/>
          </p:nvGrpSpPr>
          <p:grpSpPr>
            <a:xfrm>
              <a:off x="3038656" y="2021475"/>
              <a:ext cx="5565494" cy="911400"/>
              <a:chOff x="3038656" y="2021475"/>
              <a:chExt cx="5565494" cy="911400"/>
            </a:xfrm>
          </p:grpSpPr>
          <p:grpSp>
            <p:nvGrpSpPr>
              <p:cNvPr id="763" name="Google Shape;763;p41"/>
              <p:cNvGrpSpPr/>
              <p:nvPr/>
            </p:nvGrpSpPr>
            <p:grpSpPr>
              <a:xfrm>
                <a:off x="3038656" y="2288025"/>
                <a:ext cx="3317400" cy="242994"/>
                <a:chOff x="2810056" y="2288025"/>
                <a:chExt cx="3317400" cy="242994"/>
              </a:xfrm>
            </p:grpSpPr>
            <p:cxnSp>
              <p:nvCxnSpPr>
                <p:cNvPr id="764" name="Google Shape;764;p41"/>
                <p:cNvCxnSpPr>
                  <a:endCxn id="721" idx="1"/>
                </p:cNvCxnSpPr>
                <p:nvPr/>
              </p:nvCxnSpPr>
              <p:spPr>
                <a:xfrm>
                  <a:off x="2810056" y="2531019"/>
                  <a:ext cx="3317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765" name="Google Shape;765;p41"/>
                <p:cNvSpPr txBox="1"/>
                <p:nvPr/>
              </p:nvSpPr>
              <p:spPr>
                <a:xfrm>
                  <a:off x="3350600" y="2288025"/>
                  <a:ext cx="2236200" cy="211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fr-FR" sz="800">
                      <a:solidFill>
                        <a:srgbClr val="000000"/>
                      </a:solidFill>
                    </a:rPr>
                    <a:t>Post calc.result and metadata on UEID</a:t>
                  </a:r>
                  <a:endParaRPr sz="80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766" name="Google Shape;766;p41"/>
              <p:cNvSpPr txBox="1"/>
              <p:nvPr/>
            </p:nvSpPr>
            <p:spPr>
              <a:xfrm>
                <a:off x="7705050" y="2021475"/>
                <a:ext cx="899100" cy="911400"/>
              </a:xfrm>
              <a:prstGeom prst="rect">
                <a:avLst/>
              </a:prstGeom>
              <a:solidFill>
                <a:srgbClr val="F1C232"/>
              </a:solidFill>
              <a:ln w="9525" cap="flat" cmpd="sng">
                <a:solidFill>
                  <a:srgbClr val="BF9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/>
                  <a:t>UEID</a:t>
                </a:r>
                <a:endParaRPr sz="70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/>
                  <a:t>….Metadata</a:t>
                </a:r>
                <a:endParaRPr sz="70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/>
                  <a:t>………AAAA</a:t>
                </a:r>
                <a:endParaRPr sz="70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>
                    <a:solidFill>
                      <a:srgbClr val="000000"/>
                    </a:solidFill>
                  </a:rPr>
                  <a:t>………BBBB</a:t>
                </a:r>
                <a:endParaRPr sz="700">
                  <a:solidFill>
                    <a:srgbClr val="000000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>
                    <a:solidFill>
                      <a:srgbClr val="000000"/>
                    </a:solidFill>
                  </a:rPr>
                  <a:t>….Document</a:t>
                </a:r>
                <a:endParaRPr sz="700" b="1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>
                    <a:solidFill>
                      <a:srgbClr val="000000"/>
                    </a:solidFill>
                  </a:rPr>
                  <a:t>………</a:t>
                </a:r>
                <a:r>
                  <a:rPr lang="fr-FR" sz="700" b="1">
                    <a:solidFill>
                      <a:srgbClr val="000000"/>
                    </a:solidFill>
                  </a:rPr>
                  <a:t>Calcul A</a:t>
                </a:r>
                <a:endParaRPr sz="700" b="1">
                  <a:solidFill>
                    <a:srgbClr val="000000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700">
                    <a:solidFill>
                      <a:srgbClr val="000000"/>
                    </a:solidFill>
                  </a:rPr>
                  <a:t>………</a:t>
                </a:r>
                <a:r>
                  <a:rPr lang="fr-FR" sz="700" b="1">
                    <a:solidFill>
                      <a:srgbClr val="000000"/>
                    </a:solidFill>
                  </a:rPr>
                  <a:t>Calcul B</a:t>
                </a:r>
                <a:endParaRPr sz="700" b="1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761" name="Google Shape;761;p4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241350" y="2395590"/>
              <a:ext cx="642000" cy="33640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3" name="Google Shape;723;p4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11220" y="971670"/>
            <a:ext cx="460257" cy="355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4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87400" y="1982400"/>
            <a:ext cx="383100" cy="400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7" name="Google Shape;767;p41"/>
          <p:cNvCxnSpPr>
            <a:stCxn id="725" idx="2"/>
            <a:endCxn id="729" idx="0"/>
          </p:cNvCxnSpPr>
          <p:nvPr/>
        </p:nvCxnSpPr>
        <p:spPr>
          <a:xfrm>
            <a:off x="2641350" y="3394038"/>
            <a:ext cx="13800" cy="262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68" name="Google Shape;768;p41"/>
          <p:cNvGrpSpPr/>
          <p:nvPr/>
        </p:nvGrpSpPr>
        <p:grpSpPr>
          <a:xfrm>
            <a:off x="1118700" y="3142173"/>
            <a:ext cx="3495050" cy="602025"/>
            <a:chOff x="1194900" y="3523173"/>
            <a:chExt cx="3495050" cy="602025"/>
          </a:xfrm>
        </p:grpSpPr>
        <p:pic>
          <p:nvPicPr>
            <p:cNvPr id="769" name="Google Shape;769;p4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194900" y="3664948"/>
              <a:ext cx="460250" cy="46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0" name="Google Shape;770;p4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229700" y="3523173"/>
              <a:ext cx="460250" cy="460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5_Template Europe Ops and IT - Cover 1 - Agenda Thinkcell">
  <a:themeElements>
    <a:clrScheme name="DOE Europe Template">
      <a:dk1>
        <a:srgbClr val="4B4B4B"/>
      </a:dk1>
      <a:lt1>
        <a:srgbClr val="FFFFFF"/>
      </a:lt1>
      <a:dk2>
        <a:srgbClr val="003F84"/>
      </a:dk2>
      <a:lt2>
        <a:srgbClr val="EBCA9F"/>
      </a:lt2>
      <a:accent1>
        <a:srgbClr val="AEC5E0"/>
      </a:accent1>
      <a:accent2>
        <a:srgbClr val="B7E0A8"/>
      </a:accent2>
      <a:accent3>
        <a:srgbClr val="D7D3B9"/>
      </a:accent3>
      <a:accent4>
        <a:srgbClr val="D9D9D9"/>
      </a:accent4>
      <a:accent5>
        <a:srgbClr val="DD9696"/>
      </a:accent5>
      <a:accent6>
        <a:srgbClr val="D5A3C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6F4A466F26046961D2FEADA0F794E" ma:contentTypeVersion="16" ma:contentTypeDescription="Crée un document." ma:contentTypeScope="" ma:versionID="029e64fe54d8b0768025a5c5bf4c8114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9cb520361c8cb052414c7e9e9ff8c5db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69be49-e63e-4505-90ce-d18b3283f86f" xsi:nil="true"/>
    <lcf76f155ced4ddcb4097134ff3c332f xmlns="71b77f45-859e-4a9f-b23d-c4b37bd56895">
      <Terms xmlns="http://schemas.microsoft.com/office/infopath/2007/PartnerControls"/>
    </lcf76f155ced4ddcb4097134ff3c332f>
    <Date xmlns="71b77f45-859e-4a9f-b23d-c4b37bd56895">2023-02-07T08:45:08+00:00</Dat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76E347-A40D-4B31-9681-F3565346E86B}"/>
</file>

<file path=customXml/itemProps2.xml><?xml version="1.0" encoding="utf-8"?>
<ds:datastoreItem xmlns:ds="http://schemas.openxmlformats.org/officeDocument/2006/customXml" ds:itemID="{8BE9B7B8-CC42-48E4-A415-6FE8BB807738}">
  <ds:schemaRefs>
    <ds:schemaRef ds:uri="http://schemas.microsoft.com/office/2006/metadata/properties"/>
    <ds:schemaRef ds:uri="http://schemas.microsoft.com/office/infopath/2007/PartnerControls"/>
    <ds:schemaRef ds:uri="7a69be49-e63e-4505-90ce-d18b3283f86f"/>
    <ds:schemaRef ds:uri="71b77f45-859e-4a9f-b23d-c4b37bd56895"/>
  </ds:schemaRefs>
</ds:datastoreItem>
</file>

<file path=customXml/itemProps3.xml><?xml version="1.0" encoding="utf-8"?>
<ds:datastoreItem xmlns:ds="http://schemas.openxmlformats.org/officeDocument/2006/customXml" ds:itemID="{D62625C5-0B4E-46C0-A593-D20BAA4F765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26</Slides>
  <Notes>26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5_Template Europe Ops and IT - Cover 1 - Agenda Thinkcell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1</cp:revision>
  <dcterms:modified xsi:type="dcterms:W3CDTF">2023-11-28T04:31:31Z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0x010100FA86F4A466F26046961D2FEADA0F794E</vt:lpwstr>
  </property>
  <property fmtid="{D5CDD505-2E9C-101B-9397-08002B2CF9AE}" pid="3" name="MSIP_Label_2e9a4386-74b9-4603-ae20-950a659f9b6e_Enabled">
    <vt:lpwstr>true</vt:lpwstr>
  </property>
  <property fmtid="{D5CDD505-2E9C-101B-9397-08002B2CF9AE}" pid="4" name="MSIP_Label_2e9a4386-74b9-4603-ae20-950a659f9b6e_SetDate">
    <vt:lpwstr>2023-11-28T04:31:30Z</vt:lpwstr>
  </property>
  <property fmtid="{D5CDD505-2E9C-101B-9397-08002B2CF9AE}" pid="5" name="MSIP_Label_2e9a4386-74b9-4603-ae20-950a659f9b6e_Method">
    <vt:lpwstr>Standard</vt:lpwstr>
  </property>
  <property fmtid="{D5CDD505-2E9C-101B-9397-08002B2CF9AE}" pid="6" name="MSIP_Label_2e9a4386-74b9-4603-ae20-950a659f9b6e_Name">
    <vt:lpwstr>Internal Use Only</vt:lpwstr>
  </property>
  <property fmtid="{D5CDD505-2E9C-101B-9397-08002B2CF9AE}" pid="7" name="MSIP_Label_2e9a4386-74b9-4603-ae20-950a659f9b6e_SiteId">
    <vt:lpwstr>c7d1a8f7-0546-4a0c-8cf5-3ddaebf97d51</vt:lpwstr>
  </property>
  <property fmtid="{D5CDD505-2E9C-101B-9397-08002B2CF9AE}" pid="8" name="MSIP_Label_2e9a4386-74b9-4603-ae20-950a659f9b6e_ActionId">
    <vt:lpwstr>bc255b8a-5116-4604-9bbf-9b043de2c006</vt:lpwstr>
  </property>
  <property fmtid="{D5CDD505-2E9C-101B-9397-08002B2CF9AE}" pid="9" name="MSIP_Label_2e9a4386-74b9-4603-ae20-950a659f9b6e_ContentBits">
    <vt:lpwstr>0</vt:lpwstr>
  </property>
  <property fmtid="{D5CDD505-2E9C-101B-9397-08002B2CF9AE}" pid="10" name="MediaServiceImageTags">
    <vt:lpwstr/>
  </property>
</Properties>
</file>
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5" r:id="rId5"/>
    <p:sldMasterId id="2147483658" r:id="rId6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oto Sans" panose="020B0502040504020204" pitchFamily="34" charset="0"/>
      <p:regular r:id="rId20"/>
      <p:bold r:id="rId21"/>
      <p:italic r:id="rId22"/>
      <p:boldItalic r:id="rId23"/>
    </p:embeddedFont>
    <p:embeddedFont>
      <p:font typeface="Rambla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Yb3GUirdXDXZN8z02Tz+YuELp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8A304-A6FD-B9E0-80AB-E6DC07D44151}" v="3" dt="2022-11-18T09:19:53.585"/>
  </p1510:revLst>
</p1510:revInfo>
</file>

<file path=ppt/tableStyles.xml><?xml version="1.0" encoding="utf-8"?>
<a:tblStyleLst xmlns:a="http://schemas.openxmlformats.org/drawingml/2006/main" def="{49EC5687-7E39-47B7-9738-E8003D2CC917}">
  <a:tblStyle styleId="{49EC5687-7E39-47B7-9738-E8003D2CC91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D"/>
          </a:solidFill>
        </a:fill>
      </a:tcStyle>
    </a:wholeTbl>
    <a:band1H>
      <a:tcTxStyle/>
      <a:tcStyle>
        <a:tcBdr/>
        <a:fill>
          <a:solidFill>
            <a:srgbClr val="CACC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C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82"/>
        <p:guide orient="horz" pos="799"/>
        <p:guide orient="horz" pos="3430"/>
        <p:guide orient="horz" pos="1344"/>
        <p:guide orient="horz" pos="2840"/>
        <p:guide orient="horz" pos="2659"/>
        <p:guide pos="5511"/>
        <p:guide pos="975"/>
        <p:guide pos="36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customschemas.google.com/relationships/presentationmetadata" Target="metadata"/><Relationship Id="rId10" Type="http://schemas.openxmlformats.org/officeDocument/2006/relationships/slide" Target="slides/slide4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BB38A304-A6FD-B9E0-80AB-E6DC07D44151}"/>
    <pc:docChg chg="modSld">
      <pc:chgData name="TCHAMFONG LIONEL" userId="S::tchamfl@ext.essilor.com::7ba41266-02c5-4eb4-be69-a4bf1727da15" providerId="AD" clId="Web-{BB38A304-A6FD-B9E0-80AB-E6DC07D44151}" dt="2022-11-18T09:19:53.585" v="2" actId="20577"/>
      <pc:docMkLst>
        <pc:docMk/>
      </pc:docMkLst>
      <pc:sldChg chg="modSp">
        <pc:chgData name="TCHAMFONG LIONEL" userId="S::tchamfl@ext.essilor.com::7ba41266-02c5-4eb4-be69-a4bf1727da15" providerId="AD" clId="Web-{BB38A304-A6FD-B9E0-80AB-E6DC07D44151}" dt="2022-11-18T09:19:53.585" v="2" actId="20577"/>
        <pc:sldMkLst>
          <pc:docMk/>
          <pc:sldMk cId="0" sldId="258"/>
        </pc:sldMkLst>
        <pc:spChg chg="mod">
          <ac:chgData name="TCHAMFONG LIONEL" userId="S::tchamfl@ext.essilor.com::7ba41266-02c5-4eb4-be69-a4bf1727da15" providerId="AD" clId="Web-{BB38A304-A6FD-B9E0-80AB-E6DC07D44151}" dt="2022-11-18T09:19:53.585" v="2" actId="20577"/>
          <ac:spMkLst>
            <pc:docMk/>
            <pc:sldMk cId="0" sldId="258"/>
            <ac:spMk id="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6291" y="4714875"/>
            <a:ext cx="54855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4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sldNum" idx="12"/>
          </p:nvPr>
        </p:nvSpPr>
        <p:spPr>
          <a:xfrm>
            <a:off x="3884083" y="9428163"/>
            <a:ext cx="29724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3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7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7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8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25"/>
          <p:cNvCxnSpPr/>
          <p:nvPr/>
        </p:nvCxnSpPr>
        <p:spPr>
          <a:xfrm rot="10800000">
            <a:off x="4572000" y="209550"/>
            <a:ext cx="0" cy="266700"/>
          </a:xfrm>
          <a:prstGeom prst="straightConnector1">
            <a:avLst/>
          </a:prstGeom>
          <a:noFill/>
          <a:ln w="12700" cap="flat" cmpd="sng">
            <a:solidFill>
              <a:srgbClr val="E600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25"/>
          <p:cNvSpPr txBox="1">
            <a:spLocks noGrp="1"/>
          </p:cNvSpPr>
          <p:nvPr>
            <p:ph type="ctrTitle"/>
          </p:nvPr>
        </p:nvSpPr>
        <p:spPr>
          <a:xfrm>
            <a:off x="557213" y="2085975"/>
            <a:ext cx="8029575" cy="268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subTitle" idx="1"/>
          </p:nvPr>
        </p:nvSpPr>
        <p:spPr>
          <a:xfrm>
            <a:off x="557213" y="1295400"/>
            <a:ext cx="8029575" cy="71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lvl="3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lvl="4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lvl="5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lvl="6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lvl="7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lvl="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557213" y="4849813"/>
            <a:ext cx="8029575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Noto Sans"/>
              <a:buChar char="▪"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▫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6573838" y="6416675"/>
            <a:ext cx="181451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600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ftr" idx="11"/>
          </p:nvPr>
        </p:nvSpPr>
        <p:spPr>
          <a:xfrm>
            <a:off x="2771775" y="6416675"/>
            <a:ext cx="3597275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1"/>
          <p:cNvCxnSpPr/>
          <p:nvPr/>
        </p:nvCxnSpPr>
        <p:spPr>
          <a:xfrm rot="10800000">
            <a:off x="323850" y="6194425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11"/>
          <p:cNvCxnSpPr/>
          <p:nvPr/>
        </p:nvCxnSpPr>
        <p:spPr>
          <a:xfrm rot="10800000">
            <a:off x="323850" y="755650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/>
          <p:nvPr/>
        </p:nvSpPr>
        <p:spPr>
          <a:xfrm>
            <a:off x="8426450" y="6415088"/>
            <a:ext cx="71438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>
            <a:spLocks noGrp="1"/>
          </p:cNvSpPr>
          <p:nvPr>
            <p:ph type="title"/>
          </p:nvPr>
        </p:nvSpPr>
        <p:spPr>
          <a:xfrm>
            <a:off x="1361768" y="218904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2800">
                <a:latin typeface="Rambla"/>
                <a:ea typeface="Rambla"/>
                <a:cs typeface="Rambla"/>
                <a:sym typeface="Rambla"/>
              </a:rPr>
              <a:t>Eyecloud : Interaction between EU Systems </a:t>
            </a:r>
            <a:endParaRPr sz="2800"/>
          </a:p>
        </p:txBody>
      </p:sp>
      <p:grpSp>
        <p:nvGrpSpPr>
          <p:cNvPr id="105" name="Google Shape;105;p1"/>
          <p:cNvGrpSpPr/>
          <p:nvPr/>
        </p:nvGrpSpPr>
        <p:grpSpPr>
          <a:xfrm>
            <a:off x="-58532" y="1447917"/>
            <a:ext cx="9202522" cy="3788720"/>
            <a:chOff x="0" y="1704976"/>
            <a:chExt cx="12192001" cy="4616449"/>
          </a:xfrm>
        </p:grpSpPr>
        <p:pic>
          <p:nvPicPr>
            <p:cNvPr id="106" name="Google Shape;106;p1" descr="C:\Users\rimeleng\Documents\A_IMAGES_PPT2015\Image21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26200" y="3722688"/>
              <a:ext cx="2794000" cy="259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" descr="C:\Users\rimeleng\Documents\A_IMAGES_PPT2015\SaoPaulo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90051" y="3289300"/>
              <a:ext cx="2901949" cy="302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" descr="C:\Users\rimeleng\Documents\A_IMAGES_PPT2015\Image22.jp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52801" y="3103563"/>
              <a:ext cx="2952751" cy="32178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" descr="C:\Users\rimeleng\Documents\A_IMAGES_PPT2015\Feordi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3398839"/>
              <a:ext cx="3295651" cy="2917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" descr="C:\Users\rimeleng\Documents\A_IMAGES_PPT2015\Verres.jpg"/>
            <p:cNvPicPr preferRelativeResize="0"/>
            <p:nvPr/>
          </p:nvPicPr>
          <p:blipFill rotWithShape="1">
            <a:blip r:embed="rId7">
              <a:alphaModFix/>
            </a:blip>
            <a:srcRect t="1525"/>
            <a:stretch/>
          </p:blipFill>
          <p:spPr>
            <a:xfrm>
              <a:off x="1" y="1708740"/>
              <a:ext cx="3291416" cy="162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" descr="C:\Users\rimeleng\Documents\A_IMAGES_PPT2015\Image17.jpg"/>
            <p:cNvPicPr preferRelativeResize="0"/>
            <p:nvPr/>
          </p:nvPicPr>
          <p:blipFill rotWithShape="1">
            <a:blip r:embed="rId8">
              <a:alphaModFix/>
            </a:blip>
            <a:srcRect t="2466"/>
            <a:stretch/>
          </p:blipFill>
          <p:spPr>
            <a:xfrm>
              <a:off x="3359152" y="1720851"/>
              <a:ext cx="2950633" cy="13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" descr="C:\Users\rimeleng\Documents\A_IMAGES_PPT2015\Image19.jp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309101" y="1704976"/>
              <a:ext cx="2882900" cy="152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" descr="C:\Users\rimeleng\Documents\A_IMAGES_PPT2015\Enfants_chin.jp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411385" y="1709739"/>
              <a:ext cx="2813049" cy="1951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689956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2"/>
          <p:cNvCxnSpPr>
            <a:stCxn id="120" idx="6"/>
            <a:endCxn id="122" idx="2"/>
          </p:cNvCxnSpPr>
          <p:nvPr/>
        </p:nvCxnSpPr>
        <p:spPr>
          <a:xfrm>
            <a:off x="2265956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/>
          <p:nvPr/>
        </p:nvSpPr>
        <p:spPr>
          <a:xfrm>
            <a:off x="2941279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192602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54439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"/>
          <p:cNvCxnSpPr>
            <a:stCxn id="122" idx="6"/>
            <a:endCxn id="123" idx="2"/>
          </p:cNvCxnSpPr>
          <p:nvPr/>
        </p:nvCxnSpPr>
        <p:spPr>
          <a:xfrm>
            <a:off x="3517279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2"/>
          <p:cNvCxnSpPr>
            <a:stCxn id="123" idx="6"/>
            <a:endCxn id="124" idx="2"/>
          </p:cNvCxnSpPr>
          <p:nvPr/>
        </p:nvCxnSpPr>
        <p:spPr>
          <a:xfrm>
            <a:off x="4768602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2"/>
          <p:cNvCxnSpPr/>
          <p:nvPr/>
        </p:nvCxnSpPr>
        <p:spPr>
          <a:xfrm>
            <a:off x="1987800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2"/>
          <p:cNvCxnSpPr/>
          <p:nvPr/>
        </p:nvCxnSpPr>
        <p:spPr>
          <a:xfrm>
            <a:off x="45033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2"/>
          <p:cNvCxnSpPr/>
          <p:nvPr/>
        </p:nvCxnSpPr>
        <p:spPr>
          <a:xfrm>
            <a:off x="3172606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2"/>
          <p:cNvCxnSpPr/>
          <p:nvPr/>
        </p:nvCxnSpPr>
        <p:spPr>
          <a:xfrm>
            <a:off x="5731957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2"/>
          <p:cNvSpPr txBox="1"/>
          <p:nvPr/>
        </p:nvSpPr>
        <p:spPr>
          <a:xfrm>
            <a:off x="3328507" y="2215325"/>
            <a:ext cx="227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 between V2 and V3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2380575" y="4039739"/>
            <a:ext cx="1683313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 Volume in EU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36775" y="2214694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a new version of Eyecloud ? 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2"/>
          <p:cNvCxnSpPr/>
          <p:nvPr/>
        </p:nvCxnSpPr>
        <p:spPr>
          <a:xfrm>
            <a:off x="60640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2"/>
          <p:cNvSpPr/>
          <p:nvPr/>
        </p:nvSpPr>
        <p:spPr>
          <a:xfrm>
            <a:off x="67393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2"/>
          <p:cNvCxnSpPr/>
          <p:nvPr/>
        </p:nvCxnSpPr>
        <p:spPr>
          <a:xfrm>
            <a:off x="70179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 txBox="1"/>
          <p:nvPr/>
        </p:nvSpPr>
        <p:spPr>
          <a:xfrm>
            <a:off x="6173583" y="23382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 and SAP :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4546283" y="4044131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 and SAP: Issue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79585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2"/>
          <p:cNvCxnSpPr/>
          <p:nvPr/>
        </p:nvCxnSpPr>
        <p:spPr>
          <a:xfrm>
            <a:off x="72832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" name="Google Shape;141;p2"/>
          <p:cNvCxnSpPr/>
          <p:nvPr/>
        </p:nvCxnSpPr>
        <p:spPr>
          <a:xfrm>
            <a:off x="8237131" y="37249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p2"/>
          <p:cNvSpPr txBox="1"/>
          <p:nvPr/>
        </p:nvSpPr>
        <p:spPr>
          <a:xfrm>
            <a:off x="7353027" y="4090836"/>
            <a:ext cx="1788613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about KPB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503475" y="1116025"/>
            <a:ext cx="8103600" cy="415796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❑"/>
            </a:pPr>
            <a:r>
              <a:rPr lang="en-US" sz="2000" b="1" i="0" u="sng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 </a:t>
            </a:r>
            <a:endParaRPr sz="20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Eyecloud</a:t>
            </a:r>
            <a:r>
              <a:rPr lang="en-US" sz="20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will be more and more called by systems (especially in Europe) </a:t>
            </a:r>
            <a:endParaRPr sz="20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0575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❑"/>
            </a:pPr>
            <a:r>
              <a:rPr lang="en-US" sz="2000" b="1" i="0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000" b="1" i="0" u="sng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Stake </a:t>
            </a:r>
            <a:endParaRPr sz="2000" b="1" i="0" u="sng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 respond to this, </a:t>
            </a:r>
            <a:r>
              <a:rPr lang="en-US" sz="2000" b="0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Eyecloud</a:t>
            </a:r>
            <a:r>
              <a:rPr lang="en-US" sz="20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needs to evolve by building a more robust and more available platform.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❑"/>
            </a:pPr>
            <a:r>
              <a:rPr lang="en-US" sz="2000" b="1" i="0" u="sng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dirty="0"/>
          </a:p>
          <a:p>
            <a:pPr marL="9144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⮚"/>
            </a:pP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implementation of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V3 aims to build this High available platform in order to be ready for the increase in demand</a:t>
            </a:r>
            <a:endParaRPr dirty="0"/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 sz="2000" b="1" i="0" u="sng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>
            <a:spLocks noGrp="1"/>
          </p:cNvSpPr>
          <p:nvPr>
            <p:ph type="title"/>
          </p:nvPr>
        </p:nvSpPr>
        <p:spPr>
          <a:xfrm>
            <a:off x="357699" y="206575"/>
            <a:ext cx="8518525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None/>
            </a:pPr>
            <a:r>
              <a:rPr lang="en-US" sz="2400"/>
              <a:t>Introduction :</a:t>
            </a:r>
            <a:r>
              <a:rPr lang="en-US" sz="2400" b="0"/>
              <a:t> Why we're implementing a new Eyecloud version </a:t>
            </a:r>
            <a:endParaRPr sz="2400" b="0">
              <a:solidFill>
                <a:srgbClr val="0039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</a:pPr>
            <a:r>
              <a:rPr lang="en-US"/>
              <a:t>Eyecloud Volume per EU Systems (Last 24hours)</a:t>
            </a:r>
            <a:endParaRPr/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539" y="1574914"/>
            <a:ext cx="8189842" cy="2416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2005475" y="-48910"/>
            <a:ext cx="7702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Difference between V2 and V3 : Infrastructure </a:t>
            </a:r>
            <a:endParaRPr/>
          </a:p>
        </p:txBody>
      </p:sp>
      <p:pic>
        <p:nvPicPr>
          <p:cNvPr id="162" name="Google Shape;16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60" y="633693"/>
            <a:ext cx="9011916" cy="37481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5"/>
          <p:cNvGraphicFramePr/>
          <p:nvPr/>
        </p:nvGraphicFramePr>
        <p:xfrm>
          <a:off x="208721" y="4661452"/>
          <a:ext cx="8837275" cy="1167985"/>
        </p:xfrm>
        <a:graphic>
          <a:graphicData uri="http://schemas.openxmlformats.org/drawingml/2006/table">
            <a:tbl>
              <a:tblPr firstRow="1" bandRow="1">
                <a:noFill/>
                <a:tableStyleId>{49EC5687-7E39-47B7-9738-E8003D2CC917}</a:tableStyleId>
              </a:tblPr>
              <a:tblGrid>
                <a:gridCol w="216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V2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V3</a:t>
                      </a:r>
                      <a:endParaRPr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https://in-eyecloud.rxdigitalplatform.com/v2/uoid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https://in-ec-prd.rxdigitalplatform.com/v3/ecid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Eyecloud ID Format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Alphanumeric with </a:t>
                      </a:r>
                      <a:r>
                        <a:rPr lang="en-US" sz="1000" u="none" strike="noStrike" cap="none"/>
                        <a:t>8 Characters 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Alphanumeric with </a:t>
                      </a:r>
                      <a:r>
                        <a:rPr lang="en-US" sz="1000" u="none" strike="noStrike" cap="none"/>
                        <a:t>12 characters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Lowercase only 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Case sensitive (lower and capital letter)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/>
        </p:nvSpPr>
        <p:spPr>
          <a:xfrm rot="863849">
            <a:off x="2792365" y="3463451"/>
            <a:ext cx="1777215" cy="4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 the UOID in DynamoDB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5075" y="4144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Interaction between Orchestra and SAP sharing Eyecloud ID  : Issue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39275" y="4332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3250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528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610175" y="4144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854375" y="4332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858350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68679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352375" y="4172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596575" y="4359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600550" y="4894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610175" y="4061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729425" y="4129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973625" y="4317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977600" y="4852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2987225" y="4019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004400" y="4144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248600" y="4332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252575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4262200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6"/>
          <p:cNvCxnSpPr>
            <a:endCxn id="174" idx="0"/>
          </p:cNvCxnSpPr>
          <p:nvPr/>
        </p:nvCxnSpPr>
        <p:spPr>
          <a:xfrm flipH="1">
            <a:off x="631875" y="3470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6"/>
          <p:cNvCxnSpPr/>
          <p:nvPr/>
        </p:nvCxnSpPr>
        <p:spPr>
          <a:xfrm flipH="1">
            <a:off x="1889175" y="3470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6"/>
          <p:cNvCxnSpPr/>
          <p:nvPr/>
        </p:nvCxnSpPr>
        <p:spPr>
          <a:xfrm>
            <a:off x="2098675" y="3457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6"/>
          <p:cNvCxnSpPr/>
          <p:nvPr/>
        </p:nvCxnSpPr>
        <p:spPr>
          <a:xfrm>
            <a:off x="2085725" y="3492525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6"/>
          <p:cNvCxnSpPr/>
          <p:nvPr/>
        </p:nvCxnSpPr>
        <p:spPr>
          <a:xfrm flipH="1">
            <a:off x="7510624" y="3057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6" name="Google Shape;196;p6"/>
          <p:cNvSpPr txBox="1"/>
          <p:nvPr/>
        </p:nvSpPr>
        <p:spPr>
          <a:xfrm rot="828">
            <a:off x="7672001" y="12600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 flipH="1">
            <a:off x="2095925" y="1210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8" name="Google Shape;198;p6"/>
          <p:cNvSpPr txBox="1"/>
          <p:nvPr/>
        </p:nvSpPr>
        <p:spPr>
          <a:xfrm rot="1161">
            <a:off x="22589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Ask UOID to Eyecloud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>
            <a:endCxn id="200" idx="1"/>
          </p:cNvCxnSpPr>
          <p:nvPr/>
        </p:nvCxnSpPr>
        <p:spPr>
          <a:xfrm rot="10800000" flipH="1">
            <a:off x="2765450" y="937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1" name="Google Shape;201;p6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 API V2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171562" y="2178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 API V3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7504150" y="1198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0" name="Google Shape;200;p6"/>
          <p:cNvSpPr/>
          <p:nvPr/>
        </p:nvSpPr>
        <p:spPr>
          <a:xfrm>
            <a:off x="6494150" y="760500"/>
            <a:ext cx="1340700" cy="3540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924925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236600" y="3651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209" name="Google Shape;209;p6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back UOID 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335125" y="1442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 rot="828">
            <a:off x="7672001" y="33174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ID is present before posting Document on It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335125" y="34241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 flipH="1">
            <a:off x="6824824" y="3057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216" name="Google Shape;216;p6"/>
          <p:cNvSpPr/>
          <p:nvPr/>
        </p:nvSpPr>
        <p:spPr>
          <a:xfrm>
            <a:off x="6649325" y="34241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6"/>
          <p:cNvCxnSpPr/>
          <p:nvPr/>
        </p:nvCxnSpPr>
        <p:spPr>
          <a:xfrm flipH="1">
            <a:off x="6821824" y="1247133"/>
            <a:ext cx="6300" cy="9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218" name="Google Shape;218;p6"/>
          <p:cNvSpPr/>
          <p:nvPr/>
        </p:nvSpPr>
        <p:spPr>
          <a:xfrm>
            <a:off x="6649325" y="14429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 rot="828">
            <a:off x="5621227" y="3393634"/>
            <a:ext cx="11456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</a:t>
            </a:r>
            <a:endParaRPr sz="9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 rot="628">
            <a:off x="5139850" y="1412375"/>
            <a:ext cx="164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present, Impossible to store document</a:t>
            </a:r>
            <a:endParaRPr sz="9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/>
        </p:nvSpPr>
        <p:spPr>
          <a:xfrm rot="1741">
            <a:off x="2258965" y="3696717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 the ECID in DynamoDB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>
            <a:spLocks noGrp="1"/>
          </p:cNvSpPr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Interaction between Orchestra and SAP sharing Eyecloud ID : Solution 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1489800" y="44490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734000" y="46368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737975" y="51716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823800" y="43388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 rot="-1077020">
            <a:off x="4853959" y="1962433"/>
            <a:ext cx="1245002" cy="60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 a Document with the ECID gotten from Orchestra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7"/>
          <p:cNvCxnSpPr/>
          <p:nvPr/>
        </p:nvCxnSpPr>
        <p:spPr>
          <a:xfrm flipH="1">
            <a:off x="2400725" y="1210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4" name="Google Shape;234;p7"/>
          <p:cNvSpPr txBox="1"/>
          <p:nvPr/>
        </p:nvSpPr>
        <p:spPr>
          <a:xfrm rot="1161">
            <a:off x="25637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Ask ECID to Eyecloud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7"/>
          <p:cNvCxnSpPr>
            <a:endCxn id="236" idx="1"/>
          </p:cNvCxnSpPr>
          <p:nvPr/>
        </p:nvCxnSpPr>
        <p:spPr>
          <a:xfrm rot="10800000" flipH="1">
            <a:off x="2765450" y="9657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7" name="Google Shape;237;p7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 the ECID with SAP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 API V3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7"/>
          <p:cNvCxnSpPr>
            <a:stCxn id="236" idx="2"/>
          </p:cNvCxnSpPr>
          <p:nvPr/>
        </p:nvCxnSpPr>
        <p:spPr>
          <a:xfrm flipH="1">
            <a:off x="3043700" y="1170900"/>
            <a:ext cx="4120800" cy="14238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6" name="Google Shape;236;p7"/>
          <p:cNvSpPr/>
          <p:nvPr/>
        </p:nvSpPr>
        <p:spPr>
          <a:xfrm>
            <a:off x="6494150" y="760500"/>
            <a:ext cx="13407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229725" y="1595338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7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243" name="Google Shape;243;p7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back ECID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950863" y="1742563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7"/>
          <p:cNvCxnSpPr>
            <a:stCxn id="238" idx="1"/>
          </p:cNvCxnSpPr>
          <p:nvPr/>
        </p:nvCxnSpPr>
        <p:spPr>
          <a:xfrm flipH="1">
            <a:off x="2043886" y="3405114"/>
            <a:ext cx="15300" cy="10557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8" name="Google Shape;248;p7"/>
          <p:cNvSpPr/>
          <p:nvPr/>
        </p:nvSpPr>
        <p:spPr>
          <a:xfrm>
            <a:off x="1885200" y="36954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503475" y="1116025"/>
            <a:ext cx="8103600" cy="256770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"/>
              <a:buChar char="❖"/>
            </a:pPr>
            <a:r>
              <a:rPr lang="en-US" sz="2000" b="1" i="0" u="sng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 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Today, KPB Lisbon is calling Eyecloud on our Preproduction environment  (they want to move forward on Production soon) 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0575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"/>
              <a:buChar char="❖"/>
            </a:pPr>
            <a:r>
              <a:rPr lang="en-US" sz="2000" b="1" i="0" u="sng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Questions </a:t>
            </a:r>
            <a:endParaRPr sz="2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Will KPB be replaced by SAP ?   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Today, KPB is only creating IDs on Eyecloud. Does it Share those IDs to another Systems (like Orchestra will share to SAP)  </a:t>
            </a:r>
            <a:endParaRPr/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>
            <a:spLocks noGrp="1"/>
          </p:cNvSpPr>
          <p:nvPr>
            <p:ph type="title"/>
          </p:nvPr>
        </p:nvSpPr>
        <p:spPr>
          <a:xfrm>
            <a:off x="973925" y="206575"/>
            <a:ext cx="69879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/>
              <a:t>What about KPB Lisbon ?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anfinance">
  <a:themeElements>
    <a:clrScheme name="SG_FR 1">
      <a:dk1>
        <a:srgbClr val="E60028"/>
      </a:dk1>
      <a:lt1>
        <a:srgbClr val="FFFFFF"/>
      </a:lt1>
      <a:dk2>
        <a:srgbClr val="7DBE78"/>
      </a:dk2>
      <a:lt2>
        <a:srgbClr val="6E6E87"/>
      </a:lt2>
      <a:accent1>
        <a:srgbClr val="69AACD"/>
      </a:accent1>
      <a:accent2>
        <a:srgbClr val="C8AAC3"/>
      </a:accent2>
      <a:accent3>
        <a:srgbClr val="FFFFFF"/>
      </a:accent3>
      <a:accent4>
        <a:srgbClr val="C40021"/>
      </a:accent4>
      <a:accent5>
        <a:srgbClr val="B9D2E3"/>
      </a:accent5>
      <a:accent6>
        <a:srgbClr val="B59AB0"/>
      </a:accent6>
      <a:hlink>
        <a:srgbClr val="F0B93C"/>
      </a:hlink>
      <a:folHlink>
        <a:srgbClr val="C86E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SharedWithUsers xmlns="7a69be49-e63e-4505-90ce-d18b3283f86f">
      <UserInfo>
        <DisplayName>GONON Jean-Philippe</DisplayName>
        <AccountId>10</AccountId>
        <AccountType/>
      </UserInfo>
      <UserInfo>
        <DisplayName>PEYROTTES Patrice</DisplayName>
        <AccountId>53</AccountId>
        <AccountType/>
      </UserInfo>
      <UserInfo>
        <DisplayName>TONTHAT Anh-Viet</DisplayName>
        <AccountId>54</AccountId>
        <AccountType/>
      </UserInfo>
    </SharedWithUsers>
    <Date xmlns="71b77f45-859e-4a9f-b23d-c4b37bd56895">2022-11-23T12:04:40+00:00</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6F4A466F26046961D2FEADA0F794E" ma:contentTypeVersion="16" ma:contentTypeDescription="Crée un document." ma:contentTypeScope="" ma:versionID="029e64fe54d8b0768025a5c5bf4c8114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9cb520361c8cb052414c7e9e9ff8c5db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A417DE-D58F-46F1-A038-F0CA701A8EC4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customXml/itemProps2.xml><?xml version="1.0" encoding="utf-8"?>
<ds:datastoreItem xmlns:ds="http://schemas.openxmlformats.org/officeDocument/2006/customXml" ds:itemID="{AE8BE6C6-725F-4805-8C2A-7E855F508C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BCDD98-7CEB-44D9-8CA4-5E71B2AFFAC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BRED</vt:lpstr>
      <vt:lpstr>Franfinance</vt:lpstr>
      <vt:lpstr>BRED</vt:lpstr>
      <vt:lpstr>Eyecloud : Interaction between EU Systems </vt:lpstr>
      <vt:lpstr>Summary</vt:lpstr>
      <vt:lpstr>Introduction : Why we're implementing a new Eyecloud version </vt:lpstr>
      <vt:lpstr>Eyecloud Volume per EU Systems (Last 24hours)</vt:lpstr>
      <vt:lpstr>Difference between V2 and V3 : Infrastructure </vt:lpstr>
      <vt:lpstr>Interaction between Orchestra and SAP sharing Eyecloud ID  : Issue</vt:lpstr>
      <vt:lpstr>Interaction between Orchestra and SAP sharing Eyecloud ID : Solution </vt:lpstr>
      <vt:lpstr>What about KPB Lisbon ?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Eyecloud : Interaction between EU Systems </dc:title>
  <cp:revision>2</cp:revision>
  <dcterms:modified xsi:type="dcterms:W3CDTF">2022-11-18T09:19:58Z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2022-11-16T16:01:01Z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7f6fb785-1b84-46f6-83d7-9cab30597388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
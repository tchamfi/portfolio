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4"/>
    <p:sldMasterId id="2147483662" r:id="rId5"/>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9144000" cy="5143500" type="screen16x9"/>
  <p:notesSz cx="6662738" cy="9926638"/>
  <p:embeddedFontLst>
    <p:embeddedFont>
      <p:font typeface="Rambla" panose="020B0604020202020204" charset="0"/>
      <p:regular r:id="rId16"/>
      <p:bold r:id="rId17"/>
      <p:italic r:id="rId18"/>
      <p:boldItalic r:id="rId19"/>
    </p:embeddedFont>
    <p:embeddedFont>
      <p:font typeface="Roboto" panose="02000000000000000000"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6.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7.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rren DILIDILI" userId="S::warren.dilidili@ext.essilor.com::69202629-0b5b-4123-86c7-c185813df694" providerId="AD" clId="Web-{48B3A6D6-0D21-9078-C491-5893B9FA9DE9}"/>
    <pc:docChg chg="mod">
      <pc:chgData name="Warren DILIDILI" userId="S::warren.dilidili@ext.essilor.com::69202629-0b5b-4123-86c7-c185813df694" providerId="AD" clId="Web-{48B3A6D6-0D21-9078-C491-5893B9FA9DE9}" dt="2024-04-23T04:40:24.165" v="0" actId="3347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887663" cy="496888"/>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2743200" marR="0" lvl="6"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3200400" marR="0" lvl="7"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3657600" marR="0" lvl="8"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773488" y="0"/>
            <a:ext cx="2887662" cy="496888"/>
          </a:xfrm>
          <a:prstGeom prst="rect">
            <a:avLst/>
          </a:prstGeom>
          <a:noFill/>
          <a:ln>
            <a:noFill/>
          </a:ln>
        </p:spPr>
        <p:txBody>
          <a:bodyPr spcFirstLastPara="1" wrap="square" lIns="91425" tIns="91425" rIns="91425" bIns="91425" anchor="t" anchorCtr="0">
            <a:noAutofit/>
          </a:bodyPr>
          <a:lstStyle>
            <a:lvl1pPr marL="0" marR="0" lvl="0" indent="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2743200" marR="0" lvl="6"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3200400" marR="0" lvl="7"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3657600" marR="0" lvl="8"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21696" y="744538"/>
            <a:ext cx="6621000" cy="3722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66750" y="4714875"/>
            <a:ext cx="5329238" cy="4467225"/>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540"/>
              </a:spcBef>
              <a:spcAft>
                <a:spcPts val="0"/>
              </a:spcAft>
              <a:buSzPts val="1400"/>
              <a:buNone/>
              <a:defRPr sz="1800" b="0" i="0" u="none" strike="noStrike" cap="none">
                <a:solidFill>
                  <a:schemeClr val="dk1"/>
                </a:solidFill>
                <a:latin typeface="Arial"/>
                <a:ea typeface="Arial"/>
                <a:cs typeface="Arial"/>
                <a:sym typeface="Arial"/>
              </a:defRPr>
            </a:lvl1pPr>
            <a:lvl2pPr marL="914400" marR="0" lvl="1" indent="-228600" algn="l" rtl="0">
              <a:spcBef>
                <a:spcPts val="540"/>
              </a:spcBef>
              <a:spcAft>
                <a:spcPts val="0"/>
              </a:spcAft>
              <a:buSzPts val="1400"/>
              <a:buNone/>
              <a:defRPr sz="1800" b="0" i="0" u="none" strike="noStrike" cap="none">
                <a:solidFill>
                  <a:schemeClr val="dk1"/>
                </a:solidFill>
                <a:latin typeface="Arial"/>
                <a:ea typeface="Arial"/>
                <a:cs typeface="Arial"/>
                <a:sym typeface="Arial"/>
              </a:defRPr>
            </a:lvl2pPr>
            <a:lvl3pPr marL="1371600" marR="0" lvl="2" indent="-228600" algn="l" rtl="0">
              <a:spcBef>
                <a:spcPts val="540"/>
              </a:spcBef>
              <a:spcAft>
                <a:spcPts val="0"/>
              </a:spcAft>
              <a:buSzPts val="1400"/>
              <a:buNone/>
              <a:defRPr sz="1800" b="0" i="0" u="none" strike="noStrike" cap="none">
                <a:solidFill>
                  <a:schemeClr val="dk1"/>
                </a:solidFill>
                <a:latin typeface="Arial"/>
                <a:ea typeface="Arial"/>
                <a:cs typeface="Arial"/>
                <a:sym typeface="Arial"/>
              </a:defRPr>
            </a:lvl3pPr>
            <a:lvl4pPr marL="1828800" marR="0" lvl="3" indent="-228600" algn="l" rtl="0">
              <a:spcBef>
                <a:spcPts val="540"/>
              </a:spcBef>
              <a:spcAft>
                <a:spcPts val="0"/>
              </a:spcAft>
              <a:buSzPts val="1400"/>
              <a:buNone/>
              <a:defRPr sz="1800" b="0" i="0" u="none" strike="noStrike" cap="none">
                <a:solidFill>
                  <a:schemeClr val="dk1"/>
                </a:solidFill>
                <a:latin typeface="Arial"/>
                <a:ea typeface="Arial"/>
                <a:cs typeface="Arial"/>
                <a:sym typeface="Arial"/>
              </a:defRPr>
            </a:lvl4pPr>
            <a:lvl5pPr marL="2286000" marR="0" lvl="4" indent="-228600" algn="l" rtl="0">
              <a:spcBef>
                <a:spcPts val="540"/>
              </a:spcBef>
              <a:spcAft>
                <a:spcPts val="0"/>
              </a:spcAft>
              <a:buSzPts val="1400"/>
              <a:buNone/>
              <a:defRPr sz="18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8163"/>
            <a:ext cx="2887663" cy="496887"/>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2743200" marR="0" lvl="6"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3200400" marR="0" lvl="7"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3657600" marR="0" lvl="8"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773488" y="9428163"/>
            <a:ext cx="2887662" cy="4968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603a08a165_0_246:notes"/>
          <p:cNvSpPr>
            <a:spLocks noGrp="1" noRot="1" noChangeAspect="1"/>
          </p:cNvSpPr>
          <p:nvPr>
            <p:ph type="sldImg" idx="2"/>
          </p:nvPr>
        </p:nvSpPr>
        <p:spPr>
          <a:xfrm>
            <a:off x="23813" y="744538"/>
            <a:ext cx="6615112"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603a08a165_0_246:notes"/>
          <p:cNvSpPr txBox="1">
            <a:spLocks noGrp="1"/>
          </p:cNvSpPr>
          <p:nvPr>
            <p:ph type="body" idx="1"/>
          </p:nvPr>
        </p:nvSpPr>
        <p:spPr>
          <a:xfrm>
            <a:off x="666272" y="4715147"/>
            <a:ext cx="5330100" cy="4467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79e9c9c0e3_0_0:notes"/>
          <p:cNvSpPr>
            <a:spLocks noGrp="1" noRot="1" noChangeAspect="1"/>
          </p:cNvSpPr>
          <p:nvPr>
            <p:ph type="sldImg" idx="2"/>
          </p:nvPr>
        </p:nvSpPr>
        <p:spPr>
          <a:xfrm>
            <a:off x="23813" y="744538"/>
            <a:ext cx="6615112"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79e9c9c0e3_0_0:notes"/>
          <p:cNvSpPr txBox="1">
            <a:spLocks noGrp="1"/>
          </p:cNvSpPr>
          <p:nvPr>
            <p:ph type="body" idx="1"/>
          </p:nvPr>
        </p:nvSpPr>
        <p:spPr>
          <a:xfrm>
            <a:off x="666272" y="4715147"/>
            <a:ext cx="5330100" cy="4467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79e9c9c0e3_0_192:notes"/>
          <p:cNvSpPr>
            <a:spLocks noGrp="1" noRot="1" noChangeAspect="1"/>
          </p:cNvSpPr>
          <p:nvPr>
            <p:ph type="sldImg" idx="2"/>
          </p:nvPr>
        </p:nvSpPr>
        <p:spPr>
          <a:xfrm>
            <a:off x="23813"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79e9c9c0e3_0_192:notes"/>
          <p:cNvSpPr txBox="1">
            <a:spLocks noGrp="1"/>
          </p:cNvSpPr>
          <p:nvPr>
            <p:ph type="body" idx="1"/>
          </p:nvPr>
        </p:nvSpPr>
        <p:spPr>
          <a:xfrm>
            <a:off x="666750" y="4714875"/>
            <a:ext cx="5329200" cy="4467300"/>
          </a:xfrm>
          <a:prstGeom prst="rect">
            <a:avLst/>
          </a:prstGeom>
        </p:spPr>
        <p:txBody>
          <a:bodyPr spcFirstLastPara="1" wrap="square" lIns="91425" tIns="91425" rIns="91425" bIns="91425" anchor="t" anchorCtr="0">
            <a:noAutofit/>
          </a:bodyPr>
          <a:lstStyle/>
          <a:p>
            <a:pPr marL="0" lvl="0" indent="0" algn="l" rtl="0">
              <a:spcBef>
                <a:spcPts val="540"/>
              </a:spcBef>
              <a:spcAft>
                <a:spcPts val="0"/>
              </a:spcAft>
              <a:buNone/>
            </a:pPr>
            <a:endParaRPr/>
          </a:p>
        </p:txBody>
      </p:sp>
      <p:sp>
        <p:nvSpPr>
          <p:cNvPr id="124" name="Google Shape;124;g79e9c9c0e3_0_192:notes"/>
          <p:cNvSpPr txBox="1">
            <a:spLocks noGrp="1"/>
          </p:cNvSpPr>
          <p:nvPr>
            <p:ph type="sldNum" idx="12"/>
          </p:nvPr>
        </p:nvSpPr>
        <p:spPr>
          <a:xfrm>
            <a:off x="3773488" y="9428163"/>
            <a:ext cx="2887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fr-F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86603e80bd_0_122:notes"/>
          <p:cNvSpPr>
            <a:spLocks noGrp="1" noRot="1" noChangeAspect="1"/>
          </p:cNvSpPr>
          <p:nvPr>
            <p:ph type="sldImg" idx="2"/>
          </p:nvPr>
        </p:nvSpPr>
        <p:spPr>
          <a:xfrm>
            <a:off x="23813"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86603e80bd_0_122:notes"/>
          <p:cNvSpPr txBox="1">
            <a:spLocks noGrp="1"/>
          </p:cNvSpPr>
          <p:nvPr>
            <p:ph type="body" idx="1"/>
          </p:nvPr>
        </p:nvSpPr>
        <p:spPr>
          <a:xfrm>
            <a:off x="666750" y="4714875"/>
            <a:ext cx="5329200" cy="4467300"/>
          </a:xfrm>
          <a:prstGeom prst="rect">
            <a:avLst/>
          </a:prstGeom>
        </p:spPr>
        <p:txBody>
          <a:bodyPr spcFirstLastPara="1" wrap="square" lIns="91425" tIns="91425" rIns="91425" bIns="91425" anchor="t" anchorCtr="0">
            <a:noAutofit/>
          </a:bodyPr>
          <a:lstStyle/>
          <a:p>
            <a:pPr marL="0" lvl="0" indent="0" algn="l" rtl="0">
              <a:spcBef>
                <a:spcPts val="540"/>
              </a:spcBef>
              <a:spcAft>
                <a:spcPts val="0"/>
              </a:spcAft>
              <a:buNone/>
            </a:pPr>
            <a:endParaRPr/>
          </a:p>
        </p:txBody>
      </p:sp>
      <p:sp>
        <p:nvSpPr>
          <p:cNvPr id="147" name="Google Shape;147;g86603e80bd_0_122:notes"/>
          <p:cNvSpPr txBox="1">
            <a:spLocks noGrp="1"/>
          </p:cNvSpPr>
          <p:nvPr>
            <p:ph type="sldNum" idx="12"/>
          </p:nvPr>
        </p:nvSpPr>
        <p:spPr>
          <a:xfrm>
            <a:off x="3773488" y="9428163"/>
            <a:ext cx="2887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fr-F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79e9c9c0e3_0_100:notes"/>
          <p:cNvSpPr>
            <a:spLocks noGrp="1" noRot="1" noChangeAspect="1"/>
          </p:cNvSpPr>
          <p:nvPr>
            <p:ph type="sldImg" idx="2"/>
          </p:nvPr>
        </p:nvSpPr>
        <p:spPr>
          <a:xfrm>
            <a:off x="23813"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79e9c9c0e3_0_100:notes"/>
          <p:cNvSpPr txBox="1">
            <a:spLocks noGrp="1"/>
          </p:cNvSpPr>
          <p:nvPr>
            <p:ph type="body" idx="1"/>
          </p:nvPr>
        </p:nvSpPr>
        <p:spPr>
          <a:xfrm>
            <a:off x="666750" y="4714875"/>
            <a:ext cx="5329200" cy="4467300"/>
          </a:xfrm>
          <a:prstGeom prst="rect">
            <a:avLst/>
          </a:prstGeom>
        </p:spPr>
        <p:txBody>
          <a:bodyPr spcFirstLastPara="1" wrap="square" lIns="91425" tIns="91425" rIns="91425" bIns="91425" anchor="t" anchorCtr="0">
            <a:noAutofit/>
          </a:bodyPr>
          <a:lstStyle/>
          <a:p>
            <a:pPr marL="0" lvl="0" indent="0" algn="l" rtl="0">
              <a:spcBef>
                <a:spcPts val="540"/>
              </a:spcBef>
              <a:spcAft>
                <a:spcPts val="0"/>
              </a:spcAft>
              <a:buNone/>
            </a:pPr>
            <a:endParaRPr/>
          </a:p>
        </p:txBody>
      </p:sp>
      <p:sp>
        <p:nvSpPr>
          <p:cNvPr id="184" name="Google Shape;184;g79e9c9c0e3_0_100:notes"/>
          <p:cNvSpPr txBox="1">
            <a:spLocks noGrp="1"/>
          </p:cNvSpPr>
          <p:nvPr>
            <p:ph type="sldNum" idx="12"/>
          </p:nvPr>
        </p:nvSpPr>
        <p:spPr>
          <a:xfrm>
            <a:off x="3773488" y="9428163"/>
            <a:ext cx="2887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fr-F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79e9c9c0e3_0_217:notes"/>
          <p:cNvSpPr>
            <a:spLocks noGrp="1" noRot="1" noChangeAspect="1"/>
          </p:cNvSpPr>
          <p:nvPr>
            <p:ph type="sldImg" idx="2"/>
          </p:nvPr>
        </p:nvSpPr>
        <p:spPr>
          <a:xfrm>
            <a:off x="23813"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79e9c9c0e3_0_217:notes"/>
          <p:cNvSpPr txBox="1">
            <a:spLocks noGrp="1"/>
          </p:cNvSpPr>
          <p:nvPr>
            <p:ph type="body" idx="1"/>
          </p:nvPr>
        </p:nvSpPr>
        <p:spPr>
          <a:xfrm>
            <a:off x="666750" y="4714875"/>
            <a:ext cx="5329200" cy="4467300"/>
          </a:xfrm>
          <a:prstGeom prst="rect">
            <a:avLst/>
          </a:prstGeom>
        </p:spPr>
        <p:txBody>
          <a:bodyPr spcFirstLastPara="1" wrap="square" lIns="91425" tIns="91425" rIns="91425" bIns="91425" anchor="t" anchorCtr="0">
            <a:noAutofit/>
          </a:bodyPr>
          <a:lstStyle/>
          <a:p>
            <a:pPr marL="0" lvl="0" indent="0" algn="l" rtl="0">
              <a:spcBef>
                <a:spcPts val="540"/>
              </a:spcBef>
              <a:spcAft>
                <a:spcPts val="0"/>
              </a:spcAft>
              <a:buNone/>
            </a:pPr>
            <a:endParaRPr/>
          </a:p>
        </p:txBody>
      </p:sp>
      <p:sp>
        <p:nvSpPr>
          <p:cNvPr id="223" name="Google Shape;223;g79e9c9c0e3_0_217:notes"/>
          <p:cNvSpPr txBox="1">
            <a:spLocks noGrp="1"/>
          </p:cNvSpPr>
          <p:nvPr>
            <p:ph type="sldNum" idx="12"/>
          </p:nvPr>
        </p:nvSpPr>
        <p:spPr>
          <a:xfrm>
            <a:off x="3773488" y="9428163"/>
            <a:ext cx="2887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fr-F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79e9c9c0e3_0_255:notes"/>
          <p:cNvSpPr>
            <a:spLocks noGrp="1" noRot="1" noChangeAspect="1"/>
          </p:cNvSpPr>
          <p:nvPr>
            <p:ph type="sldImg" idx="2"/>
          </p:nvPr>
        </p:nvSpPr>
        <p:spPr>
          <a:xfrm>
            <a:off x="23813"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79e9c9c0e3_0_255:notes"/>
          <p:cNvSpPr txBox="1">
            <a:spLocks noGrp="1"/>
          </p:cNvSpPr>
          <p:nvPr>
            <p:ph type="body" idx="1"/>
          </p:nvPr>
        </p:nvSpPr>
        <p:spPr>
          <a:xfrm>
            <a:off x="666750" y="4714875"/>
            <a:ext cx="5329200" cy="4467300"/>
          </a:xfrm>
          <a:prstGeom prst="rect">
            <a:avLst/>
          </a:prstGeom>
        </p:spPr>
        <p:txBody>
          <a:bodyPr spcFirstLastPara="1" wrap="square" lIns="91425" tIns="91425" rIns="91425" bIns="91425" anchor="t" anchorCtr="0">
            <a:noAutofit/>
          </a:bodyPr>
          <a:lstStyle/>
          <a:p>
            <a:pPr marL="0" lvl="0" indent="0" algn="l" rtl="0">
              <a:spcBef>
                <a:spcPts val="540"/>
              </a:spcBef>
              <a:spcAft>
                <a:spcPts val="0"/>
              </a:spcAft>
              <a:buNone/>
            </a:pPr>
            <a:endParaRPr/>
          </a:p>
        </p:txBody>
      </p:sp>
      <p:sp>
        <p:nvSpPr>
          <p:cNvPr id="262" name="Google Shape;262;g79e9c9c0e3_0_255:notes"/>
          <p:cNvSpPr txBox="1">
            <a:spLocks noGrp="1"/>
          </p:cNvSpPr>
          <p:nvPr>
            <p:ph type="sldNum" idx="12"/>
          </p:nvPr>
        </p:nvSpPr>
        <p:spPr>
          <a:xfrm>
            <a:off x="3773488" y="9428163"/>
            <a:ext cx="2887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fr-F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79e9c9c0e3_0_293:notes"/>
          <p:cNvSpPr>
            <a:spLocks noGrp="1" noRot="1" noChangeAspect="1"/>
          </p:cNvSpPr>
          <p:nvPr>
            <p:ph type="sldImg" idx="2"/>
          </p:nvPr>
        </p:nvSpPr>
        <p:spPr>
          <a:xfrm>
            <a:off x="23813"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79e9c9c0e3_0_293:notes"/>
          <p:cNvSpPr txBox="1">
            <a:spLocks noGrp="1"/>
          </p:cNvSpPr>
          <p:nvPr>
            <p:ph type="body" idx="1"/>
          </p:nvPr>
        </p:nvSpPr>
        <p:spPr>
          <a:xfrm>
            <a:off x="666750" y="4714875"/>
            <a:ext cx="5329200" cy="4467300"/>
          </a:xfrm>
          <a:prstGeom prst="rect">
            <a:avLst/>
          </a:prstGeom>
        </p:spPr>
        <p:txBody>
          <a:bodyPr spcFirstLastPara="1" wrap="square" lIns="91425" tIns="91425" rIns="91425" bIns="91425" anchor="t" anchorCtr="0">
            <a:noAutofit/>
          </a:bodyPr>
          <a:lstStyle/>
          <a:p>
            <a:pPr marL="0" lvl="0" indent="0" algn="l" rtl="0">
              <a:spcBef>
                <a:spcPts val="540"/>
              </a:spcBef>
              <a:spcAft>
                <a:spcPts val="0"/>
              </a:spcAft>
              <a:buNone/>
            </a:pPr>
            <a:endParaRPr/>
          </a:p>
        </p:txBody>
      </p:sp>
      <p:sp>
        <p:nvSpPr>
          <p:cNvPr id="301" name="Google Shape;301;g79e9c9c0e3_0_293:notes"/>
          <p:cNvSpPr txBox="1">
            <a:spLocks noGrp="1"/>
          </p:cNvSpPr>
          <p:nvPr>
            <p:ph type="sldNum" idx="12"/>
          </p:nvPr>
        </p:nvSpPr>
        <p:spPr>
          <a:xfrm>
            <a:off x="3773488" y="9428163"/>
            <a:ext cx="2887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fr-F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79e9c9c0e3_0_334:notes"/>
          <p:cNvSpPr>
            <a:spLocks noGrp="1" noRot="1" noChangeAspect="1"/>
          </p:cNvSpPr>
          <p:nvPr>
            <p:ph type="sldImg" idx="2"/>
          </p:nvPr>
        </p:nvSpPr>
        <p:spPr>
          <a:xfrm>
            <a:off x="23813"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79e9c9c0e3_0_334:notes"/>
          <p:cNvSpPr txBox="1">
            <a:spLocks noGrp="1"/>
          </p:cNvSpPr>
          <p:nvPr>
            <p:ph type="body" idx="1"/>
          </p:nvPr>
        </p:nvSpPr>
        <p:spPr>
          <a:xfrm>
            <a:off x="666750" y="4714875"/>
            <a:ext cx="5329200" cy="4467300"/>
          </a:xfrm>
          <a:prstGeom prst="rect">
            <a:avLst/>
          </a:prstGeom>
        </p:spPr>
        <p:txBody>
          <a:bodyPr spcFirstLastPara="1" wrap="square" lIns="91425" tIns="91425" rIns="91425" bIns="91425" anchor="t" anchorCtr="0">
            <a:noAutofit/>
          </a:bodyPr>
          <a:lstStyle/>
          <a:p>
            <a:pPr marL="0" lvl="0" indent="0" algn="l" rtl="0">
              <a:spcBef>
                <a:spcPts val="540"/>
              </a:spcBef>
              <a:spcAft>
                <a:spcPts val="0"/>
              </a:spcAft>
              <a:buNone/>
            </a:pPr>
            <a:endParaRPr/>
          </a:p>
        </p:txBody>
      </p:sp>
      <p:sp>
        <p:nvSpPr>
          <p:cNvPr id="343" name="Google Shape;343;g79e9c9c0e3_0_334:notes"/>
          <p:cNvSpPr txBox="1">
            <a:spLocks noGrp="1"/>
          </p:cNvSpPr>
          <p:nvPr>
            <p:ph type="sldNum" idx="12"/>
          </p:nvPr>
        </p:nvSpPr>
        <p:spPr>
          <a:xfrm>
            <a:off x="3773488" y="9428163"/>
            <a:ext cx="2887800" cy="49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fr-FR"/>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re et contenu bleu">
  <p:cSld name="Titre et contenu bleu">
    <p:spTree>
      <p:nvGrpSpPr>
        <p:cNvPr id="1" name="Shape 13"/>
        <p:cNvGrpSpPr/>
        <p:nvPr/>
      </p:nvGrpSpPr>
      <p:grpSpPr>
        <a:xfrm>
          <a:off x="0" y="0"/>
          <a:ext cx="0" cy="0"/>
          <a:chOff x="0" y="0"/>
          <a:chExt cx="0" cy="0"/>
        </a:xfrm>
      </p:grpSpPr>
      <p:sp>
        <p:nvSpPr>
          <p:cNvPr id="14" name="Google Shape;14;p2"/>
          <p:cNvSpPr txBox="1">
            <a:spLocks noGrp="1"/>
          </p:cNvSpPr>
          <p:nvPr>
            <p:ph type="title"/>
          </p:nvPr>
        </p:nvSpPr>
        <p:spPr>
          <a:xfrm>
            <a:off x="553225" y="3058"/>
            <a:ext cx="8050800" cy="782700"/>
          </a:xfrm>
          <a:prstGeom prst="rect">
            <a:avLst/>
          </a:prstGeom>
          <a:noFill/>
          <a:ln>
            <a:noFill/>
          </a:ln>
        </p:spPr>
        <p:txBody>
          <a:bodyPr spcFirstLastPara="1" wrap="square" lIns="91425" tIns="91425" rIns="91425" bIns="91425" anchor="t" anchorCtr="0">
            <a:noAutofit/>
          </a:bodyPr>
          <a:lstStyle>
            <a:lvl1pPr marL="0" marR="0" lvl="0" indent="0" algn="ctr" rtl="0">
              <a:spcBef>
                <a:spcPts val="0"/>
              </a:spcBef>
              <a:spcAft>
                <a:spcPts val="0"/>
              </a:spcAft>
              <a:buSzPts val="2800"/>
              <a:buNone/>
              <a:defRPr sz="2800" i="0" u="none" strike="noStrike" cap="none"/>
            </a:lvl1pPr>
            <a:lvl2pPr marL="0" marR="0" lvl="1" indent="0" algn="ctr" rtl="0">
              <a:spcBef>
                <a:spcPts val="0"/>
              </a:spcBef>
              <a:spcAft>
                <a:spcPts val="0"/>
              </a:spcAft>
              <a:buSzPts val="1400"/>
              <a:buNone/>
              <a:defRPr sz="4400" b="0" i="0" u="none" strike="noStrike" cap="none">
                <a:solidFill>
                  <a:schemeClr val="dk2"/>
                </a:solidFill>
                <a:latin typeface="Calibri"/>
                <a:ea typeface="Calibri"/>
                <a:cs typeface="Calibri"/>
                <a:sym typeface="Calibri"/>
              </a:defRPr>
            </a:lvl2pPr>
            <a:lvl3pPr marL="0" marR="0" lvl="2" indent="0" algn="ctr" rtl="0">
              <a:spcBef>
                <a:spcPts val="0"/>
              </a:spcBef>
              <a:spcAft>
                <a:spcPts val="0"/>
              </a:spcAft>
              <a:buSzPts val="1400"/>
              <a:buNone/>
              <a:defRPr sz="4400" b="0" i="0" u="none" strike="noStrike" cap="none">
                <a:solidFill>
                  <a:schemeClr val="dk2"/>
                </a:solidFill>
                <a:latin typeface="Calibri"/>
                <a:ea typeface="Calibri"/>
                <a:cs typeface="Calibri"/>
                <a:sym typeface="Calibri"/>
              </a:defRPr>
            </a:lvl3pPr>
            <a:lvl4pPr marL="0" marR="0" lvl="3" indent="0" algn="ctr" rtl="0">
              <a:spcBef>
                <a:spcPts val="0"/>
              </a:spcBef>
              <a:spcAft>
                <a:spcPts val="0"/>
              </a:spcAft>
              <a:buSzPts val="1400"/>
              <a:buNone/>
              <a:defRPr sz="4400" b="0" i="0" u="none" strike="noStrike" cap="none">
                <a:solidFill>
                  <a:schemeClr val="dk2"/>
                </a:solidFill>
                <a:latin typeface="Calibri"/>
                <a:ea typeface="Calibri"/>
                <a:cs typeface="Calibri"/>
                <a:sym typeface="Calibri"/>
              </a:defRPr>
            </a:lvl4pPr>
            <a:lvl5pPr marL="0" marR="0" lvl="4" indent="0" algn="ctr" rtl="0">
              <a:spcBef>
                <a:spcPts val="0"/>
              </a:spcBef>
              <a:spcAft>
                <a:spcPts val="0"/>
              </a:spcAft>
              <a:buSzPts val="1400"/>
              <a:buNone/>
              <a:defRPr sz="4400" b="0" i="0" u="none" strike="noStrike" cap="none">
                <a:solidFill>
                  <a:schemeClr val="dk2"/>
                </a:solidFill>
                <a:latin typeface="Calibri"/>
                <a:ea typeface="Calibri"/>
                <a:cs typeface="Calibri"/>
                <a:sym typeface="Calibri"/>
              </a:defRPr>
            </a:lvl5pPr>
            <a:lvl6pPr marL="457200" marR="0" lvl="5" indent="0" algn="ctr" rtl="0">
              <a:spcBef>
                <a:spcPts val="0"/>
              </a:spcBef>
              <a:spcAft>
                <a:spcPts val="0"/>
              </a:spcAft>
              <a:buSzPts val="1400"/>
              <a:buNone/>
              <a:defRPr sz="4400" b="0" i="0" u="none" strike="noStrike" cap="none">
                <a:solidFill>
                  <a:schemeClr val="dk2"/>
                </a:solidFill>
                <a:latin typeface="Times"/>
                <a:ea typeface="Times"/>
                <a:cs typeface="Times"/>
                <a:sym typeface="Times"/>
              </a:defRPr>
            </a:lvl6pPr>
            <a:lvl7pPr marL="914400" marR="0" lvl="6" indent="0" algn="ctr" rtl="0">
              <a:spcBef>
                <a:spcPts val="0"/>
              </a:spcBef>
              <a:spcAft>
                <a:spcPts val="0"/>
              </a:spcAft>
              <a:buSzPts val="1400"/>
              <a:buNone/>
              <a:defRPr sz="4400" b="0" i="0" u="none" strike="noStrike" cap="none">
                <a:solidFill>
                  <a:schemeClr val="dk2"/>
                </a:solidFill>
                <a:latin typeface="Times"/>
                <a:ea typeface="Times"/>
                <a:cs typeface="Times"/>
                <a:sym typeface="Times"/>
              </a:defRPr>
            </a:lvl7pPr>
            <a:lvl8pPr marL="1371600" marR="0" lvl="7" indent="0" algn="ctr" rtl="0">
              <a:spcBef>
                <a:spcPts val="0"/>
              </a:spcBef>
              <a:spcAft>
                <a:spcPts val="0"/>
              </a:spcAft>
              <a:buSzPts val="1400"/>
              <a:buNone/>
              <a:defRPr sz="4400" b="0" i="0" u="none" strike="noStrike" cap="none">
                <a:solidFill>
                  <a:schemeClr val="dk2"/>
                </a:solidFill>
                <a:latin typeface="Times"/>
                <a:ea typeface="Times"/>
                <a:cs typeface="Times"/>
                <a:sym typeface="Times"/>
              </a:defRPr>
            </a:lvl8pPr>
            <a:lvl9pPr marL="1828800" marR="0" lvl="8" indent="0" algn="ctr" rtl="0">
              <a:spcBef>
                <a:spcPts val="0"/>
              </a:spcBef>
              <a:spcAft>
                <a:spcPts val="0"/>
              </a:spcAft>
              <a:buSzPts val="1400"/>
              <a:buNone/>
              <a:defRPr sz="4400" b="0" i="0" u="none" strike="noStrike" cap="none">
                <a:solidFill>
                  <a:schemeClr val="dk2"/>
                </a:solidFill>
                <a:latin typeface="Times"/>
                <a:ea typeface="Times"/>
                <a:cs typeface="Times"/>
                <a:sym typeface="Times"/>
              </a:defRPr>
            </a:lvl9pPr>
          </a:lstStyle>
          <a:p>
            <a:endParaRPr/>
          </a:p>
        </p:txBody>
      </p:sp>
      <p:sp>
        <p:nvSpPr>
          <p:cNvPr id="15" name="Google Shape;15;p2"/>
          <p:cNvSpPr txBox="1">
            <a:spLocks noGrp="1"/>
          </p:cNvSpPr>
          <p:nvPr>
            <p:ph type="body" idx="1"/>
          </p:nvPr>
        </p:nvSpPr>
        <p:spPr>
          <a:xfrm>
            <a:off x="553234" y="1187537"/>
            <a:ext cx="8050800" cy="33657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535353"/>
              </a:buClr>
              <a:buSzPts val="2400"/>
              <a:buNone/>
              <a:defRPr sz="2400" i="0" u="none" strike="noStrike" cap="none">
                <a:solidFill>
                  <a:srgbClr val="535353"/>
                </a:solidFill>
              </a:defRPr>
            </a:lvl1pPr>
            <a:lvl2pPr marL="914400" marR="0" lvl="1" indent="-355600" algn="l" rtl="0">
              <a:spcBef>
                <a:spcPts val="400"/>
              </a:spcBef>
              <a:spcAft>
                <a:spcPts val="0"/>
              </a:spcAft>
              <a:buClr>
                <a:srgbClr val="0092D2"/>
              </a:buClr>
              <a:buSzPts val="2000"/>
              <a:buChar char="–"/>
              <a:defRPr sz="2000" i="0" u="none" strike="noStrike" cap="none">
                <a:solidFill>
                  <a:srgbClr val="535353"/>
                </a:solidFill>
              </a:defRPr>
            </a:lvl2pPr>
            <a:lvl3pPr marL="1371600" marR="0" lvl="2" indent="-381000" algn="l" rtl="0">
              <a:spcBef>
                <a:spcPts val="480"/>
              </a:spcBef>
              <a:spcAft>
                <a:spcPts val="0"/>
              </a:spcAft>
              <a:buClr>
                <a:schemeClr val="dk1"/>
              </a:buClr>
              <a:buSzPts val="2400"/>
              <a:buChar char="•"/>
              <a:defRPr sz="2400" i="0" u="none" strike="noStrike" cap="none">
                <a:solidFill>
                  <a:schemeClr val="dk1"/>
                </a:solidFill>
              </a:defRPr>
            </a:lvl3pPr>
            <a:lvl4pPr marL="1828800" marR="0" lvl="3" indent="-355600" algn="l" rtl="0">
              <a:spcBef>
                <a:spcPts val="400"/>
              </a:spcBef>
              <a:spcAft>
                <a:spcPts val="0"/>
              </a:spcAft>
              <a:buClr>
                <a:schemeClr val="dk1"/>
              </a:buClr>
              <a:buSzPts val="2000"/>
              <a:buChar char="–"/>
              <a:defRPr sz="2000" i="0" u="none" strike="noStrike" cap="none">
                <a:solidFill>
                  <a:schemeClr val="dk1"/>
                </a:solidFill>
              </a:defRPr>
            </a:lvl4pPr>
            <a:lvl5pPr marL="2286000" marR="0" lvl="4" indent="-355600" algn="l" rtl="0">
              <a:spcBef>
                <a:spcPts val="400"/>
              </a:spcBef>
              <a:spcAft>
                <a:spcPts val="0"/>
              </a:spcAft>
              <a:buClr>
                <a:schemeClr val="dk1"/>
              </a:buClr>
              <a:buSzPts val="2000"/>
              <a:buChar char="»"/>
              <a:defRPr sz="2000" i="0" u="none" strike="noStrike" cap="none">
                <a:solidFill>
                  <a:schemeClr val="dk1"/>
                </a:solidFill>
              </a:defRPr>
            </a:lvl5pPr>
            <a:lvl6pPr marL="2743200" marR="0" lvl="5" indent="-355600" algn="l" rtl="0">
              <a:spcBef>
                <a:spcPts val="400"/>
              </a:spcBef>
              <a:spcAft>
                <a:spcPts val="0"/>
              </a:spcAft>
              <a:buClr>
                <a:schemeClr val="dk1"/>
              </a:buClr>
              <a:buSzPts val="2000"/>
              <a:buChar char="»"/>
              <a:defRPr sz="2000" i="0" u="none" strike="noStrike" cap="none">
                <a:solidFill>
                  <a:schemeClr val="dk1"/>
                </a:solidFill>
              </a:defRPr>
            </a:lvl6pPr>
            <a:lvl7pPr marL="3200400" marR="0" lvl="6" indent="-355600" algn="l" rtl="0">
              <a:spcBef>
                <a:spcPts val="400"/>
              </a:spcBef>
              <a:spcAft>
                <a:spcPts val="0"/>
              </a:spcAft>
              <a:buClr>
                <a:schemeClr val="dk1"/>
              </a:buClr>
              <a:buSzPts val="2000"/>
              <a:buChar char="»"/>
              <a:defRPr sz="2000" i="0" u="none" strike="noStrike" cap="none">
                <a:solidFill>
                  <a:schemeClr val="dk1"/>
                </a:solidFill>
              </a:defRPr>
            </a:lvl7pPr>
            <a:lvl8pPr marL="3657600" marR="0" lvl="7" indent="-355600" algn="l" rtl="0">
              <a:spcBef>
                <a:spcPts val="400"/>
              </a:spcBef>
              <a:spcAft>
                <a:spcPts val="0"/>
              </a:spcAft>
              <a:buClr>
                <a:schemeClr val="dk1"/>
              </a:buClr>
              <a:buSzPts val="2000"/>
              <a:buChar char="»"/>
              <a:defRPr sz="2000" i="0" u="none" strike="noStrike" cap="none">
                <a:solidFill>
                  <a:schemeClr val="dk1"/>
                </a:solidFill>
              </a:defRPr>
            </a:lvl8pPr>
            <a:lvl9pPr marL="4114800" marR="0" lvl="8" indent="-355600" algn="l" rtl="0">
              <a:spcBef>
                <a:spcPts val="400"/>
              </a:spcBef>
              <a:spcAft>
                <a:spcPts val="0"/>
              </a:spcAft>
              <a:buClr>
                <a:schemeClr val="dk1"/>
              </a:buClr>
              <a:buSzPts val="2000"/>
              <a:buChar char="»"/>
              <a:defRPr sz="2000" i="0" u="none" strike="noStrike" cap="none">
                <a:solidFill>
                  <a:schemeClr val="dk1"/>
                </a:solidFill>
              </a:defRPr>
            </a:lvl9pPr>
          </a:lstStyle>
          <a:p>
            <a:endParaRPr/>
          </a:p>
        </p:txBody>
      </p:sp>
      <p:pic>
        <p:nvPicPr>
          <p:cNvPr id="16" name="Google Shape;16;p2"/>
          <p:cNvPicPr preferRelativeResize="0"/>
          <p:nvPr/>
        </p:nvPicPr>
        <p:blipFill rotWithShape="1">
          <a:blip r:embed="rId2">
            <a:alphaModFix/>
          </a:blip>
          <a:srcRect/>
          <a:stretch/>
        </p:blipFill>
        <p:spPr>
          <a:xfrm>
            <a:off x="0" y="4955194"/>
            <a:ext cx="722459" cy="188363"/>
          </a:xfrm>
          <a:prstGeom prst="rect">
            <a:avLst/>
          </a:prstGeom>
          <a:noFill/>
          <a:ln>
            <a:noFill/>
          </a:ln>
        </p:spPr>
      </p:pic>
      <p:sp>
        <p:nvSpPr>
          <p:cNvPr id="17" name="Google Shape;17;p2"/>
          <p:cNvSpPr txBox="1">
            <a:spLocks noGrp="1"/>
          </p:cNvSpPr>
          <p:nvPr>
            <p:ph type="ftr" idx="11"/>
          </p:nvPr>
        </p:nvSpPr>
        <p:spPr>
          <a:xfrm>
            <a:off x="2038643" y="4747256"/>
            <a:ext cx="4482000" cy="3762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949494"/>
                </a:solidFill>
                <a:latin typeface="Arial"/>
                <a:ea typeface="Arial"/>
                <a:cs typeface="Arial"/>
                <a:sym typeface="Arial"/>
              </a:defRPr>
            </a:lvl1pPr>
            <a:lvl2pPr marL="457200" marR="0" lvl="1"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2743200" marR="0" lvl="6"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3200400" marR="0" lvl="7"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3657600" marR="0" lvl="8" indent="0"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8" name="Google Shape;18;p2"/>
          <p:cNvSpPr txBox="1">
            <a:spLocks noGrp="1"/>
          </p:cNvSpPr>
          <p:nvPr>
            <p:ph type="sldNum" idx="12"/>
          </p:nvPr>
        </p:nvSpPr>
        <p:spPr>
          <a:xfrm>
            <a:off x="7672175" y="4768481"/>
            <a:ext cx="1471800" cy="3750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949494"/>
                </a:solidFill>
                <a:latin typeface="Arial"/>
                <a:ea typeface="Arial"/>
                <a:cs typeface="Arial"/>
                <a:sym typeface="Arial"/>
              </a:defRPr>
            </a:lvl1pPr>
            <a:lvl2pPr marL="0" marR="0" lvl="1" indent="0" algn="r" rtl="0">
              <a:spcBef>
                <a:spcPts val="0"/>
              </a:spcBef>
              <a:spcAft>
                <a:spcPts val="0"/>
              </a:spcAft>
              <a:buNone/>
              <a:defRPr sz="1200" b="0" i="0" u="none" strike="noStrike" cap="none">
                <a:solidFill>
                  <a:srgbClr val="949494"/>
                </a:solidFill>
                <a:latin typeface="Arial"/>
                <a:ea typeface="Arial"/>
                <a:cs typeface="Arial"/>
                <a:sym typeface="Arial"/>
              </a:defRPr>
            </a:lvl2pPr>
            <a:lvl3pPr marL="0" marR="0" lvl="2" indent="0" algn="r" rtl="0">
              <a:spcBef>
                <a:spcPts val="0"/>
              </a:spcBef>
              <a:spcAft>
                <a:spcPts val="0"/>
              </a:spcAft>
              <a:buNone/>
              <a:defRPr sz="1200" b="0" i="0" u="none" strike="noStrike" cap="none">
                <a:solidFill>
                  <a:srgbClr val="949494"/>
                </a:solidFill>
                <a:latin typeface="Arial"/>
                <a:ea typeface="Arial"/>
                <a:cs typeface="Arial"/>
                <a:sym typeface="Arial"/>
              </a:defRPr>
            </a:lvl3pPr>
            <a:lvl4pPr marL="0" marR="0" lvl="3" indent="0" algn="r" rtl="0">
              <a:spcBef>
                <a:spcPts val="0"/>
              </a:spcBef>
              <a:spcAft>
                <a:spcPts val="0"/>
              </a:spcAft>
              <a:buNone/>
              <a:defRPr sz="1200" b="0" i="0" u="none" strike="noStrike" cap="none">
                <a:solidFill>
                  <a:srgbClr val="949494"/>
                </a:solidFill>
                <a:latin typeface="Arial"/>
                <a:ea typeface="Arial"/>
                <a:cs typeface="Arial"/>
                <a:sym typeface="Arial"/>
              </a:defRPr>
            </a:lvl4pPr>
            <a:lvl5pPr marL="0" marR="0" lvl="4" indent="0" algn="r" rtl="0">
              <a:spcBef>
                <a:spcPts val="0"/>
              </a:spcBef>
              <a:spcAft>
                <a:spcPts val="0"/>
              </a:spcAft>
              <a:buNone/>
              <a:defRPr sz="1200" b="0" i="0" u="none" strike="noStrike" cap="none">
                <a:solidFill>
                  <a:srgbClr val="949494"/>
                </a:solidFill>
                <a:latin typeface="Arial"/>
                <a:ea typeface="Arial"/>
                <a:cs typeface="Arial"/>
                <a:sym typeface="Arial"/>
              </a:defRPr>
            </a:lvl5pPr>
            <a:lvl6pPr marL="0" marR="0" lvl="5" indent="0" algn="r" rtl="0">
              <a:spcBef>
                <a:spcPts val="0"/>
              </a:spcBef>
              <a:spcAft>
                <a:spcPts val="0"/>
              </a:spcAft>
              <a:buNone/>
              <a:defRPr sz="1200" b="0" i="0" u="none" strike="noStrike" cap="none">
                <a:solidFill>
                  <a:srgbClr val="949494"/>
                </a:solidFill>
                <a:latin typeface="Arial"/>
                <a:ea typeface="Arial"/>
                <a:cs typeface="Arial"/>
                <a:sym typeface="Arial"/>
              </a:defRPr>
            </a:lvl6pPr>
            <a:lvl7pPr marL="0" marR="0" lvl="6" indent="0" algn="r" rtl="0">
              <a:spcBef>
                <a:spcPts val="0"/>
              </a:spcBef>
              <a:spcAft>
                <a:spcPts val="0"/>
              </a:spcAft>
              <a:buNone/>
              <a:defRPr sz="1200" b="0" i="0" u="none" strike="noStrike" cap="none">
                <a:solidFill>
                  <a:srgbClr val="949494"/>
                </a:solidFill>
                <a:latin typeface="Arial"/>
                <a:ea typeface="Arial"/>
                <a:cs typeface="Arial"/>
                <a:sym typeface="Arial"/>
              </a:defRPr>
            </a:lvl7pPr>
            <a:lvl8pPr marL="0" marR="0" lvl="7" indent="0" algn="r" rtl="0">
              <a:spcBef>
                <a:spcPts val="0"/>
              </a:spcBef>
              <a:spcAft>
                <a:spcPts val="0"/>
              </a:spcAft>
              <a:buNone/>
              <a:defRPr sz="1200" b="0" i="0" u="none" strike="noStrike" cap="none">
                <a:solidFill>
                  <a:srgbClr val="949494"/>
                </a:solidFill>
                <a:latin typeface="Arial"/>
                <a:ea typeface="Arial"/>
                <a:cs typeface="Arial"/>
                <a:sym typeface="Arial"/>
              </a:defRPr>
            </a:lvl8pPr>
            <a:lvl9pPr marL="0" marR="0" lvl="8" indent="0" algn="r" rtl="0">
              <a:spcBef>
                <a:spcPts val="0"/>
              </a:spcBef>
              <a:spcAft>
                <a:spcPts val="0"/>
              </a:spcAft>
              <a:buNone/>
              <a:defRPr sz="1200" b="0" i="0" u="none" strike="noStrike" cap="none">
                <a:solidFill>
                  <a:srgbClr val="949494"/>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vert">
  <p:cSld name="Titre et contenu vert">
    <p:spTree>
      <p:nvGrpSpPr>
        <p:cNvPr id="1"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a:stretch/>
        </p:blipFill>
        <p:spPr>
          <a:xfrm>
            <a:off x="0" y="631031"/>
            <a:ext cx="7559700" cy="566700"/>
          </a:xfrm>
          <a:prstGeom prst="rect">
            <a:avLst/>
          </a:prstGeom>
          <a:noFill/>
          <a:ln>
            <a:noFill/>
          </a:ln>
        </p:spPr>
      </p:pic>
      <p:pic>
        <p:nvPicPr>
          <p:cNvPr id="21" name="Google Shape;21;p3" descr="\\localhost\Volumes\Commun\CLIENTS\ESSILOR\ESSI 051_Logotype Groupe\LOGOTHEQUE\LOGOTHEQUE ESSILOR GROUP\ESSILOR GROUP GREY\GREY\ESSI G GREY.png"/>
          <p:cNvPicPr preferRelativeResize="0"/>
          <p:nvPr/>
        </p:nvPicPr>
        <p:blipFill rotWithShape="1">
          <a:blip r:embed="rId3">
            <a:alphaModFix/>
          </a:blip>
          <a:srcRect/>
          <a:stretch/>
        </p:blipFill>
        <p:spPr>
          <a:xfrm>
            <a:off x="6911975" y="4792266"/>
            <a:ext cx="1692300" cy="330900"/>
          </a:xfrm>
          <a:prstGeom prst="rect">
            <a:avLst/>
          </a:prstGeom>
          <a:noFill/>
          <a:ln>
            <a:noFill/>
          </a:ln>
        </p:spPr>
      </p:pic>
      <p:sp>
        <p:nvSpPr>
          <p:cNvPr id="22" name="Google Shape;22;p3"/>
          <p:cNvSpPr txBox="1">
            <a:spLocks noGrp="1"/>
          </p:cNvSpPr>
          <p:nvPr>
            <p:ph type="title"/>
          </p:nvPr>
        </p:nvSpPr>
        <p:spPr>
          <a:xfrm>
            <a:off x="553234" y="3407"/>
            <a:ext cx="8050800" cy="9423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SzPts val="1400"/>
              <a:buNone/>
              <a:defRPr sz="3600" b="0" i="0" u="none" strike="noStrike" cap="none">
                <a:solidFill>
                  <a:srgbClr val="92C233"/>
                </a:solidFill>
                <a:latin typeface="Rambla"/>
                <a:ea typeface="Rambla"/>
                <a:cs typeface="Rambla"/>
                <a:sym typeface="Rambla"/>
              </a:defRPr>
            </a:lvl1pPr>
            <a:lvl2pPr marL="0" marR="0" lvl="1" indent="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L="0" marR="0" lvl="2" indent="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L="0" marR="0" lvl="3" indent="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L="0" marR="0" lvl="4" indent="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L="457200" marR="0" lvl="5" indent="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L="914400" marR="0" lvl="6" indent="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L="1371600" marR="0" lvl="7" indent="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L="1828800" marR="0" lvl="8" indent="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23" name="Google Shape;23;p3"/>
          <p:cNvSpPr txBox="1">
            <a:spLocks noGrp="1"/>
          </p:cNvSpPr>
          <p:nvPr>
            <p:ph type="body" idx="1"/>
          </p:nvPr>
        </p:nvSpPr>
        <p:spPr>
          <a:xfrm>
            <a:off x="553234" y="1191719"/>
            <a:ext cx="8050800" cy="33504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0C0C0C"/>
              </a:buClr>
              <a:buSzPts val="1400"/>
              <a:buFont typeface="Arial"/>
              <a:buNone/>
              <a:defRPr sz="2400" b="0" i="0" u="none" strike="noStrike" cap="none">
                <a:solidFill>
                  <a:srgbClr val="0C0C0C"/>
                </a:solidFill>
                <a:latin typeface="Rambla"/>
                <a:ea typeface="Rambla"/>
                <a:cs typeface="Rambla"/>
                <a:sym typeface="Rambla"/>
              </a:defRPr>
            </a:lvl1pPr>
            <a:lvl2pPr marL="914400" marR="0" lvl="1" indent="-355600" algn="l" rtl="0">
              <a:lnSpc>
                <a:spcPct val="90000"/>
              </a:lnSpc>
              <a:spcBef>
                <a:spcPts val="500"/>
              </a:spcBef>
              <a:spcAft>
                <a:spcPts val="0"/>
              </a:spcAft>
              <a:buClr>
                <a:srgbClr val="92C233"/>
              </a:buClr>
              <a:buSzPts val="2000"/>
              <a:buFont typeface="Arial"/>
              <a:buChar char="•"/>
              <a:defRPr sz="2000" b="0" i="0" u="none" strike="noStrike" cap="none">
                <a:solidFill>
                  <a:srgbClr val="0C0C0C"/>
                </a:solidFill>
                <a:latin typeface="Rambla"/>
                <a:ea typeface="Rambla"/>
                <a:cs typeface="Rambla"/>
                <a:sym typeface="Rambla"/>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ftr" idx="11"/>
          </p:nvPr>
        </p:nvSpPr>
        <p:spPr>
          <a:xfrm>
            <a:off x="2143125" y="4767263"/>
            <a:ext cx="4483200" cy="3762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sldNum" idx="12"/>
          </p:nvPr>
        </p:nvSpPr>
        <p:spPr>
          <a:xfrm>
            <a:off x="566738" y="4768453"/>
            <a:ext cx="1471500" cy="375000"/>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l" rtl="0">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l" rtl="0">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l" rtl="0">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l" rtl="0">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l" rtl="0">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l" rtl="0">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l" rtl="0">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l" rtl="0">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0"/>
        <p:cNvGrpSpPr/>
        <p:nvPr/>
      </p:nvGrpSpPr>
      <p:grpSpPr>
        <a:xfrm>
          <a:off x="0" y="0"/>
          <a:ext cx="0" cy="0"/>
          <a:chOff x="0" y="0"/>
          <a:chExt cx="0" cy="0"/>
        </a:xfrm>
      </p:grpSpPr>
      <p:sp>
        <p:nvSpPr>
          <p:cNvPr id="31" name="Google Shape;31;p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32" name="Google Shape;32;p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3" name="Google Shape;3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9" name="Google Shape;39;p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3" name="Google Shape;43;p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44" name="Google Shape;44;p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45" name="Google Shape;4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sp>
        <p:nvSpPr>
          <p:cNvPr id="47" name="Google Shape;47;p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51" name="Google Shape;51;p1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52" name="Google Shape;5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3"/>
        <p:cNvGrpSpPr/>
        <p:nvPr/>
      </p:nvGrpSpPr>
      <p:grpSpPr>
        <a:xfrm>
          <a:off x="0" y="0"/>
          <a:ext cx="0" cy="0"/>
          <a:chOff x="0" y="0"/>
          <a:chExt cx="0" cy="0"/>
        </a:xfrm>
      </p:grpSpPr>
      <p:sp>
        <p:nvSpPr>
          <p:cNvPr id="54" name="Google Shape;54;p1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6"/>
        <p:cNvGrpSpPr/>
        <p:nvPr/>
      </p:nvGrpSpPr>
      <p:grpSpPr>
        <a:xfrm>
          <a:off x="0" y="0"/>
          <a:ext cx="0" cy="0"/>
          <a:chOff x="0" y="0"/>
          <a:chExt cx="0" cy="0"/>
        </a:xfrm>
      </p:grpSpPr>
      <p:sp>
        <p:nvSpPr>
          <p:cNvPr id="57" name="Google Shape;57;p1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59" name="Google Shape;59;p1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0" name="Google Shape;60;p12"/>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2"/>
        <p:cNvGrpSpPr/>
        <p:nvPr/>
      </p:nvGrpSpPr>
      <p:grpSpPr>
        <a:xfrm>
          <a:off x="0" y="0"/>
          <a:ext cx="0" cy="0"/>
          <a:chOff x="0" y="0"/>
          <a:chExt cx="0" cy="0"/>
        </a:xfrm>
      </p:grpSpPr>
      <p:sp>
        <p:nvSpPr>
          <p:cNvPr id="63" name="Google Shape;63;p13"/>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
        <p:nvSpPr>
          <p:cNvPr id="64" name="Google Shape;64;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
        <p:cNvGrpSpPr/>
        <p:nvPr/>
      </p:nvGrpSpPr>
      <p:grpSpPr>
        <a:xfrm>
          <a:off x="0" y="0"/>
          <a:ext cx="0" cy="0"/>
          <a:chOff x="0" y="0"/>
          <a:chExt cx="0" cy="0"/>
        </a:xfrm>
      </p:grpSpPr>
      <p:sp>
        <p:nvSpPr>
          <p:cNvPr id="66" name="Google Shape;66;p14"/>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67" name="Google Shape;67;p14"/>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68" name="Google Shape;6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9"/>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FR"/>
              <a:t>‹#›</a:t>
            </a:fld>
            <a:endParaRPr/>
          </a:p>
        </p:txBody>
      </p:sp>
      <p:pic>
        <p:nvPicPr>
          <p:cNvPr id="71" name="Google Shape;71;p15"/>
          <p:cNvPicPr preferRelativeResize="0"/>
          <p:nvPr/>
        </p:nvPicPr>
        <p:blipFill rotWithShape="1">
          <a:blip r:embed="rId2">
            <a:alphaModFix/>
          </a:blip>
          <a:srcRect/>
          <a:stretch/>
        </p:blipFill>
        <p:spPr>
          <a:xfrm>
            <a:off x="0" y="4955194"/>
            <a:ext cx="722459" cy="18836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1588" y="1191"/>
            <a:ext cx="1200" cy="1200"/>
          </a:xfrm>
          <a:prstGeom prst="rect">
            <a:avLst/>
          </a:prstGeom>
          <a:solidFill>
            <a:srgbClr val="FFFFFF"/>
          </a:solidFill>
          <a:ln>
            <a:noFill/>
          </a:ln>
        </p:spPr>
      </p:sp>
      <p:pic>
        <p:nvPicPr>
          <p:cNvPr id="11" name="Google Shape;11;p1"/>
          <p:cNvPicPr preferRelativeResize="0"/>
          <p:nvPr/>
        </p:nvPicPr>
        <p:blipFill rotWithShape="1">
          <a:blip r:embed="rId4">
            <a:alphaModFix/>
          </a:blip>
          <a:srcRect/>
          <a:stretch/>
        </p:blipFill>
        <p:spPr>
          <a:xfrm>
            <a:off x="0" y="4955194"/>
            <a:ext cx="722459" cy="188363"/>
          </a:xfrm>
          <a:prstGeom prst="rect">
            <a:avLst/>
          </a:prstGeom>
          <a:noFill/>
          <a:ln>
            <a:noFill/>
          </a:ln>
        </p:spPr>
      </p:pic>
      <p:sp>
        <p:nvSpPr>
          <p:cNvPr id="12" name="Google Shape;12;p1"/>
          <p:cNvSpPr txBox="1">
            <a:spLocks noGrp="1"/>
          </p:cNvSpPr>
          <p:nvPr>
            <p:ph type="sldNum" idx="12"/>
          </p:nvPr>
        </p:nvSpPr>
        <p:spPr>
          <a:xfrm>
            <a:off x="7672175" y="4768481"/>
            <a:ext cx="1471800" cy="3750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949494"/>
                </a:solidFill>
                <a:latin typeface="Arial"/>
                <a:ea typeface="Arial"/>
                <a:cs typeface="Arial"/>
                <a:sym typeface="Arial"/>
              </a:defRPr>
            </a:lvl1pPr>
            <a:lvl2pPr marL="0" marR="0" lvl="1" indent="0" algn="r" rtl="0">
              <a:spcBef>
                <a:spcPts val="0"/>
              </a:spcBef>
              <a:spcAft>
                <a:spcPts val="0"/>
              </a:spcAft>
              <a:buNone/>
              <a:defRPr sz="1200" b="0" i="0" u="none" strike="noStrike" cap="none">
                <a:solidFill>
                  <a:srgbClr val="949494"/>
                </a:solidFill>
                <a:latin typeface="Arial"/>
                <a:ea typeface="Arial"/>
                <a:cs typeface="Arial"/>
                <a:sym typeface="Arial"/>
              </a:defRPr>
            </a:lvl2pPr>
            <a:lvl3pPr marL="0" marR="0" lvl="2" indent="0" algn="r" rtl="0">
              <a:spcBef>
                <a:spcPts val="0"/>
              </a:spcBef>
              <a:spcAft>
                <a:spcPts val="0"/>
              </a:spcAft>
              <a:buNone/>
              <a:defRPr sz="1200" b="0" i="0" u="none" strike="noStrike" cap="none">
                <a:solidFill>
                  <a:srgbClr val="949494"/>
                </a:solidFill>
                <a:latin typeface="Arial"/>
                <a:ea typeface="Arial"/>
                <a:cs typeface="Arial"/>
                <a:sym typeface="Arial"/>
              </a:defRPr>
            </a:lvl3pPr>
            <a:lvl4pPr marL="0" marR="0" lvl="3" indent="0" algn="r" rtl="0">
              <a:spcBef>
                <a:spcPts val="0"/>
              </a:spcBef>
              <a:spcAft>
                <a:spcPts val="0"/>
              </a:spcAft>
              <a:buNone/>
              <a:defRPr sz="1200" b="0" i="0" u="none" strike="noStrike" cap="none">
                <a:solidFill>
                  <a:srgbClr val="949494"/>
                </a:solidFill>
                <a:latin typeface="Arial"/>
                <a:ea typeface="Arial"/>
                <a:cs typeface="Arial"/>
                <a:sym typeface="Arial"/>
              </a:defRPr>
            </a:lvl4pPr>
            <a:lvl5pPr marL="0" marR="0" lvl="4" indent="0" algn="r" rtl="0">
              <a:spcBef>
                <a:spcPts val="0"/>
              </a:spcBef>
              <a:spcAft>
                <a:spcPts val="0"/>
              </a:spcAft>
              <a:buNone/>
              <a:defRPr sz="1200" b="0" i="0" u="none" strike="noStrike" cap="none">
                <a:solidFill>
                  <a:srgbClr val="949494"/>
                </a:solidFill>
                <a:latin typeface="Arial"/>
                <a:ea typeface="Arial"/>
                <a:cs typeface="Arial"/>
                <a:sym typeface="Arial"/>
              </a:defRPr>
            </a:lvl5pPr>
            <a:lvl6pPr marL="0" marR="0" lvl="5" indent="0" algn="r" rtl="0">
              <a:spcBef>
                <a:spcPts val="0"/>
              </a:spcBef>
              <a:spcAft>
                <a:spcPts val="0"/>
              </a:spcAft>
              <a:buNone/>
              <a:defRPr sz="1200" b="0" i="0" u="none" strike="noStrike" cap="none">
                <a:solidFill>
                  <a:srgbClr val="949494"/>
                </a:solidFill>
                <a:latin typeface="Arial"/>
                <a:ea typeface="Arial"/>
                <a:cs typeface="Arial"/>
                <a:sym typeface="Arial"/>
              </a:defRPr>
            </a:lvl6pPr>
            <a:lvl7pPr marL="0" marR="0" lvl="6" indent="0" algn="r" rtl="0">
              <a:spcBef>
                <a:spcPts val="0"/>
              </a:spcBef>
              <a:spcAft>
                <a:spcPts val="0"/>
              </a:spcAft>
              <a:buNone/>
              <a:defRPr sz="1200" b="0" i="0" u="none" strike="noStrike" cap="none">
                <a:solidFill>
                  <a:srgbClr val="949494"/>
                </a:solidFill>
                <a:latin typeface="Arial"/>
                <a:ea typeface="Arial"/>
                <a:cs typeface="Arial"/>
                <a:sym typeface="Arial"/>
              </a:defRPr>
            </a:lvl7pPr>
            <a:lvl8pPr marL="0" marR="0" lvl="7" indent="0" algn="r" rtl="0">
              <a:spcBef>
                <a:spcPts val="0"/>
              </a:spcBef>
              <a:spcAft>
                <a:spcPts val="0"/>
              </a:spcAft>
              <a:buNone/>
              <a:defRPr sz="1200" b="0" i="0" u="none" strike="noStrike" cap="none">
                <a:solidFill>
                  <a:srgbClr val="949494"/>
                </a:solidFill>
                <a:latin typeface="Arial"/>
                <a:ea typeface="Arial"/>
                <a:cs typeface="Arial"/>
                <a:sym typeface="Arial"/>
              </a:defRPr>
            </a:lvl8pPr>
            <a:lvl9pPr marL="0" marR="0" lvl="8" indent="0" algn="r" rtl="0">
              <a:spcBef>
                <a:spcPts val="0"/>
              </a:spcBef>
              <a:spcAft>
                <a:spcPts val="0"/>
              </a:spcAft>
              <a:buNone/>
              <a:defRPr sz="1200" b="0" i="0" u="none" strike="noStrike" cap="none">
                <a:solidFill>
                  <a:srgbClr val="949494"/>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28" name="Google Shape;2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1600"/>
              </a:spcBef>
              <a:spcAft>
                <a:spcPts val="0"/>
              </a:spcAft>
              <a:buClr>
                <a:schemeClr val="dk2"/>
              </a:buClr>
              <a:buSzPts val="1400"/>
              <a:buChar char="○"/>
              <a:defRPr>
                <a:solidFill>
                  <a:schemeClr val="dk2"/>
                </a:solidFill>
              </a:defRPr>
            </a:lvl2pPr>
            <a:lvl3pPr marL="1371600" lvl="2" indent="-317500" rtl="0">
              <a:lnSpc>
                <a:spcPct val="115000"/>
              </a:lnSpc>
              <a:spcBef>
                <a:spcPts val="1600"/>
              </a:spcBef>
              <a:spcAft>
                <a:spcPts val="0"/>
              </a:spcAft>
              <a:buClr>
                <a:schemeClr val="dk2"/>
              </a:buClr>
              <a:buSzPts val="1400"/>
              <a:buChar char="■"/>
              <a:defRPr>
                <a:solidFill>
                  <a:schemeClr val="dk2"/>
                </a:solidFill>
              </a:defRPr>
            </a:lvl3pPr>
            <a:lvl4pPr marL="1828800" lvl="3" indent="-317500" rtl="0">
              <a:lnSpc>
                <a:spcPct val="115000"/>
              </a:lnSpc>
              <a:spcBef>
                <a:spcPts val="1600"/>
              </a:spcBef>
              <a:spcAft>
                <a:spcPts val="0"/>
              </a:spcAft>
              <a:buClr>
                <a:schemeClr val="dk2"/>
              </a:buClr>
              <a:buSzPts val="1400"/>
              <a:buChar char="●"/>
              <a:defRPr>
                <a:solidFill>
                  <a:schemeClr val="dk2"/>
                </a:solidFill>
              </a:defRPr>
            </a:lvl4pPr>
            <a:lvl5pPr marL="2286000" lvl="4" indent="-317500" rtl="0">
              <a:lnSpc>
                <a:spcPct val="115000"/>
              </a:lnSpc>
              <a:spcBef>
                <a:spcPts val="1600"/>
              </a:spcBef>
              <a:spcAft>
                <a:spcPts val="0"/>
              </a:spcAft>
              <a:buClr>
                <a:schemeClr val="dk2"/>
              </a:buClr>
              <a:buSzPts val="1400"/>
              <a:buChar char="○"/>
              <a:defRPr>
                <a:solidFill>
                  <a:schemeClr val="dk2"/>
                </a:solidFill>
              </a:defRPr>
            </a:lvl5pPr>
            <a:lvl6pPr marL="2743200" lvl="5" indent="-317500" rtl="0">
              <a:lnSpc>
                <a:spcPct val="115000"/>
              </a:lnSpc>
              <a:spcBef>
                <a:spcPts val="1600"/>
              </a:spcBef>
              <a:spcAft>
                <a:spcPts val="0"/>
              </a:spcAft>
              <a:buClr>
                <a:schemeClr val="dk2"/>
              </a:buClr>
              <a:buSzPts val="1400"/>
              <a:buChar char="■"/>
              <a:defRPr>
                <a:solidFill>
                  <a:schemeClr val="dk2"/>
                </a:solidFill>
              </a:defRPr>
            </a:lvl6pPr>
            <a:lvl7pPr marL="3200400" lvl="6" indent="-317500" rtl="0">
              <a:lnSpc>
                <a:spcPct val="115000"/>
              </a:lnSpc>
              <a:spcBef>
                <a:spcPts val="1600"/>
              </a:spcBef>
              <a:spcAft>
                <a:spcPts val="0"/>
              </a:spcAft>
              <a:buClr>
                <a:schemeClr val="dk2"/>
              </a:buClr>
              <a:buSzPts val="1400"/>
              <a:buChar char="●"/>
              <a:defRPr>
                <a:solidFill>
                  <a:schemeClr val="dk2"/>
                </a:solidFill>
              </a:defRPr>
            </a:lvl7pPr>
            <a:lvl8pPr marL="3657600" lvl="7" indent="-317500" rtl="0">
              <a:lnSpc>
                <a:spcPct val="115000"/>
              </a:lnSpc>
              <a:spcBef>
                <a:spcPts val="1600"/>
              </a:spcBef>
              <a:spcAft>
                <a:spcPts val="0"/>
              </a:spcAft>
              <a:buClr>
                <a:schemeClr val="dk2"/>
              </a:buClr>
              <a:buSzPts val="1400"/>
              <a:buChar char="○"/>
              <a:defRPr>
                <a:solidFill>
                  <a:schemeClr val="dk2"/>
                </a:solidFill>
              </a:defRPr>
            </a:lvl8pPr>
            <a:lvl9pPr marL="4114800" lvl="8" indent="-317500" rtl="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fr-F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3763"/>
        </a:solidFill>
        <a:effectLst/>
      </p:bgPr>
    </p:bg>
    <p:spTree>
      <p:nvGrpSpPr>
        <p:cNvPr id="1" name="Shape 75"/>
        <p:cNvGrpSpPr/>
        <p:nvPr/>
      </p:nvGrpSpPr>
      <p:grpSpPr>
        <a:xfrm>
          <a:off x="0" y="0"/>
          <a:ext cx="0" cy="0"/>
          <a:chOff x="0" y="0"/>
          <a:chExt cx="0" cy="0"/>
        </a:xfrm>
      </p:grpSpPr>
      <p:sp>
        <p:nvSpPr>
          <p:cNvPr id="76" name="Google Shape;76;p16"/>
          <p:cNvSpPr/>
          <p:nvPr/>
        </p:nvSpPr>
        <p:spPr>
          <a:xfrm>
            <a:off x="4195748" y="605550"/>
            <a:ext cx="3501900" cy="3419700"/>
          </a:xfrm>
          <a:prstGeom prst="ellipse">
            <a:avLst/>
          </a:prstGeom>
          <a:noFill/>
          <a:ln w="28575" cap="flat" cmpd="sng">
            <a:solidFill>
              <a:srgbClr val="FFFFFF"/>
            </a:solidFill>
            <a:prstDash val="solid"/>
            <a:round/>
            <a:headEnd type="none" w="sm" len="sm"/>
            <a:tailEnd type="none" w="sm" len="sm"/>
          </a:ln>
          <a:effectLst>
            <a:outerShdw blurRad="57150" dist="19050" dir="4920000" algn="bl" rotWithShape="0">
              <a:srgbClr val="000000">
                <a:alpha val="7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6"/>
          <p:cNvSpPr/>
          <p:nvPr/>
        </p:nvSpPr>
        <p:spPr>
          <a:xfrm rot="-9047291">
            <a:off x="2420922" y="-424002"/>
            <a:ext cx="3047703" cy="2127969"/>
          </a:xfrm>
          <a:prstGeom prst="arc">
            <a:avLst>
              <a:gd name="adj1" fmla="val 13534526"/>
              <a:gd name="adj2" fmla="val 21451455"/>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6"/>
          <p:cNvSpPr/>
          <p:nvPr/>
        </p:nvSpPr>
        <p:spPr>
          <a:xfrm rot="-2044681">
            <a:off x="6562355" y="1321866"/>
            <a:ext cx="3047537" cy="2128018"/>
          </a:xfrm>
          <a:prstGeom prst="arc">
            <a:avLst>
              <a:gd name="adj1" fmla="val 16200000"/>
              <a:gd name="adj2" fmla="val 21451455"/>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9" name="Google Shape;79;p16"/>
          <p:cNvPicPr preferRelativeResize="0"/>
          <p:nvPr/>
        </p:nvPicPr>
        <p:blipFill rotWithShape="1">
          <a:blip r:embed="rId3">
            <a:alphaModFix/>
          </a:blip>
          <a:srcRect b="21966"/>
          <a:stretch/>
        </p:blipFill>
        <p:spPr>
          <a:xfrm>
            <a:off x="7597048" y="4751234"/>
            <a:ext cx="1420535" cy="356300"/>
          </a:xfrm>
          <a:prstGeom prst="rect">
            <a:avLst/>
          </a:prstGeom>
          <a:noFill/>
          <a:ln>
            <a:noFill/>
          </a:ln>
          <a:effectLst>
            <a:outerShdw blurRad="57150" dist="19050" dir="2700000" algn="bl" rotWithShape="0">
              <a:srgbClr val="000000">
                <a:alpha val="61000"/>
              </a:srgbClr>
            </a:outerShdw>
          </a:effectLst>
        </p:spPr>
      </p:pic>
      <p:sp>
        <p:nvSpPr>
          <p:cNvPr id="80" name="Google Shape;80;p16"/>
          <p:cNvSpPr txBox="1"/>
          <p:nvPr/>
        </p:nvSpPr>
        <p:spPr>
          <a:xfrm>
            <a:off x="1474485" y="4999485"/>
            <a:ext cx="5972700" cy="158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700">
                <a:solidFill>
                  <a:srgbClr val="F3F3F3"/>
                </a:solidFill>
                <a:latin typeface="Roboto"/>
                <a:ea typeface="Roboto"/>
                <a:cs typeface="Roboto"/>
                <a:sym typeface="Roboto"/>
              </a:rPr>
              <a:t>© ESSILOR – Group IT Solutions / Digital Innovation – For internal use only. Do not disclose or copy.</a:t>
            </a:r>
            <a:endParaRPr sz="700">
              <a:solidFill>
                <a:srgbClr val="F3F3F3"/>
              </a:solidFill>
              <a:latin typeface="Roboto"/>
              <a:ea typeface="Roboto"/>
              <a:cs typeface="Roboto"/>
              <a:sym typeface="Roboto"/>
            </a:endParaRPr>
          </a:p>
        </p:txBody>
      </p:sp>
      <p:sp>
        <p:nvSpPr>
          <p:cNvPr id="81" name="Google Shape;81;p16"/>
          <p:cNvSpPr txBox="1"/>
          <p:nvPr/>
        </p:nvSpPr>
        <p:spPr>
          <a:xfrm>
            <a:off x="3845200" y="1459450"/>
            <a:ext cx="4046700" cy="159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2400">
                <a:solidFill>
                  <a:schemeClr val="lt1"/>
                </a:solidFill>
                <a:latin typeface="Roboto"/>
                <a:ea typeface="Roboto"/>
                <a:cs typeface="Roboto"/>
                <a:sym typeface="Roboto"/>
              </a:rPr>
              <a:t>EyeCloud</a:t>
            </a:r>
            <a:endParaRPr sz="2400">
              <a:solidFill>
                <a:schemeClr val="lt1"/>
              </a:solidFill>
              <a:latin typeface="Roboto"/>
              <a:ea typeface="Roboto"/>
              <a:cs typeface="Roboto"/>
              <a:sym typeface="Roboto"/>
            </a:endParaRPr>
          </a:p>
          <a:p>
            <a:pPr marL="0" lvl="0" indent="0" algn="ctr" rtl="0">
              <a:spcBef>
                <a:spcPts val="0"/>
              </a:spcBef>
              <a:spcAft>
                <a:spcPts val="0"/>
              </a:spcAft>
              <a:buNone/>
            </a:pPr>
            <a:endParaRPr sz="2400">
              <a:solidFill>
                <a:schemeClr val="lt1"/>
              </a:solidFill>
              <a:latin typeface="Roboto"/>
              <a:ea typeface="Roboto"/>
              <a:cs typeface="Roboto"/>
              <a:sym typeface="Roboto"/>
            </a:endParaRPr>
          </a:p>
          <a:p>
            <a:pPr marL="0" lvl="0" indent="0" algn="ctr" rtl="0">
              <a:spcBef>
                <a:spcPts val="0"/>
              </a:spcBef>
              <a:spcAft>
                <a:spcPts val="0"/>
              </a:spcAft>
              <a:buNone/>
            </a:pPr>
            <a:r>
              <a:rPr lang="fr-FR" sz="1800">
                <a:solidFill>
                  <a:schemeClr val="lt1"/>
                </a:solidFill>
                <a:latin typeface="Roboto"/>
                <a:ea typeface="Roboto"/>
                <a:cs typeface="Roboto"/>
                <a:sym typeface="Roboto"/>
              </a:rPr>
              <a:t>Introducing &amp; Traceability for Turkey</a:t>
            </a:r>
            <a:endParaRPr sz="1800">
              <a:solidFill>
                <a:schemeClr val="lt1"/>
              </a:solidFill>
              <a:latin typeface="Roboto"/>
              <a:ea typeface="Roboto"/>
              <a:cs typeface="Roboto"/>
              <a:sym typeface="Roboto"/>
            </a:endParaRPr>
          </a:p>
          <a:p>
            <a:pPr marL="0" lvl="0" indent="0" algn="ctr" rtl="0">
              <a:spcBef>
                <a:spcPts val="0"/>
              </a:spcBef>
              <a:spcAft>
                <a:spcPts val="0"/>
              </a:spcAft>
              <a:buNone/>
            </a:pPr>
            <a:endParaRPr sz="1800">
              <a:solidFill>
                <a:schemeClr val="lt1"/>
              </a:solidFill>
              <a:latin typeface="Roboto"/>
              <a:ea typeface="Roboto"/>
              <a:cs typeface="Roboto"/>
              <a:sym typeface="Roboto"/>
            </a:endParaRPr>
          </a:p>
          <a:p>
            <a:pPr marL="0" lvl="0" indent="0" algn="ctr" rtl="0">
              <a:spcBef>
                <a:spcPts val="0"/>
              </a:spcBef>
              <a:spcAft>
                <a:spcPts val="0"/>
              </a:spcAft>
              <a:buNone/>
            </a:pPr>
            <a:r>
              <a:rPr lang="fr-FR" sz="1200">
                <a:solidFill>
                  <a:schemeClr val="lt1"/>
                </a:solidFill>
                <a:latin typeface="Roboto"/>
                <a:ea typeface="Roboto"/>
                <a:cs typeface="Roboto"/>
                <a:sym typeface="Roboto"/>
              </a:rPr>
              <a:t>March 2021</a:t>
            </a:r>
            <a:endParaRPr sz="1200">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p:nvPr/>
        </p:nvSpPr>
        <p:spPr>
          <a:xfrm>
            <a:off x="2183375" y="2198875"/>
            <a:ext cx="4400700" cy="24645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7"/>
          <p:cNvSpPr txBox="1"/>
          <p:nvPr/>
        </p:nvSpPr>
        <p:spPr>
          <a:xfrm>
            <a:off x="314900" y="966475"/>
            <a:ext cx="8327700" cy="793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200" b="1" i="1">
                <a:solidFill>
                  <a:schemeClr val="dk1"/>
                </a:solidFill>
                <a:highlight>
                  <a:srgbClr val="FFFFFF"/>
                </a:highlight>
              </a:rPr>
              <a:t>"EyeCloud is a database </a:t>
            </a:r>
            <a:r>
              <a:rPr lang="fr-FR" sz="3600" b="1" i="1">
                <a:solidFill>
                  <a:schemeClr val="dk1"/>
                </a:solidFill>
                <a:highlight>
                  <a:srgbClr val="FFFFFF"/>
                </a:highlight>
              </a:rPr>
              <a:t>enabling</a:t>
            </a:r>
            <a:r>
              <a:rPr lang="fr-FR" sz="1200" b="1" i="1">
                <a:solidFill>
                  <a:schemeClr val="dk1"/>
                </a:solidFill>
                <a:highlight>
                  <a:srgbClr val="FFFFFF"/>
                </a:highlight>
              </a:rPr>
              <a:t> all actors involved in the ordering and manufacturing process of lenses to find and share the data they need (about lenses, frames)."</a:t>
            </a:r>
            <a:endParaRPr/>
          </a:p>
        </p:txBody>
      </p:sp>
      <p:sp>
        <p:nvSpPr>
          <p:cNvPr id="88" name="Google Shape;88;p17"/>
          <p:cNvSpPr txBox="1"/>
          <p:nvPr/>
        </p:nvSpPr>
        <p:spPr>
          <a:xfrm>
            <a:off x="8062475" y="4684475"/>
            <a:ext cx="953400" cy="31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2</a:t>
            </a:fld>
            <a:endParaRPr/>
          </a:p>
        </p:txBody>
      </p:sp>
      <p:pic>
        <p:nvPicPr>
          <p:cNvPr id="90" name="Google Shape;90;p17"/>
          <p:cNvPicPr preferRelativeResize="0"/>
          <p:nvPr/>
        </p:nvPicPr>
        <p:blipFill rotWithShape="1">
          <a:blip r:embed="rId3">
            <a:alphaModFix/>
          </a:blip>
          <a:srcRect/>
          <a:stretch/>
        </p:blipFill>
        <p:spPr>
          <a:xfrm>
            <a:off x="5022816" y="2101120"/>
            <a:ext cx="460257" cy="355378"/>
          </a:xfrm>
          <a:prstGeom prst="rect">
            <a:avLst/>
          </a:prstGeom>
          <a:noFill/>
          <a:ln>
            <a:noFill/>
          </a:ln>
        </p:spPr>
      </p:pic>
      <p:pic>
        <p:nvPicPr>
          <p:cNvPr id="91" name="Google Shape;91;p17"/>
          <p:cNvPicPr preferRelativeResize="0"/>
          <p:nvPr/>
        </p:nvPicPr>
        <p:blipFill>
          <a:blip r:embed="rId4">
            <a:alphaModFix/>
          </a:blip>
          <a:stretch>
            <a:fillRect/>
          </a:stretch>
        </p:blipFill>
        <p:spPr>
          <a:xfrm>
            <a:off x="3327919" y="2038050"/>
            <a:ext cx="460275" cy="481519"/>
          </a:xfrm>
          <a:prstGeom prst="rect">
            <a:avLst/>
          </a:prstGeom>
          <a:noFill/>
          <a:ln>
            <a:noFill/>
          </a:ln>
        </p:spPr>
      </p:pic>
      <p:pic>
        <p:nvPicPr>
          <p:cNvPr id="92" name="Google Shape;92;p17"/>
          <p:cNvPicPr preferRelativeResize="0"/>
          <p:nvPr/>
        </p:nvPicPr>
        <p:blipFill rotWithShape="1">
          <a:blip r:embed="rId5">
            <a:alphaModFix/>
          </a:blip>
          <a:srcRect/>
          <a:stretch/>
        </p:blipFill>
        <p:spPr>
          <a:xfrm>
            <a:off x="2475670" y="2431745"/>
            <a:ext cx="570375" cy="584824"/>
          </a:xfrm>
          <a:prstGeom prst="rect">
            <a:avLst/>
          </a:prstGeom>
          <a:noFill/>
          <a:ln>
            <a:noFill/>
          </a:ln>
        </p:spPr>
      </p:pic>
      <p:pic>
        <p:nvPicPr>
          <p:cNvPr id="93" name="Google Shape;93;p17"/>
          <p:cNvPicPr preferRelativeResize="0"/>
          <p:nvPr/>
        </p:nvPicPr>
        <p:blipFill>
          <a:blip r:embed="rId6">
            <a:alphaModFix/>
          </a:blip>
          <a:stretch>
            <a:fillRect/>
          </a:stretch>
        </p:blipFill>
        <p:spPr>
          <a:xfrm>
            <a:off x="5784657" y="2519400"/>
            <a:ext cx="614250" cy="409500"/>
          </a:xfrm>
          <a:prstGeom prst="rect">
            <a:avLst/>
          </a:prstGeom>
          <a:noFill/>
          <a:ln>
            <a:noFill/>
          </a:ln>
        </p:spPr>
      </p:pic>
      <p:pic>
        <p:nvPicPr>
          <p:cNvPr id="94" name="Google Shape;94;p17"/>
          <p:cNvPicPr preferRelativeResize="0"/>
          <p:nvPr/>
        </p:nvPicPr>
        <p:blipFill rotWithShape="1">
          <a:blip r:embed="rId7">
            <a:alphaModFix/>
          </a:blip>
          <a:srcRect/>
          <a:stretch/>
        </p:blipFill>
        <p:spPr>
          <a:xfrm>
            <a:off x="1903800" y="3189675"/>
            <a:ext cx="718125" cy="718125"/>
          </a:xfrm>
          <a:prstGeom prst="rect">
            <a:avLst/>
          </a:prstGeom>
          <a:noFill/>
          <a:ln>
            <a:noFill/>
          </a:ln>
        </p:spPr>
      </p:pic>
      <p:pic>
        <p:nvPicPr>
          <p:cNvPr id="95" name="Google Shape;95;p17"/>
          <p:cNvPicPr preferRelativeResize="0"/>
          <p:nvPr/>
        </p:nvPicPr>
        <p:blipFill>
          <a:blip r:embed="rId8">
            <a:alphaModFix/>
          </a:blip>
          <a:stretch>
            <a:fillRect/>
          </a:stretch>
        </p:blipFill>
        <p:spPr>
          <a:xfrm>
            <a:off x="6352471" y="3318595"/>
            <a:ext cx="460276" cy="460276"/>
          </a:xfrm>
          <a:prstGeom prst="rect">
            <a:avLst/>
          </a:prstGeom>
          <a:noFill/>
          <a:ln>
            <a:noFill/>
          </a:ln>
        </p:spPr>
      </p:pic>
      <p:pic>
        <p:nvPicPr>
          <p:cNvPr id="96" name="Google Shape;96;p17"/>
          <p:cNvPicPr preferRelativeResize="0"/>
          <p:nvPr/>
        </p:nvPicPr>
        <p:blipFill>
          <a:blip r:embed="rId9">
            <a:alphaModFix/>
          </a:blip>
          <a:stretch>
            <a:fillRect/>
          </a:stretch>
        </p:blipFill>
        <p:spPr>
          <a:xfrm>
            <a:off x="4175385" y="1932950"/>
            <a:ext cx="460250" cy="460250"/>
          </a:xfrm>
          <a:prstGeom prst="rect">
            <a:avLst/>
          </a:prstGeom>
          <a:noFill/>
          <a:ln>
            <a:noFill/>
          </a:ln>
        </p:spPr>
      </p:pic>
      <p:pic>
        <p:nvPicPr>
          <p:cNvPr id="97" name="Google Shape;97;p17"/>
          <p:cNvPicPr preferRelativeResize="0"/>
          <p:nvPr/>
        </p:nvPicPr>
        <p:blipFill rotWithShape="1">
          <a:blip r:embed="rId10">
            <a:alphaModFix/>
          </a:blip>
          <a:srcRect/>
          <a:stretch/>
        </p:blipFill>
        <p:spPr>
          <a:xfrm>
            <a:off x="3999631" y="3532944"/>
            <a:ext cx="898932" cy="535364"/>
          </a:xfrm>
          <a:prstGeom prst="rect">
            <a:avLst/>
          </a:prstGeom>
          <a:noFill/>
          <a:ln>
            <a:noFill/>
          </a:ln>
        </p:spPr>
      </p:pic>
      <p:cxnSp>
        <p:nvCxnSpPr>
          <p:cNvPr id="98" name="Google Shape;98;p17"/>
          <p:cNvCxnSpPr>
            <a:stCxn id="94" idx="3"/>
            <a:endCxn id="97" idx="0"/>
          </p:cNvCxnSpPr>
          <p:nvPr/>
        </p:nvCxnSpPr>
        <p:spPr>
          <a:xfrm rot="10800000" flipH="1">
            <a:off x="2621925" y="3532838"/>
            <a:ext cx="1827300" cy="15900"/>
          </a:xfrm>
          <a:prstGeom prst="straightConnector1">
            <a:avLst/>
          </a:prstGeom>
          <a:noFill/>
          <a:ln w="9525" cap="flat" cmpd="sng">
            <a:solidFill>
              <a:schemeClr val="dk2"/>
            </a:solidFill>
            <a:prstDash val="solid"/>
            <a:round/>
            <a:headEnd type="triangle" w="med" len="med"/>
            <a:tailEnd type="triangle" w="med" len="med"/>
          </a:ln>
        </p:spPr>
      </p:cxnSp>
      <p:cxnSp>
        <p:nvCxnSpPr>
          <p:cNvPr id="99" name="Google Shape;99;p17"/>
          <p:cNvCxnSpPr>
            <a:stCxn id="92" idx="3"/>
            <a:endCxn id="97" idx="0"/>
          </p:cNvCxnSpPr>
          <p:nvPr/>
        </p:nvCxnSpPr>
        <p:spPr>
          <a:xfrm>
            <a:off x="3046044" y="2724156"/>
            <a:ext cx="1403100" cy="808800"/>
          </a:xfrm>
          <a:prstGeom prst="straightConnector1">
            <a:avLst/>
          </a:prstGeom>
          <a:noFill/>
          <a:ln w="9525" cap="flat" cmpd="sng">
            <a:solidFill>
              <a:schemeClr val="dk2"/>
            </a:solidFill>
            <a:prstDash val="solid"/>
            <a:round/>
            <a:headEnd type="triangle" w="med" len="med"/>
            <a:tailEnd type="triangle" w="med" len="med"/>
          </a:ln>
        </p:spPr>
      </p:cxnSp>
      <p:cxnSp>
        <p:nvCxnSpPr>
          <p:cNvPr id="100" name="Google Shape;100;p17"/>
          <p:cNvCxnSpPr>
            <a:stCxn id="91" idx="2"/>
            <a:endCxn id="97" idx="0"/>
          </p:cNvCxnSpPr>
          <p:nvPr/>
        </p:nvCxnSpPr>
        <p:spPr>
          <a:xfrm>
            <a:off x="3558057" y="2519569"/>
            <a:ext cx="891000" cy="1013400"/>
          </a:xfrm>
          <a:prstGeom prst="straightConnector1">
            <a:avLst/>
          </a:prstGeom>
          <a:noFill/>
          <a:ln w="9525" cap="flat" cmpd="sng">
            <a:solidFill>
              <a:schemeClr val="dk2"/>
            </a:solidFill>
            <a:prstDash val="solid"/>
            <a:round/>
            <a:headEnd type="triangle" w="med" len="med"/>
            <a:tailEnd type="triangle" w="med" len="med"/>
          </a:ln>
        </p:spPr>
      </p:cxnSp>
      <p:cxnSp>
        <p:nvCxnSpPr>
          <p:cNvPr id="101" name="Google Shape;101;p17"/>
          <p:cNvCxnSpPr>
            <a:stCxn id="96" idx="2"/>
            <a:endCxn id="97" idx="0"/>
          </p:cNvCxnSpPr>
          <p:nvPr/>
        </p:nvCxnSpPr>
        <p:spPr>
          <a:xfrm>
            <a:off x="4405510" y="2393200"/>
            <a:ext cx="43500" cy="1139700"/>
          </a:xfrm>
          <a:prstGeom prst="straightConnector1">
            <a:avLst/>
          </a:prstGeom>
          <a:noFill/>
          <a:ln w="9525" cap="flat" cmpd="sng">
            <a:solidFill>
              <a:schemeClr val="dk2"/>
            </a:solidFill>
            <a:prstDash val="solid"/>
            <a:round/>
            <a:headEnd type="triangle" w="med" len="med"/>
            <a:tailEnd type="triangle" w="med" len="med"/>
          </a:ln>
        </p:spPr>
      </p:cxnSp>
      <p:cxnSp>
        <p:nvCxnSpPr>
          <p:cNvPr id="102" name="Google Shape;102;p17"/>
          <p:cNvCxnSpPr>
            <a:stCxn id="90" idx="2"/>
            <a:endCxn id="97" idx="0"/>
          </p:cNvCxnSpPr>
          <p:nvPr/>
        </p:nvCxnSpPr>
        <p:spPr>
          <a:xfrm flipH="1">
            <a:off x="4449244" y="2456498"/>
            <a:ext cx="803700" cy="1076400"/>
          </a:xfrm>
          <a:prstGeom prst="straightConnector1">
            <a:avLst/>
          </a:prstGeom>
          <a:noFill/>
          <a:ln w="9525" cap="flat" cmpd="sng">
            <a:solidFill>
              <a:schemeClr val="dk2"/>
            </a:solidFill>
            <a:prstDash val="solid"/>
            <a:round/>
            <a:headEnd type="triangle" w="med" len="med"/>
            <a:tailEnd type="triangle" w="med" len="med"/>
          </a:ln>
        </p:spPr>
      </p:cxnSp>
      <p:cxnSp>
        <p:nvCxnSpPr>
          <p:cNvPr id="103" name="Google Shape;103;p17"/>
          <p:cNvCxnSpPr>
            <a:stCxn id="93" idx="2"/>
            <a:endCxn id="97" idx="0"/>
          </p:cNvCxnSpPr>
          <p:nvPr/>
        </p:nvCxnSpPr>
        <p:spPr>
          <a:xfrm flipH="1">
            <a:off x="4448982" y="2928900"/>
            <a:ext cx="1642800" cy="603900"/>
          </a:xfrm>
          <a:prstGeom prst="straightConnector1">
            <a:avLst/>
          </a:prstGeom>
          <a:noFill/>
          <a:ln w="9525" cap="flat" cmpd="sng">
            <a:solidFill>
              <a:schemeClr val="dk2"/>
            </a:solidFill>
            <a:prstDash val="solid"/>
            <a:round/>
            <a:headEnd type="triangle" w="med" len="med"/>
            <a:tailEnd type="triangle" w="med" len="med"/>
          </a:ln>
        </p:spPr>
      </p:cxnSp>
      <p:cxnSp>
        <p:nvCxnSpPr>
          <p:cNvPr id="104" name="Google Shape;104;p17"/>
          <p:cNvCxnSpPr>
            <a:stCxn id="95" idx="1"/>
            <a:endCxn id="97" idx="0"/>
          </p:cNvCxnSpPr>
          <p:nvPr/>
        </p:nvCxnSpPr>
        <p:spPr>
          <a:xfrm rot="10800000">
            <a:off x="4448971" y="3532833"/>
            <a:ext cx="1903500" cy="15900"/>
          </a:xfrm>
          <a:prstGeom prst="straightConnector1">
            <a:avLst/>
          </a:prstGeom>
          <a:noFill/>
          <a:ln w="9525" cap="flat" cmpd="sng">
            <a:solidFill>
              <a:schemeClr val="dk2"/>
            </a:solidFill>
            <a:prstDash val="solid"/>
            <a:round/>
            <a:headEnd type="triangle" w="med" len="med"/>
            <a:tailEnd type="triangle" w="med" len="med"/>
          </a:ln>
        </p:spPr>
      </p:cxnSp>
      <p:pic>
        <p:nvPicPr>
          <p:cNvPr id="105" name="Google Shape;105;p17"/>
          <p:cNvPicPr preferRelativeResize="0"/>
          <p:nvPr/>
        </p:nvPicPr>
        <p:blipFill rotWithShape="1">
          <a:blip r:embed="rId11">
            <a:alphaModFix/>
          </a:blip>
          <a:srcRect/>
          <a:stretch/>
        </p:blipFill>
        <p:spPr>
          <a:xfrm>
            <a:off x="3443175" y="2647943"/>
            <a:ext cx="642000" cy="336407"/>
          </a:xfrm>
          <a:prstGeom prst="rect">
            <a:avLst/>
          </a:prstGeom>
          <a:noFill/>
          <a:ln>
            <a:noFill/>
          </a:ln>
        </p:spPr>
      </p:pic>
      <p:cxnSp>
        <p:nvCxnSpPr>
          <p:cNvPr id="106" name="Google Shape;106;p17"/>
          <p:cNvCxnSpPr>
            <a:stCxn id="105" idx="2"/>
            <a:endCxn id="97" idx="0"/>
          </p:cNvCxnSpPr>
          <p:nvPr/>
        </p:nvCxnSpPr>
        <p:spPr>
          <a:xfrm>
            <a:off x="3764175" y="2984350"/>
            <a:ext cx="684900" cy="548700"/>
          </a:xfrm>
          <a:prstGeom prst="straightConnector1">
            <a:avLst/>
          </a:prstGeom>
          <a:noFill/>
          <a:ln w="9525" cap="flat" cmpd="sng">
            <a:solidFill>
              <a:schemeClr val="dk2"/>
            </a:solidFill>
            <a:prstDash val="solid"/>
            <a:round/>
            <a:headEnd type="triangle" w="med" len="med"/>
            <a:tailEnd type="triangle" w="med" len="med"/>
          </a:ln>
        </p:spPr>
      </p:cxnSp>
      <p:cxnSp>
        <p:nvCxnSpPr>
          <p:cNvPr id="107" name="Google Shape;107;p17"/>
          <p:cNvCxnSpPr>
            <a:stCxn id="90" idx="2"/>
            <a:endCxn id="105" idx="3"/>
          </p:cNvCxnSpPr>
          <p:nvPr/>
        </p:nvCxnSpPr>
        <p:spPr>
          <a:xfrm flipH="1">
            <a:off x="4085044" y="2456498"/>
            <a:ext cx="1167900" cy="359700"/>
          </a:xfrm>
          <a:prstGeom prst="straightConnector1">
            <a:avLst/>
          </a:prstGeom>
          <a:noFill/>
          <a:ln w="9525" cap="flat" cmpd="sng">
            <a:solidFill>
              <a:srgbClr val="38761D"/>
            </a:solidFill>
            <a:prstDash val="solid"/>
            <a:round/>
            <a:headEnd type="triangle" w="med" len="med"/>
            <a:tailEnd type="triangle" w="med" len="med"/>
          </a:ln>
        </p:spPr>
      </p:cxnSp>
      <p:cxnSp>
        <p:nvCxnSpPr>
          <p:cNvPr id="108" name="Google Shape;108;p17"/>
          <p:cNvCxnSpPr>
            <a:endCxn id="105" idx="0"/>
          </p:cNvCxnSpPr>
          <p:nvPr/>
        </p:nvCxnSpPr>
        <p:spPr>
          <a:xfrm>
            <a:off x="3558075" y="2519543"/>
            <a:ext cx="206100" cy="128400"/>
          </a:xfrm>
          <a:prstGeom prst="straightConnector1">
            <a:avLst/>
          </a:prstGeom>
          <a:noFill/>
          <a:ln w="9525" cap="flat" cmpd="sng">
            <a:solidFill>
              <a:srgbClr val="38761D"/>
            </a:solidFill>
            <a:prstDash val="solid"/>
            <a:round/>
            <a:headEnd type="triangle" w="med" len="med"/>
            <a:tailEnd type="triangle" w="med" len="med"/>
          </a:ln>
        </p:spPr>
      </p:cxnSp>
      <p:cxnSp>
        <p:nvCxnSpPr>
          <p:cNvPr id="109" name="Google Shape;109;p17"/>
          <p:cNvCxnSpPr>
            <a:stCxn id="92" idx="3"/>
            <a:endCxn id="105" idx="1"/>
          </p:cNvCxnSpPr>
          <p:nvPr/>
        </p:nvCxnSpPr>
        <p:spPr>
          <a:xfrm>
            <a:off x="3046044" y="2724156"/>
            <a:ext cx="397200" cy="92100"/>
          </a:xfrm>
          <a:prstGeom prst="straightConnector1">
            <a:avLst/>
          </a:prstGeom>
          <a:noFill/>
          <a:ln w="9525" cap="flat" cmpd="sng">
            <a:solidFill>
              <a:srgbClr val="38761D"/>
            </a:solidFill>
            <a:prstDash val="solid"/>
            <a:round/>
            <a:headEnd type="triangle" w="med" len="med"/>
            <a:tailEnd type="triangle" w="med" len="med"/>
          </a:ln>
        </p:spPr>
      </p:cxnSp>
      <p:cxnSp>
        <p:nvCxnSpPr>
          <p:cNvPr id="110" name="Google Shape;110;p17"/>
          <p:cNvCxnSpPr>
            <a:endCxn id="111" idx="0"/>
          </p:cNvCxnSpPr>
          <p:nvPr/>
        </p:nvCxnSpPr>
        <p:spPr>
          <a:xfrm>
            <a:off x="4449100" y="4068300"/>
            <a:ext cx="0" cy="120900"/>
          </a:xfrm>
          <a:prstGeom prst="straightConnector1">
            <a:avLst/>
          </a:prstGeom>
          <a:noFill/>
          <a:ln w="9525" cap="flat" cmpd="sng">
            <a:solidFill>
              <a:schemeClr val="dk2"/>
            </a:solidFill>
            <a:prstDash val="solid"/>
            <a:round/>
            <a:headEnd type="none" w="med" len="med"/>
            <a:tailEnd type="triangle" w="med" len="med"/>
          </a:ln>
        </p:spPr>
      </p:cxnSp>
      <p:sp>
        <p:nvSpPr>
          <p:cNvPr id="112" name="Google Shape;112;p17"/>
          <p:cNvSpPr/>
          <p:nvPr/>
        </p:nvSpPr>
        <p:spPr>
          <a:xfrm>
            <a:off x="5328625" y="3799650"/>
            <a:ext cx="2061000" cy="11652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7"/>
          <p:cNvSpPr/>
          <p:nvPr/>
        </p:nvSpPr>
        <p:spPr>
          <a:xfrm>
            <a:off x="1508575" y="3872625"/>
            <a:ext cx="2061000" cy="11652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 name="Google Shape;114;p17"/>
          <p:cNvGrpSpPr/>
          <p:nvPr/>
        </p:nvGrpSpPr>
        <p:grpSpPr>
          <a:xfrm>
            <a:off x="3576100" y="4143125"/>
            <a:ext cx="1789200" cy="820650"/>
            <a:chOff x="3576100" y="4143125"/>
            <a:chExt cx="1789200" cy="820650"/>
          </a:xfrm>
        </p:grpSpPr>
        <p:sp>
          <p:nvSpPr>
            <p:cNvPr id="115" name="Google Shape;115;p17"/>
            <p:cNvSpPr/>
            <p:nvPr/>
          </p:nvSpPr>
          <p:spPr>
            <a:xfrm>
              <a:off x="3576100" y="4143125"/>
              <a:ext cx="1789200" cy="7182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1" name="Google Shape;111;p17"/>
            <p:cNvPicPr preferRelativeResize="0"/>
            <p:nvPr/>
          </p:nvPicPr>
          <p:blipFill>
            <a:blip r:embed="rId12">
              <a:alphaModFix/>
            </a:blip>
            <a:stretch>
              <a:fillRect/>
            </a:stretch>
          </p:blipFill>
          <p:spPr>
            <a:xfrm>
              <a:off x="4090038" y="4189200"/>
              <a:ext cx="718126" cy="386088"/>
            </a:xfrm>
            <a:prstGeom prst="rect">
              <a:avLst/>
            </a:prstGeom>
            <a:noFill/>
            <a:ln>
              <a:noFill/>
            </a:ln>
          </p:spPr>
        </p:pic>
        <p:sp>
          <p:nvSpPr>
            <p:cNvPr id="116" name="Google Shape;116;p17"/>
            <p:cNvSpPr txBox="1"/>
            <p:nvPr/>
          </p:nvSpPr>
          <p:spPr>
            <a:xfrm>
              <a:off x="3576100" y="4608275"/>
              <a:ext cx="1789200" cy="355500"/>
            </a:xfrm>
            <a:prstGeom prst="rect">
              <a:avLst/>
            </a:prstGeom>
            <a:solidFill>
              <a:srgbClr val="CC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sz="1200" baseline="30000"/>
                <a:t>Platform of services above EC</a:t>
              </a:r>
              <a:endParaRPr sz="1200">
                <a:solidFill>
                  <a:srgbClr val="000000"/>
                </a:solidFill>
              </a:endParaRPr>
            </a:p>
          </p:txBody>
        </p:sp>
      </p:grpSp>
      <p:sp>
        <p:nvSpPr>
          <p:cNvPr id="117" name="Google Shape;117;p17"/>
          <p:cNvSpPr/>
          <p:nvPr/>
        </p:nvSpPr>
        <p:spPr>
          <a:xfrm>
            <a:off x="11775" y="0"/>
            <a:ext cx="9144000" cy="584700"/>
          </a:xfrm>
          <a:prstGeom prst="rect">
            <a:avLst/>
          </a:prstGeom>
          <a:solidFill>
            <a:srgbClr val="458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7"/>
          <p:cNvSpPr txBox="1"/>
          <p:nvPr/>
        </p:nvSpPr>
        <p:spPr>
          <a:xfrm>
            <a:off x="2743200" y="0"/>
            <a:ext cx="2061000" cy="603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2000" b="1">
                <a:solidFill>
                  <a:srgbClr val="FFFFFF"/>
                </a:solidFill>
                <a:latin typeface="Rambla"/>
                <a:ea typeface="Rambla"/>
                <a:cs typeface="Rambla"/>
                <a:sym typeface="Rambla"/>
              </a:rPr>
              <a:t>What is EyeCloud</a:t>
            </a:r>
            <a:endParaRPr sz="2000" b="1">
              <a:solidFill>
                <a:srgbClr val="FFFFFF"/>
              </a:solidFill>
              <a:latin typeface="Rambla"/>
              <a:ea typeface="Rambla"/>
              <a:cs typeface="Rambla"/>
              <a:sym typeface="Rambla"/>
            </a:endParaRPr>
          </a:p>
        </p:txBody>
      </p:sp>
      <p:pic>
        <p:nvPicPr>
          <p:cNvPr id="119" name="Google Shape;119;p17"/>
          <p:cNvPicPr preferRelativeResize="0"/>
          <p:nvPr/>
        </p:nvPicPr>
        <p:blipFill>
          <a:blip r:embed="rId13">
            <a:alphaModFix/>
          </a:blip>
          <a:stretch>
            <a:fillRect/>
          </a:stretch>
        </p:blipFill>
        <p:spPr>
          <a:xfrm>
            <a:off x="4883425" y="-9525"/>
            <a:ext cx="570374" cy="570374"/>
          </a:xfrm>
          <a:prstGeom prst="rect">
            <a:avLst/>
          </a:prstGeom>
          <a:noFill/>
          <a:ln>
            <a:noFill/>
          </a:ln>
        </p:spPr>
      </p:pic>
      <p:sp>
        <p:nvSpPr>
          <p:cNvPr id="120" name="Google Shape;120;p17"/>
          <p:cNvSpPr txBox="1"/>
          <p:nvPr/>
        </p:nvSpPr>
        <p:spPr>
          <a:xfrm>
            <a:off x="0" y="3471000"/>
            <a:ext cx="3046200" cy="138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1300"/>
              <a:t>EyeCloud benefits:</a:t>
            </a:r>
            <a:endParaRPr sz="1300"/>
          </a:p>
          <a:p>
            <a:pPr marL="457200" lvl="0" indent="-311150" algn="l" rtl="0">
              <a:spcBef>
                <a:spcPts val="0"/>
              </a:spcBef>
              <a:spcAft>
                <a:spcPts val="0"/>
              </a:spcAft>
              <a:buSzPts val="1300"/>
              <a:buChar char="●"/>
            </a:pPr>
            <a:r>
              <a:rPr lang="fr-FR" sz="1300"/>
              <a:t>Provides unique ID</a:t>
            </a:r>
            <a:endParaRPr sz="1300"/>
          </a:p>
          <a:p>
            <a:pPr marL="457200" lvl="0" indent="-311150" algn="l" rtl="0">
              <a:spcBef>
                <a:spcPts val="0"/>
              </a:spcBef>
              <a:spcAft>
                <a:spcPts val="0"/>
              </a:spcAft>
              <a:buSzPts val="1300"/>
              <a:buChar char="●"/>
            </a:pPr>
            <a:r>
              <a:rPr lang="fr-FR" sz="1300"/>
              <a:t>Can store any kind of info (files any format or metadata) in a centralized storage in the cloud.</a:t>
            </a:r>
            <a:endParaRPr sz="1300"/>
          </a:p>
          <a:p>
            <a:pPr marL="457200" lvl="0" indent="-311150" algn="l" rtl="0">
              <a:spcBef>
                <a:spcPts val="0"/>
              </a:spcBef>
              <a:spcAft>
                <a:spcPts val="0"/>
              </a:spcAft>
              <a:buSzPts val="1300"/>
              <a:buChar char="●"/>
            </a:pPr>
            <a:r>
              <a:rPr lang="fr-FR" sz="1300"/>
              <a:t>Secure the storage</a:t>
            </a:r>
            <a:endParaRPr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3</a:t>
            </a:fld>
            <a:endParaRPr/>
          </a:p>
        </p:txBody>
      </p:sp>
      <p:sp>
        <p:nvSpPr>
          <p:cNvPr id="127" name="Google Shape;127;p18"/>
          <p:cNvSpPr/>
          <p:nvPr/>
        </p:nvSpPr>
        <p:spPr>
          <a:xfrm>
            <a:off x="2036550" y="643750"/>
            <a:ext cx="2691000" cy="4226100"/>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Calibri"/>
              <a:ea typeface="Calibri"/>
              <a:cs typeface="Calibri"/>
              <a:sym typeface="Calibri"/>
            </a:endParaRPr>
          </a:p>
        </p:txBody>
      </p:sp>
      <p:sp>
        <p:nvSpPr>
          <p:cNvPr id="128" name="Google Shape;128;p18"/>
          <p:cNvSpPr txBox="1"/>
          <p:nvPr/>
        </p:nvSpPr>
        <p:spPr>
          <a:xfrm>
            <a:off x="2036550" y="640875"/>
            <a:ext cx="2691000" cy="897900"/>
          </a:xfrm>
          <a:prstGeom prst="rect">
            <a:avLst/>
          </a:prstGeom>
          <a:noFill/>
          <a:ln>
            <a:noFill/>
          </a:ln>
        </p:spPr>
        <p:txBody>
          <a:bodyPr spcFirstLastPara="1" wrap="square" lIns="148575" tIns="148575" rIns="148575" bIns="148575" anchor="ctr" anchorCtr="0">
            <a:noAutofit/>
          </a:bodyPr>
          <a:lstStyle/>
          <a:p>
            <a:pPr marL="0" marR="0" lvl="0" indent="0" algn="ctr" rtl="0">
              <a:lnSpc>
                <a:spcPct val="90000"/>
              </a:lnSpc>
              <a:spcBef>
                <a:spcPts val="0"/>
              </a:spcBef>
              <a:spcAft>
                <a:spcPts val="0"/>
              </a:spcAft>
              <a:buNone/>
            </a:pPr>
            <a:r>
              <a:rPr lang="fr-FR" sz="3000" b="0" i="0" u="none" strike="noStrike" cap="none">
                <a:solidFill>
                  <a:srgbClr val="000000"/>
                </a:solidFill>
                <a:latin typeface="Calibri"/>
                <a:ea typeface="Calibri"/>
                <a:cs typeface="Calibri"/>
                <a:sym typeface="Calibri"/>
              </a:rPr>
              <a:t>Business Expectations</a:t>
            </a:r>
            <a:endParaRPr sz="3000" b="0" i="0" u="none" strike="noStrike" cap="none">
              <a:solidFill>
                <a:srgbClr val="000000"/>
              </a:solidFill>
              <a:latin typeface="Calibri"/>
              <a:ea typeface="Calibri"/>
              <a:cs typeface="Calibri"/>
              <a:sym typeface="Calibri"/>
            </a:endParaRPr>
          </a:p>
        </p:txBody>
      </p:sp>
      <p:sp>
        <p:nvSpPr>
          <p:cNvPr id="129" name="Google Shape;129;p18"/>
          <p:cNvSpPr/>
          <p:nvPr/>
        </p:nvSpPr>
        <p:spPr>
          <a:xfrm>
            <a:off x="2305650" y="1536570"/>
            <a:ext cx="2152800" cy="785700"/>
          </a:xfrm>
          <a:prstGeom prst="roundRect">
            <a:avLst>
              <a:gd name="adj" fmla="val 10000"/>
            </a:avLst>
          </a:prstGeom>
          <a:gradFill>
            <a:gsLst>
              <a:gs pos="0">
                <a:srgbClr val="FFFFFF"/>
              </a:gs>
              <a:gs pos="50000">
                <a:srgbClr val="FFFFFF"/>
              </a:gs>
              <a:gs pos="100000">
                <a:srgbClr val="E1E1E1"/>
              </a:gs>
            </a:gsLst>
            <a:lin ang="5400012" scaled="0"/>
          </a:gradFill>
          <a:ln>
            <a:noFill/>
          </a:ln>
          <a:effectLst>
            <a:outerShdw blurRad="57150" dist="19050" dir="5400000" algn="ctr" rotWithShape="0">
              <a:srgbClr val="000000">
                <a:alpha val="6275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8"/>
          <p:cNvSpPr txBox="1"/>
          <p:nvPr/>
        </p:nvSpPr>
        <p:spPr>
          <a:xfrm>
            <a:off x="2330589" y="1559589"/>
            <a:ext cx="2103000" cy="739800"/>
          </a:xfrm>
          <a:prstGeom prst="rect">
            <a:avLst/>
          </a:prstGeom>
          <a:noFill/>
          <a:ln>
            <a:noFill/>
          </a:ln>
        </p:spPr>
        <p:txBody>
          <a:bodyPr spcFirstLastPara="1" wrap="square" lIns="55875" tIns="41900" rIns="55875" bIns="41900" anchor="ctr" anchorCtr="0">
            <a:noAutofit/>
          </a:bodyPr>
          <a:lstStyle/>
          <a:p>
            <a:pPr marL="0" marR="0" lvl="0" indent="0" algn="ctr" rtl="0">
              <a:lnSpc>
                <a:spcPct val="90000"/>
              </a:lnSpc>
              <a:spcBef>
                <a:spcPts val="0"/>
              </a:spcBef>
              <a:spcAft>
                <a:spcPts val="0"/>
              </a:spcAft>
              <a:buNone/>
            </a:pPr>
            <a:r>
              <a:rPr lang="fr-FR" sz="1600" b="0" i="0" u="none" strike="noStrike" cap="none">
                <a:latin typeface="Calibri"/>
                <a:ea typeface="Calibri"/>
                <a:cs typeface="Calibri"/>
                <a:sym typeface="Calibri"/>
              </a:rPr>
              <a:t>24/7 business with on-duty support</a:t>
            </a:r>
            <a:endParaRPr sz="1600" b="0" i="0" u="none" strike="noStrike" cap="none">
              <a:latin typeface="Calibri"/>
              <a:ea typeface="Calibri"/>
              <a:cs typeface="Calibri"/>
              <a:sym typeface="Calibri"/>
            </a:endParaRPr>
          </a:p>
        </p:txBody>
      </p:sp>
      <p:sp>
        <p:nvSpPr>
          <p:cNvPr id="131" name="Google Shape;131;p18"/>
          <p:cNvSpPr/>
          <p:nvPr/>
        </p:nvSpPr>
        <p:spPr>
          <a:xfrm>
            <a:off x="2305650" y="2367226"/>
            <a:ext cx="2152800" cy="785700"/>
          </a:xfrm>
          <a:prstGeom prst="roundRect">
            <a:avLst>
              <a:gd name="adj" fmla="val 10000"/>
            </a:avLst>
          </a:prstGeom>
          <a:gradFill>
            <a:gsLst>
              <a:gs pos="0">
                <a:srgbClr val="FFFFFF"/>
              </a:gs>
              <a:gs pos="50000">
                <a:srgbClr val="FFFFFF"/>
              </a:gs>
              <a:gs pos="100000">
                <a:srgbClr val="E1E1E1"/>
              </a:gs>
            </a:gsLst>
            <a:lin ang="5400012" scaled="0"/>
          </a:gradFill>
          <a:ln>
            <a:noFill/>
          </a:ln>
          <a:effectLst>
            <a:outerShdw blurRad="57150" dist="19050" dir="5400000" algn="ctr" rotWithShape="0">
              <a:srgbClr val="000000">
                <a:alpha val="6275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8"/>
          <p:cNvSpPr txBox="1"/>
          <p:nvPr/>
        </p:nvSpPr>
        <p:spPr>
          <a:xfrm>
            <a:off x="2330589" y="2390245"/>
            <a:ext cx="2103000" cy="739800"/>
          </a:xfrm>
          <a:prstGeom prst="rect">
            <a:avLst/>
          </a:prstGeom>
          <a:noFill/>
          <a:ln>
            <a:noFill/>
          </a:ln>
        </p:spPr>
        <p:txBody>
          <a:bodyPr spcFirstLastPara="1" wrap="square" lIns="55875" tIns="41900" rIns="55875" bIns="41900" anchor="ctr" anchorCtr="0">
            <a:noAutofit/>
          </a:bodyPr>
          <a:lstStyle/>
          <a:p>
            <a:pPr marL="0" marR="0" lvl="0" indent="0" algn="ctr" rtl="0">
              <a:lnSpc>
                <a:spcPct val="90000"/>
              </a:lnSpc>
              <a:spcBef>
                <a:spcPts val="0"/>
              </a:spcBef>
              <a:spcAft>
                <a:spcPts val="0"/>
              </a:spcAft>
              <a:buNone/>
            </a:pPr>
            <a:r>
              <a:rPr lang="fr-FR" sz="1600" b="0" i="0" u="none" strike="noStrike" cap="none">
                <a:latin typeface="Calibri"/>
                <a:ea typeface="Calibri"/>
                <a:cs typeface="Calibri"/>
                <a:sym typeface="Calibri"/>
              </a:rPr>
              <a:t>No disruption during hours of operations</a:t>
            </a:r>
            <a:endParaRPr sz="1600" b="0" i="0" u="none" strike="noStrike" cap="none">
              <a:latin typeface="Calibri"/>
              <a:ea typeface="Calibri"/>
              <a:cs typeface="Calibri"/>
              <a:sym typeface="Calibri"/>
            </a:endParaRPr>
          </a:p>
        </p:txBody>
      </p:sp>
      <p:sp>
        <p:nvSpPr>
          <p:cNvPr id="133" name="Google Shape;133;p18"/>
          <p:cNvSpPr/>
          <p:nvPr/>
        </p:nvSpPr>
        <p:spPr>
          <a:xfrm>
            <a:off x="2305650" y="4036080"/>
            <a:ext cx="2152800" cy="785700"/>
          </a:xfrm>
          <a:prstGeom prst="roundRect">
            <a:avLst>
              <a:gd name="adj" fmla="val 10000"/>
            </a:avLst>
          </a:prstGeom>
          <a:gradFill>
            <a:gsLst>
              <a:gs pos="0">
                <a:srgbClr val="FFFFFF"/>
              </a:gs>
              <a:gs pos="50000">
                <a:srgbClr val="FFFFFF"/>
              </a:gs>
              <a:gs pos="100000">
                <a:srgbClr val="E1E1E1"/>
              </a:gs>
            </a:gsLst>
            <a:lin ang="5400012" scaled="0"/>
          </a:gradFill>
          <a:ln>
            <a:noFill/>
          </a:ln>
          <a:effectLst>
            <a:outerShdw blurRad="57150" dist="19050" dir="5400000" algn="ctr" rotWithShape="0">
              <a:srgbClr val="000000">
                <a:alpha val="6275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fr-FR" sz="1600">
                <a:latin typeface="Calibri"/>
                <a:ea typeface="Calibri"/>
                <a:cs typeface="Calibri"/>
                <a:sym typeface="Calibri"/>
              </a:rPr>
              <a:t>Storage of data for 3y (hot storage) + 2y (cold storage)</a:t>
            </a:r>
            <a:endParaRPr sz="1600">
              <a:latin typeface="Calibri"/>
              <a:ea typeface="Calibri"/>
              <a:cs typeface="Calibri"/>
              <a:sym typeface="Calibri"/>
            </a:endParaRPr>
          </a:p>
        </p:txBody>
      </p:sp>
      <p:sp>
        <p:nvSpPr>
          <p:cNvPr id="134" name="Google Shape;134;p18"/>
          <p:cNvSpPr/>
          <p:nvPr/>
        </p:nvSpPr>
        <p:spPr>
          <a:xfrm>
            <a:off x="4929475" y="643875"/>
            <a:ext cx="2691000" cy="4226100"/>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8"/>
          <p:cNvSpPr txBox="1"/>
          <p:nvPr/>
        </p:nvSpPr>
        <p:spPr>
          <a:xfrm>
            <a:off x="4929476" y="640875"/>
            <a:ext cx="2691000" cy="897900"/>
          </a:xfrm>
          <a:prstGeom prst="rect">
            <a:avLst/>
          </a:prstGeom>
          <a:noFill/>
          <a:ln>
            <a:noFill/>
          </a:ln>
        </p:spPr>
        <p:txBody>
          <a:bodyPr spcFirstLastPara="1" wrap="square" lIns="148575" tIns="148575" rIns="148575" bIns="148575" anchor="ctr" anchorCtr="0">
            <a:noAutofit/>
          </a:bodyPr>
          <a:lstStyle/>
          <a:p>
            <a:pPr marL="0" marR="0" lvl="0" indent="0" algn="ctr" rtl="0">
              <a:lnSpc>
                <a:spcPct val="90000"/>
              </a:lnSpc>
              <a:spcBef>
                <a:spcPts val="0"/>
              </a:spcBef>
              <a:spcAft>
                <a:spcPts val="0"/>
              </a:spcAft>
              <a:buNone/>
            </a:pPr>
            <a:r>
              <a:rPr lang="fr-FR" sz="3000" b="0" i="0" u="none" strike="noStrike" cap="none">
                <a:solidFill>
                  <a:srgbClr val="000000"/>
                </a:solidFill>
                <a:latin typeface="Calibri"/>
                <a:ea typeface="Calibri"/>
                <a:cs typeface="Calibri"/>
                <a:sym typeface="Calibri"/>
              </a:rPr>
              <a:t>Services Capabilities</a:t>
            </a:r>
            <a:endParaRPr sz="3000" b="0" i="0" u="none" strike="noStrike" cap="none">
              <a:solidFill>
                <a:srgbClr val="000000"/>
              </a:solidFill>
              <a:latin typeface="Calibri"/>
              <a:ea typeface="Calibri"/>
              <a:cs typeface="Calibri"/>
              <a:sym typeface="Calibri"/>
            </a:endParaRPr>
          </a:p>
        </p:txBody>
      </p:sp>
      <p:sp>
        <p:nvSpPr>
          <p:cNvPr id="136" name="Google Shape;136;p18"/>
          <p:cNvSpPr/>
          <p:nvPr/>
        </p:nvSpPr>
        <p:spPr>
          <a:xfrm>
            <a:off x="5198578" y="1536570"/>
            <a:ext cx="2152800" cy="785700"/>
          </a:xfrm>
          <a:prstGeom prst="roundRect">
            <a:avLst>
              <a:gd name="adj" fmla="val 10000"/>
            </a:avLst>
          </a:prstGeom>
          <a:gradFill>
            <a:gsLst>
              <a:gs pos="0">
                <a:srgbClr val="FFFFFF"/>
              </a:gs>
              <a:gs pos="50000">
                <a:srgbClr val="FFFFFF"/>
              </a:gs>
              <a:gs pos="100000">
                <a:srgbClr val="E1E1E1"/>
              </a:gs>
            </a:gsLst>
            <a:lin ang="5400012" scaled="0"/>
          </a:gradFill>
          <a:ln>
            <a:noFill/>
          </a:ln>
          <a:effectLst>
            <a:outerShdw blurRad="57150" dist="19050" dir="5400000" algn="ctr" rotWithShape="0">
              <a:srgbClr val="000000">
                <a:alpha val="6275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8"/>
          <p:cNvSpPr txBox="1"/>
          <p:nvPr/>
        </p:nvSpPr>
        <p:spPr>
          <a:xfrm>
            <a:off x="5223517" y="1559589"/>
            <a:ext cx="2103000" cy="739800"/>
          </a:xfrm>
          <a:prstGeom prst="rect">
            <a:avLst/>
          </a:prstGeom>
          <a:noFill/>
          <a:ln>
            <a:noFill/>
          </a:ln>
        </p:spPr>
        <p:txBody>
          <a:bodyPr spcFirstLastPara="1" wrap="square" lIns="55875" tIns="41900" rIns="55875" bIns="41900" anchor="ctr" anchorCtr="0">
            <a:noAutofit/>
          </a:bodyPr>
          <a:lstStyle/>
          <a:p>
            <a:pPr marL="0" marR="0" lvl="0" indent="0" algn="ctr" rtl="0">
              <a:lnSpc>
                <a:spcPct val="90000"/>
              </a:lnSpc>
              <a:spcBef>
                <a:spcPts val="0"/>
              </a:spcBef>
              <a:spcAft>
                <a:spcPts val="0"/>
              </a:spcAft>
              <a:buNone/>
            </a:pPr>
            <a:r>
              <a:rPr lang="fr-FR" sz="1600" b="0" i="0" u="none" strike="noStrike" cap="none">
                <a:latin typeface="Calibri"/>
                <a:ea typeface="Calibri"/>
                <a:cs typeface="Calibri"/>
                <a:sym typeface="Calibri"/>
              </a:rPr>
              <a:t>24/7 Support &amp; monitoring</a:t>
            </a:r>
            <a:endParaRPr sz="1600" b="0" i="0" u="none" strike="noStrike" cap="none">
              <a:latin typeface="Calibri"/>
              <a:ea typeface="Calibri"/>
              <a:cs typeface="Calibri"/>
              <a:sym typeface="Calibri"/>
            </a:endParaRPr>
          </a:p>
        </p:txBody>
      </p:sp>
      <p:sp>
        <p:nvSpPr>
          <p:cNvPr id="138" name="Google Shape;138;p18"/>
          <p:cNvSpPr/>
          <p:nvPr/>
        </p:nvSpPr>
        <p:spPr>
          <a:xfrm>
            <a:off x="5198578" y="2367226"/>
            <a:ext cx="2152800" cy="785700"/>
          </a:xfrm>
          <a:prstGeom prst="roundRect">
            <a:avLst>
              <a:gd name="adj" fmla="val 10000"/>
            </a:avLst>
          </a:prstGeom>
          <a:gradFill>
            <a:gsLst>
              <a:gs pos="0">
                <a:srgbClr val="FFFFFF"/>
              </a:gs>
              <a:gs pos="50000">
                <a:srgbClr val="FFFFFF"/>
              </a:gs>
              <a:gs pos="100000">
                <a:srgbClr val="E1E1E1"/>
              </a:gs>
            </a:gsLst>
            <a:lin ang="5400012" scaled="0"/>
          </a:gradFill>
          <a:ln>
            <a:noFill/>
          </a:ln>
          <a:effectLst>
            <a:outerShdw blurRad="57150" dist="19050" dir="5400000" algn="ctr" rotWithShape="0">
              <a:srgbClr val="000000">
                <a:alpha val="6275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8"/>
          <p:cNvSpPr txBox="1"/>
          <p:nvPr/>
        </p:nvSpPr>
        <p:spPr>
          <a:xfrm>
            <a:off x="5223517" y="2390245"/>
            <a:ext cx="2103000" cy="739800"/>
          </a:xfrm>
          <a:prstGeom prst="rect">
            <a:avLst/>
          </a:prstGeom>
          <a:noFill/>
          <a:ln>
            <a:noFill/>
          </a:ln>
        </p:spPr>
        <p:txBody>
          <a:bodyPr spcFirstLastPara="1" wrap="square" lIns="55875" tIns="41900" rIns="55875" bIns="41900" anchor="ctr" anchorCtr="0">
            <a:noAutofit/>
          </a:bodyPr>
          <a:lstStyle/>
          <a:p>
            <a:pPr marL="0" marR="0" lvl="0" indent="0" algn="ctr" rtl="0">
              <a:lnSpc>
                <a:spcPct val="90000"/>
              </a:lnSpc>
              <a:spcBef>
                <a:spcPts val="0"/>
              </a:spcBef>
              <a:spcAft>
                <a:spcPts val="0"/>
              </a:spcAft>
              <a:buNone/>
            </a:pPr>
            <a:r>
              <a:rPr lang="fr-FR" sz="1600" b="1" i="0" u="none" strike="noStrike" cap="none">
                <a:latin typeface="Calibri"/>
                <a:ea typeface="Calibri"/>
                <a:cs typeface="Calibri"/>
                <a:sym typeface="Calibri"/>
              </a:rPr>
              <a:t>99.9%</a:t>
            </a:r>
            <a:r>
              <a:rPr lang="fr-FR" sz="1600" b="0" i="0" u="none" strike="noStrike" cap="none">
                <a:latin typeface="Calibri"/>
                <a:ea typeface="Calibri"/>
                <a:cs typeface="Calibri"/>
                <a:sym typeface="Calibri"/>
              </a:rPr>
              <a:t> Unplanned Downtime by 201</a:t>
            </a:r>
            <a:r>
              <a:rPr lang="fr-FR" sz="1600">
                <a:latin typeface="Calibri"/>
                <a:ea typeface="Calibri"/>
                <a:cs typeface="Calibri"/>
                <a:sym typeface="Calibri"/>
              </a:rPr>
              <a:t>9</a:t>
            </a:r>
            <a:endParaRPr sz="1600" b="0" i="0" u="none" strike="noStrike" cap="none">
              <a:latin typeface="Calibri"/>
              <a:ea typeface="Calibri"/>
              <a:cs typeface="Calibri"/>
              <a:sym typeface="Calibri"/>
            </a:endParaRPr>
          </a:p>
        </p:txBody>
      </p:sp>
      <p:sp>
        <p:nvSpPr>
          <p:cNvPr id="140" name="Google Shape;140;p18"/>
          <p:cNvSpPr/>
          <p:nvPr/>
        </p:nvSpPr>
        <p:spPr>
          <a:xfrm>
            <a:off x="5198578" y="3197880"/>
            <a:ext cx="2152800" cy="785700"/>
          </a:xfrm>
          <a:prstGeom prst="roundRect">
            <a:avLst>
              <a:gd name="adj" fmla="val 10000"/>
            </a:avLst>
          </a:prstGeom>
          <a:gradFill>
            <a:gsLst>
              <a:gs pos="0">
                <a:srgbClr val="FFFFFF"/>
              </a:gs>
              <a:gs pos="50000">
                <a:srgbClr val="FFFFFF"/>
              </a:gs>
              <a:gs pos="100000">
                <a:srgbClr val="E1E1E1"/>
              </a:gs>
            </a:gsLst>
            <a:lin ang="5400012" scaled="0"/>
          </a:gradFill>
          <a:ln>
            <a:noFill/>
          </a:ln>
          <a:effectLst>
            <a:outerShdw blurRad="57150" dist="19050" dir="5400000" algn="ctr" rotWithShape="0">
              <a:srgbClr val="000000">
                <a:alpha val="6275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8"/>
          <p:cNvSpPr txBox="1"/>
          <p:nvPr/>
        </p:nvSpPr>
        <p:spPr>
          <a:xfrm>
            <a:off x="5223517" y="3220899"/>
            <a:ext cx="2103000" cy="739800"/>
          </a:xfrm>
          <a:prstGeom prst="rect">
            <a:avLst/>
          </a:prstGeom>
          <a:noFill/>
          <a:ln>
            <a:noFill/>
          </a:ln>
        </p:spPr>
        <p:txBody>
          <a:bodyPr spcFirstLastPara="1" wrap="square" lIns="55875" tIns="41900" rIns="55875" bIns="41900" anchor="ctr" anchorCtr="0">
            <a:noAutofit/>
          </a:bodyPr>
          <a:lstStyle/>
          <a:p>
            <a:pPr marL="0" marR="0" lvl="0" indent="0" algn="ctr" rtl="0">
              <a:lnSpc>
                <a:spcPct val="90000"/>
              </a:lnSpc>
              <a:spcBef>
                <a:spcPts val="0"/>
              </a:spcBef>
              <a:spcAft>
                <a:spcPts val="0"/>
              </a:spcAft>
              <a:buNone/>
            </a:pPr>
            <a:r>
              <a:rPr lang="fr-FR" sz="1600" b="0" i="0" u="none" strike="noStrike" cap="none">
                <a:latin typeface="Calibri"/>
                <a:ea typeface="Calibri"/>
                <a:cs typeface="Calibri"/>
                <a:sym typeface="Calibri"/>
              </a:rPr>
              <a:t>All P1 addressed in </a:t>
            </a:r>
            <a:r>
              <a:rPr lang="fr-FR" sz="1600" b="1" i="0" u="none" strike="noStrike" cap="none">
                <a:latin typeface="Calibri"/>
                <a:ea typeface="Calibri"/>
                <a:cs typeface="Calibri"/>
                <a:sym typeface="Calibri"/>
              </a:rPr>
              <a:t>1H</a:t>
            </a:r>
            <a:r>
              <a:rPr lang="fr-FR" sz="1600" b="0" i="0" u="none" strike="noStrike" cap="none">
                <a:latin typeface="Calibri"/>
                <a:ea typeface="Calibri"/>
                <a:cs typeface="Calibri"/>
                <a:sym typeface="Calibri"/>
              </a:rPr>
              <a:t> &amp; resolved* in </a:t>
            </a:r>
            <a:r>
              <a:rPr lang="fr-FR" sz="1600" b="1">
                <a:latin typeface="Calibri"/>
                <a:ea typeface="Calibri"/>
                <a:cs typeface="Calibri"/>
                <a:sym typeface="Calibri"/>
              </a:rPr>
              <a:t>4</a:t>
            </a:r>
            <a:r>
              <a:rPr lang="fr-FR" sz="1600" b="1" i="0" u="none" strike="noStrike" cap="none">
                <a:latin typeface="Calibri"/>
                <a:ea typeface="Calibri"/>
                <a:cs typeface="Calibri"/>
                <a:sym typeface="Calibri"/>
              </a:rPr>
              <a:t>H</a:t>
            </a:r>
            <a:r>
              <a:rPr lang="fr-FR" sz="1600" b="0" i="0" u="none" strike="noStrike" cap="none">
                <a:latin typeface="Calibri"/>
                <a:ea typeface="Calibri"/>
                <a:cs typeface="Calibri"/>
                <a:sym typeface="Calibri"/>
              </a:rPr>
              <a:t>.</a:t>
            </a:r>
            <a:endParaRPr sz="1600" b="0" i="0" u="none" strike="noStrike" cap="none">
              <a:latin typeface="Calibri"/>
              <a:ea typeface="Calibri"/>
              <a:cs typeface="Calibri"/>
              <a:sym typeface="Calibri"/>
            </a:endParaRPr>
          </a:p>
        </p:txBody>
      </p:sp>
      <p:sp>
        <p:nvSpPr>
          <p:cNvPr id="142" name="Google Shape;142;p18"/>
          <p:cNvSpPr/>
          <p:nvPr/>
        </p:nvSpPr>
        <p:spPr>
          <a:xfrm>
            <a:off x="5201250" y="4036080"/>
            <a:ext cx="2152800" cy="785700"/>
          </a:xfrm>
          <a:prstGeom prst="roundRect">
            <a:avLst>
              <a:gd name="adj" fmla="val 10000"/>
            </a:avLst>
          </a:prstGeom>
          <a:gradFill>
            <a:gsLst>
              <a:gs pos="0">
                <a:srgbClr val="FFFFFF"/>
              </a:gs>
              <a:gs pos="50000">
                <a:srgbClr val="FFFFFF"/>
              </a:gs>
              <a:gs pos="100000">
                <a:srgbClr val="E1E1E1"/>
              </a:gs>
            </a:gsLst>
            <a:lin ang="5400012" scaled="0"/>
          </a:gradFill>
          <a:ln>
            <a:noFill/>
          </a:ln>
          <a:effectLst>
            <a:outerShdw blurRad="57150" dist="19050" dir="5400000" algn="ctr" rotWithShape="0">
              <a:srgbClr val="000000">
                <a:alpha val="6275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fr-FR" sz="1600">
                <a:latin typeface="Calibri"/>
                <a:ea typeface="Calibri"/>
                <a:cs typeface="Calibri"/>
                <a:sym typeface="Calibri"/>
              </a:rPr>
              <a:t>Storage of data for 3y (hot storage) + 2y (cold storage)</a:t>
            </a:r>
            <a:endParaRPr sz="1600">
              <a:latin typeface="Calibri"/>
              <a:ea typeface="Calibri"/>
              <a:cs typeface="Calibri"/>
              <a:sym typeface="Calibri"/>
            </a:endParaRPr>
          </a:p>
        </p:txBody>
      </p:sp>
      <p:sp>
        <p:nvSpPr>
          <p:cNvPr id="143" name="Google Shape;143;p18"/>
          <p:cNvSpPr/>
          <p:nvPr/>
        </p:nvSpPr>
        <p:spPr>
          <a:xfrm>
            <a:off x="0" y="0"/>
            <a:ext cx="9144000" cy="507300"/>
          </a:xfrm>
          <a:prstGeom prst="rect">
            <a:avLst/>
          </a:prstGeom>
          <a:solidFill>
            <a:srgbClr val="45818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fr-FR" sz="1800" b="1">
                <a:solidFill>
                  <a:srgbClr val="FFFFFF"/>
                </a:solidFill>
              </a:rPr>
              <a:t>EyeCloud service level agreement</a:t>
            </a:r>
            <a:endParaRPr sz="1800" b="1">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9"/>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4</a:t>
            </a:fld>
            <a:endParaRPr/>
          </a:p>
        </p:txBody>
      </p:sp>
      <p:sp>
        <p:nvSpPr>
          <p:cNvPr id="150" name="Google Shape;150;p19"/>
          <p:cNvSpPr/>
          <p:nvPr/>
        </p:nvSpPr>
        <p:spPr>
          <a:xfrm>
            <a:off x="0" y="0"/>
            <a:ext cx="9144000" cy="507300"/>
          </a:xfrm>
          <a:prstGeom prst="rect">
            <a:avLst/>
          </a:prstGeom>
          <a:solidFill>
            <a:srgbClr val="45818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1">
              <a:solidFill>
                <a:srgbClr val="FFFFFF"/>
              </a:solidFill>
            </a:endParaRPr>
          </a:p>
        </p:txBody>
      </p:sp>
      <p:sp>
        <p:nvSpPr>
          <p:cNvPr id="151" name="Google Shape;151;p19"/>
          <p:cNvSpPr/>
          <p:nvPr/>
        </p:nvSpPr>
        <p:spPr>
          <a:xfrm>
            <a:off x="12118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Opsys Web</a:t>
            </a:r>
            <a:endParaRPr/>
          </a:p>
          <a:p>
            <a:pPr marL="0" lvl="0" indent="0" algn="ctr" rtl="0">
              <a:spcBef>
                <a:spcPts val="0"/>
              </a:spcBef>
              <a:spcAft>
                <a:spcPts val="0"/>
              </a:spcAft>
              <a:buNone/>
            </a:pPr>
            <a:r>
              <a:rPr lang="fr-FR" sz="800"/>
              <a:t>(web ordering system)</a:t>
            </a:r>
            <a:endParaRPr sz="800"/>
          </a:p>
        </p:txBody>
      </p:sp>
      <p:sp>
        <p:nvSpPr>
          <p:cNvPr id="152" name="Google Shape;152;p19"/>
          <p:cNvSpPr/>
          <p:nvPr/>
        </p:nvSpPr>
        <p:spPr>
          <a:xfrm>
            <a:off x="31577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Orchestra</a:t>
            </a:r>
            <a:endParaRPr/>
          </a:p>
          <a:p>
            <a:pPr marL="0" lvl="0" indent="0" algn="ctr" rtl="0">
              <a:spcBef>
                <a:spcPts val="0"/>
              </a:spcBef>
              <a:spcAft>
                <a:spcPts val="0"/>
              </a:spcAft>
              <a:buClr>
                <a:schemeClr val="dk1"/>
              </a:buClr>
              <a:buSzPts val="1100"/>
              <a:buFont typeface="Arial"/>
              <a:buNone/>
            </a:pPr>
            <a:r>
              <a:rPr lang="fr-FR" sz="800">
                <a:solidFill>
                  <a:schemeClr val="dk1"/>
                </a:solidFill>
              </a:rPr>
              <a:t>(Ordering management system)</a:t>
            </a:r>
            <a:endParaRPr/>
          </a:p>
        </p:txBody>
      </p:sp>
      <p:sp>
        <p:nvSpPr>
          <p:cNvPr id="153" name="Google Shape;153;p19"/>
          <p:cNvSpPr/>
          <p:nvPr/>
        </p:nvSpPr>
        <p:spPr>
          <a:xfrm>
            <a:off x="53322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LSM Inlab</a:t>
            </a:r>
            <a:endParaRPr/>
          </a:p>
        </p:txBody>
      </p:sp>
      <p:sp>
        <p:nvSpPr>
          <p:cNvPr id="154" name="Google Shape;154;p19"/>
          <p:cNvSpPr/>
          <p:nvPr/>
        </p:nvSpPr>
        <p:spPr>
          <a:xfrm>
            <a:off x="1221325" y="23921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Business Sub Web portal</a:t>
            </a:r>
            <a:endParaRPr/>
          </a:p>
        </p:txBody>
      </p:sp>
      <p:sp>
        <p:nvSpPr>
          <p:cNvPr id="155" name="Google Shape;155;p19"/>
          <p:cNvSpPr/>
          <p:nvPr/>
        </p:nvSpPr>
        <p:spPr>
          <a:xfrm>
            <a:off x="7742325" y="38074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Internal Quality</a:t>
            </a:r>
            <a:endParaRPr/>
          </a:p>
        </p:txBody>
      </p:sp>
      <p:sp>
        <p:nvSpPr>
          <p:cNvPr id="156" name="Google Shape;156;p19"/>
          <p:cNvSpPr/>
          <p:nvPr/>
        </p:nvSpPr>
        <p:spPr>
          <a:xfrm>
            <a:off x="5332200" y="23921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EyeCloud</a:t>
            </a:r>
            <a:endParaRPr/>
          </a:p>
        </p:txBody>
      </p:sp>
      <p:sp>
        <p:nvSpPr>
          <p:cNvPr id="157" name="Google Shape;157;p19"/>
          <p:cNvSpPr/>
          <p:nvPr/>
        </p:nvSpPr>
        <p:spPr>
          <a:xfrm>
            <a:off x="5332200" y="38074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Datalake</a:t>
            </a:r>
            <a:endParaRPr/>
          </a:p>
        </p:txBody>
      </p:sp>
      <p:cxnSp>
        <p:nvCxnSpPr>
          <p:cNvPr id="158" name="Google Shape;158;p19"/>
          <p:cNvCxnSpPr>
            <a:stCxn id="155" idx="1"/>
            <a:endCxn id="157" idx="3"/>
          </p:cNvCxnSpPr>
          <p:nvPr/>
        </p:nvCxnSpPr>
        <p:spPr>
          <a:xfrm rot="10800000">
            <a:off x="6391125" y="4141500"/>
            <a:ext cx="1351200" cy="0"/>
          </a:xfrm>
          <a:prstGeom prst="straightConnector1">
            <a:avLst/>
          </a:prstGeom>
          <a:noFill/>
          <a:ln w="9525" cap="flat" cmpd="sng">
            <a:solidFill>
              <a:schemeClr val="dk2"/>
            </a:solidFill>
            <a:prstDash val="solid"/>
            <a:round/>
            <a:headEnd type="none" w="med" len="med"/>
            <a:tailEnd type="triangle" w="med" len="med"/>
          </a:ln>
        </p:spPr>
      </p:cxnSp>
      <p:cxnSp>
        <p:nvCxnSpPr>
          <p:cNvPr id="159" name="Google Shape;159;p19"/>
          <p:cNvCxnSpPr>
            <a:stCxn id="154" idx="3"/>
            <a:endCxn id="156" idx="1"/>
          </p:cNvCxnSpPr>
          <p:nvPr/>
        </p:nvCxnSpPr>
        <p:spPr>
          <a:xfrm>
            <a:off x="2280325" y="2726200"/>
            <a:ext cx="3051900" cy="0"/>
          </a:xfrm>
          <a:prstGeom prst="straightConnector1">
            <a:avLst/>
          </a:prstGeom>
          <a:noFill/>
          <a:ln w="9525" cap="flat" cmpd="sng">
            <a:solidFill>
              <a:schemeClr val="dk2"/>
            </a:solidFill>
            <a:prstDash val="solid"/>
            <a:round/>
            <a:headEnd type="none" w="med" len="med"/>
            <a:tailEnd type="triangle" w="med" len="med"/>
          </a:ln>
        </p:spPr>
      </p:cxnSp>
      <p:cxnSp>
        <p:nvCxnSpPr>
          <p:cNvPr id="160" name="Google Shape;160;p19"/>
          <p:cNvCxnSpPr>
            <a:stCxn id="151" idx="3"/>
            <a:endCxn id="152" idx="1"/>
          </p:cNvCxnSpPr>
          <p:nvPr/>
        </p:nvCxnSpPr>
        <p:spPr>
          <a:xfrm>
            <a:off x="2270800" y="1203050"/>
            <a:ext cx="886800" cy="0"/>
          </a:xfrm>
          <a:prstGeom prst="straightConnector1">
            <a:avLst/>
          </a:prstGeom>
          <a:noFill/>
          <a:ln w="9525" cap="flat" cmpd="sng">
            <a:solidFill>
              <a:schemeClr val="dk2"/>
            </a:solidFill>
            <a:prstDash val="solid"/>
            <a:round/>
            <a:headEnd type="none" w="med" len="med"/>
            <a:tailEnd type="triangle" w="med" len="med"/>
          </a:ln>
        </p:spPr>
      </p:cxnSp>
      <p:cxnSp>
        <p:nvCxnSpPr>
          <p:cNvPr id="161" name="Google Shape;161;p19"/>
          <p:cNvCxnSpPr>
            <a:stCxn id="152" idx="3"/>
            <a:endCxn id="153" idx="1"/>
          </p:cNvCxnSpPr>
          <p:nvPr/>
        </p:nvCxnSpPr>
        <p:spPr>
          <a:xfrm>
            <a:off x="4216700" y="1203050"/>
            <a:ext cx="1115400" cy="0"/>
          </a:xfrm>
          <a:prstGeom prst="straightConnector1">
            <a:avLst/>
          </a:prstGeom>
          <a:noFill/>
          <a:ln w="9525" cap="flat" cmpd="sng">
            <a:solidFill>
              <a:schemeClr val="dk2"/>
            </a:solidFill>
            <a:prstDash val="solid"/>
            <a:round/>
            <a:headEnd type="none" w="med" len="med"/>
            <a:tailEnd type="triangle" w="med" len="med"/>
          </a:ln>
        </p:spPr>
      </p:cxnSp>
      <p:cxnSp>
        <p:nvCxnSpPr>
          <p:cNvPr id="162" name="Google Shape;162;p19"/>
          <p:cNvCxnSpPr>
            <a:stCxn id="153" idx="2"/>
            <a:endCxn id="156" idx="0"/>
          </p:cNvCxnSpPr>
          <p:nvPr/>
        </p:nvCxnSpPr>
        <p:spPr>
          <a:xfrm>
            <a:off x="5861700" y="1537100"/>
            <a:ext cx="0" cy="855000"/>
          </a:xfrm>
          <a:prstGeom prst="straightConnector1">
            <a:avLst/>
          </a:prstGeom>
          <a:noFill/>
          <a:ln w="9525" cap="flat" cmpd="sng">
            <a:solidFill>
              <a:schemeClr val="dk2"/>
            </a:solidFill>
            <a:prstDash val="solid"/>
            <a:round/>
            <a:headEnd type="none" w="med" len="med"/>
            <a:tailEnd type="triangle" w="med" len="med"/>
          </a:ln>
        </p:spPr>
      </p:cxnSp>
      <p:sp>
        <p:nvSpPr>
          <p:cNvPr id="163" name="Google Shape;163;p19"/>
          <p:cNvSpPr txBox="1"/>
          <p:nvPr/>
        </p:nvSpPr>
        <p:spPr>
          <a:xfrm>
            <a:off x="2299000" y="1203050"/>
            <a:ext cx="6774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ECID A</a:t>
            </a:r>
            <a:endParaRPr sz="1100"/>
          </a:p>
        </p:txBody>
      </p:sp>
      <p:sp>
        <p:nvSpPr>
          <p:cNvPr id="164" name="Google Shape;164;p19"/>
          <p:cNvSpPr txBox="1"/>
          <p:nvPr/>
        </p:nvSpPr>
        <p:spPr>
          <a:xfrm>
            <a:off x="4356400" y="1203050"/>
            <a:ext cx="6774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ECID A</a:t>
            </a:r>
            <a:endParaRPr sz="1100"/>
          </a:p>
        </p:txBody>
      </p:sp>
      <p:sp>
        <p:nvSpPr>
          <p:cNvPr id="165" name="Google Shape;165;p19"/>
          <p:cNvSpPr txBox="1"/>
          <p:nvPr/>
        </p:nvSpPr>
        <p:spPr>
          <a:xfrm>
            <a:off x="5880400" y="1671050"/>
            <a:ext cx="1217400" cy="641400"/>
          </a:xfrm>
          <a:prstGeom prst="rect">
            <a:avLst/>
          </a:prstGeom>
          <a:solidFill>
            <a:srgbClr val="CFE2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000"/>
              <a:t>Traceability file (many info)  POST on ECID A</a:t>
            </a:r>
            <a:endParaRPr sz="1000"/>
          </a:p>
        </p:txBody>
      </p:sp>
      <p:sp>
        <p:nvSpPr>
          <p:cNvPr id="166" name="Google Shape;166;p19"/>
          <p:cNvSpPr txBox="1"/>
          <p:nvPr/>
        </p:nvSpPr>
        <p:spPr>
          <a:xfrm>
            <a:off x="5499400" y="1279250"/>
            <a:ext cx="7926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Picking</a:t>
            </a:r>
            <a:endParaRPr sz="1100"/>
          </a:p>
        </p:txBody>
      </p:sp>
      <p:sp>
        <p:nvSpPr>
          <p:cNvPr id="167" name="Google Shape;167;p19"/>
          <p:cNvSpPr txBox="1"/>
          <p:nvPr/>
        </p:nvSpPr>
        <p:spPr>
          <a:xfrm>
            <a:off x="6032800" y="4261850"/>
            <a:ext cx="894000" cy="393600"/>
          </a:xfrm>
          <a:prstGeom prst="rect">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cxnSp>
        <p:nvCxnSpPr>
          <p:cNvPr id="168" name="Google Shape;168;p19"/>
          <p:cNvCxnSpPr>
            <a:stCxn id="156" idx="2"/>
            <a:endCxn id="157" idx="0"/>
          </p:cNvCxnSpPr>
          <p:nvPr/>
        </p:nvCxnSpPr>
        <p:spPr>
          <a:xfrm>
            <a:off x="5861700" y="3060250"/>
            <a:ext cx="0" cy="747300"/>
          </a:xfrm>
          <a:prstGeom prst="straightConnector1">
            <a:avLst/>
          </a:prstGeom>
          <a:noFill/>
          <a:ln w="9525" cap="flat" cmpd="sng">
            <a:solidFill>
              <a:schemeClr val="dk2"/>
            </a:solidFill>
            <a:prstDash val="solid"/>
            <a:round/>
            <a:headEnd type="none" w="med" len="med"/>
            <a:tailEnd type="triangle" w="med" len="med"/>
          </a:ln>
        </p:spPr>
      </p:cxnSp>
      <p:pic>
        <p:nvPicPr>
          <p:cNvPr id="169" name="Google Shape;169;p19"/>
          <p:cNvPicPr preferRelativeResize="0"/>
          <p:nvPr/>
        </p:nvPicPr>
        <p:blipFill>
          <a:blip r:embed="rId3">
            <a:alphaModFix/>
          </a:blip>
          <a:stretch>
            <a:fillRect/>
          </a:stretch>
        </p:blipFill>
        <p:spPr>
          <a:xfrm>
            <a:off x="152400" y="2392150"/>
            <a:ext cx="962999" cy="641502"/>
          </a:xfrm>
          <a:prstGeom prst="rect">
            <a:avLst/>
          </a:prstGeom>
          <a:noFill/>
          <a:ln>
            <a:noFill/>
          </a:ln>
        </p:spPr>
      </p:pic>
      <p:sp>
        <p:nvSpPr>
          <p:cNvPr id="170" name="Google Shape;170;p19"/>
          <p:cNvSpPr txBox="1"/>
          <p:nvPr/>
        </p:nvSpPr>
        <p:spPr>
          <a:xfrm>
            <a:off x="6185200" y="4414250"/>
            <a:ext cx="894000" cy="3936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sp>
        <p:nvSpPr>
          <p:cNvPr id="171" name="Google Shape;171;p19"/>
          <p:cNvSpPr txBox="1"/>
          <p:nvPr/>
        </p:nvSpPr>
        <p:spPr>
          <a:xfrm>
            <a:off x="6337600" y="4566650"/>
            <a:ext cx="894000" cy="393600"/>
          </a:xfrm>
          <a:prstGeom prst="rect">
            <a:avLst/>
          </a:prstGeom>
          <a:solidFill>
            <a:srgbClr val="CFE2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sp>
        <p:nvSpPr>
          <p:cNvPr id="172" name="Google Shape;172;p19"/>
          <p:cNvSpPr txBox="1"/>
          <p:nvPr/>
        </p:nvSpPr>
        <p:spPr>
          <a:xfrm>
            <a:off x="6492575" y="3808025"/>
            <a:ext cx="1115400" cy="25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sz="1000"/>
              <a:t>Massive queries</a:t>
            </a:r>
            <a:endParaRPr sz="1000"/>
          </a:p>
        </p:txBody>
      </p:sp>
      <p:sp>
        <p:nvSpPr>
          <p:cNvPr id="173" name="Google Shape;173;p19"/>
          <p:cNvSpPr txBox="1"/>
          <p:nvPr/>
        </p:nvSpPr>
        <p:spPr>
          <a:xfrm>
            <a:off x="2622350" y="2747950"/>
            <a:ext cx="2318400" cy="32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i="1"/>
              <a:t>“GET traceability for ECID A”</a:t>
            </a:r>
            <a:endParaRPr sz="1100" i="1"/>
          </a:p>
        </p:txBody>
      </p:sp>
      <p:sp>
        <p:nvSpPr>
          <p:cNvPr id="174" name="Google Shape;174;p19"/>
          <p:cNvSpPr/>
          <p:nvPr/>
        </p:nvSpPr>
        <p:spPr>
          <a:xfrm>
            <a:off x="7536400" y="16305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sz="900"/>
              <a:t>Formater</a:t>
            </a:r>
            <a:endParaRPr sz="900"/>
          </a:p>
          <a:p>
            <a:pPr marL="0" lvl="0" indent="0" algn="ctr" rtl="0">
              <a:spcBef>
                <a:spcPts val="0"/>
              </a:spcBef>
              <a:spcAft>
                <a:spcPts val="0"/>
              </a:spcAft>
              <a:buNone/>
            </a:pPr>
            <a:r>
              <a:rPr lang="fr-FR" sz="900"/>
              <a:t>GS1--&gt;Traceability format</a:t>
            </a:r>
            <a:endParaRPr sz="900"/>
          </a:p>
        </p:txBody>
      </p:sp>
      <p:cxnSp>
        <p:nvCxnSpPr>
          <p:cNvPr id="175" name="Google Shape;175;p19"/>
          <p:cNvCxnSpPr>
            <a:stCxn id="153" idx="3"/>
            <a:endCxn id="174" idx="0"/>
          </p:cNvCxnSpPr>
          <p:nvPr/>
        </p:nvCxnSpPr>
        <p:spPr>
          <a:xfrm>
            <a:off x="6391200" y="1203050"/>
            <a:ext cx="1674600" cy="427500"/>
          </a:xfrm>
          <a:prstGeom prst="straightConnector1">
            <a:avLst/>
          </a:prstGeom>
          <a:noFill/>
          <a:ln w="9525" cap="flat" cmpd="sng">
            <a:solidFill>
              <a:schemeClr val="dk2"/>
            </a:solidFill>
            <a:prstDash val="solid"/>
            <a:round/>
            <a:headEnd type="triangle" w="med" len="med"/>
            <a:tailEnd type="triangle" w="med" len="med"/>
          </a:ln>
        </p:spPr>
      </p:cxnSp>
      <p:sp>
        <p:nvSpPr>
          <p:cNvPr id="176" name="Google Shape;176;p19"/>
          <p:cNvSpPr/>
          <p:nvPr/>
        </p:nvSpPr>
        <p:spPr>
          <a:xfrm>
            <a:off x="6896000" y="8959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1</a:t>
            </a:r>
            <a:endParaRPr/>
          </a:p>
        </p:txBody>
      </p:sp>
      <p:sp>
        <p:nvSpPr>
          <p:cNvPr id="177" name="Google Shape;177;p19"/>
          <p:cNvSpPr/>
          <p:nvPr/>
        </p:nvSpPr>
        <p:spPr>
          <a:xfrm>
            <a:off x="5351300" y="18173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2</a:t>
            </a:r>
            <a:endParaRPr/>
          </a:p>
        </p:txBody>
      </p:sp>
      <p:sp>
        <p:nvSpPr>
          <p:cNvPr id="178" name="Google Shape;178;p19"/>
          <p:cNvSpPr/>
          <p:nvPr/>
        </p:nvSpPr>
        <p:spPr>
          <a:xfrm>
            <a:off x="5351300" y="32201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3</a:t>
            </a:r>
            <a:endParaRPr/>
          </a:p>
        </p:txBody>
      </p:sp>
      <p:pic>
        <p:nvPicPr>
          <p:cNvPr id="179" name="Google Shape;179;p19"/>
          <p:cNvPicPr preferRelativeResize="0"/>
          <p:nvPr/>
        </p:nvPicPr>
        <p:blipFill>
          <a:blip r:embed="rId3">
            <a:alphaModFix/>
          </a:blip>
          <a:stretch>
            <a:fillRect/>
          </a:stretch>
        </p:blipFill>
        <p:spPr>
          <a:xfrm>
            <a:off x="152400" y="868150"/>
            <a:ext cx="962999" cy="641502"/>
          </a:xfrm>
          <a:prstGeom prst="rect">
            <a:avLst/>
          </a:prstGeom>
          <a:noFill/>
          <a:ln>
            <a:noFill/>
          </a:ln>
        </p:spPr>
      </p:pic>
      <p:sp>
        <p:nvSpPr>
          <p:cNvPr id="180" name="Google Shape;180;p19"/>
          <p:cNvSpPr txBox="1"/>
          <p:nvPr/>
        </p:nvSpPr>
        <p:spPr>
          <a:xfrm>
            <a:off x="1221325" y="0"/>
            <a:ext cx="7200000" cy="507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2000" b="1">
                <a:solidFill>
                  <a:srgbClr val="FFFFFF"/>
                </a:solidFill>
                <a:latin typeface="Rambla"/>
                <a:ea typeface="Rambla"/>
                <a:cs typeface="Rambla"/>
                <a:sym typeface="Rambla"/>
              </a:rPr>
              <a:t>High level flow for traceability for IT Europe systems</a:t>
            </a:r>
            <a:endParaRPr sz="2000" b="1">
              <a:solidFill>
                <a:srgbClr val="FFFFFF"/>
              </a:solidFill>
              <a:latin typeface="Rambla"/>
              <a:ea typeface="Rambla"/>
              <a:cs typeface="Rambla"/>
              <a:sym typeface="Rambl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0"/>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5</a:t>
            </a:fld>
            <a:endParaRPr/>
          </a:p>
        </p:txBody>
      </p:sp>
      <p:sp>
        <p:nvSpPr>
          <p:cNvPr id="187" name="Google Shape;187;p20"/>
          <p:cNvSpPr/>
          <p:nvPr/>
        </p:nvSpPr>
        <p:spPr>
          <a:xfrm>
            <a:off x="0" y="0"/>
            <a:ext cx="9144000" cy="507300"/>
          </a:xfrm>
          <a:prstGeom prst="rect">
            <a:avLst/>
          </a:prstGeom>
          <a:solidFill>
            <a:srgbClr val="45818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1">
              <a:solidFill>
                <a:srgbClr val="FFFFFF"/>
              </a:solidFill>
            </a:endParaRPr>
          </a:p>
        </p:txBody>
      </p:sp>
      <p:sp>
        <p:nvSpPr>
          <p:cNvPr id="188" name="Google Shape;188;p20"/>
          <p:cNvSpPr/>
          <p:nvPr/>
        </p:nvSpPr>
        <p:spPr>
          <a:xfrm>
            <a:off x="12118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Opsys Web</a:t>
            </a:r>
            <a:endParaRPr/>
          </a:p>
          <a:p>
            <a:pPr marL="0" lvl="0" indent="0" algn="ctr" rtl="0">
              <a:spcBef>
                <a:spcPts val="0"/>
              </a:spcBef>
              <a:spcAft>
                <a:spcPts val="0"/>
              </a:spcAft>
              <a:buNone/>
            </a:pPr>
            <a:r>
              <a:rPr lang="fr-FR" sz="800"/>
              <a:t>(web ordering system)</a:t>
            </a:r>
            <a:endParaRPr sz="800"/>
          </a:p>
        </p:txBody>
      </p:sp>
      <p:sp>
        <p:nvSpPr>
          <p:cNvPr id="189" name="Google Shape;189;p20"/>
          <p:cNvSpPr/>
          <p:nvPr/>
        </p:nvSpPr>
        <p:spPr>
          <a:xfrm>
            <a:off x="31577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Orchestra</a:t>
            </a:r>
            <a:endParaRPr/>
          </a:p>
          <a:p>
            <a:pPr marL="0" lvl="0" indent="0" algn="ctr" rtl="0">
              <a:spcBef>
                <a:spcPts val="0"/>
              </a:spcBef>
              <a:spcAft>
                <a:spcPts val="0"/>
              </a:spcAft>
              <a:buNone/>
            </a:pPr>
            <a:r>
              <a:rPr lang="fr-FR" sz="800">
                <a:solidFill>
                  <a:schemeClr val="dk1"/>
                </a:solidFill>
              </a:rPr>
              <a:t>(Ordering management system)</a:t>
            </a:r>
            <a:endParaRPr/>
          </a:p>
        </p:txBody>
      </p:sp>
      <p:sp>
        <p:nvSpPr>
          <p:cNvPr id="190" name="Google Shape;190;p20"/>
          <p:cNvSpPr/>
          <p:nvPr/>
        </p:nvSpPr>
        <p:spPr>
          <a:xfrm>
            <a:off x="53322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LSM Inlab</a:t>
            </a:r>
            <a:endParaRPr/>
          </a:p>
        </p:txBody>
      </p:sp>
      <p:sp>
        <p:nvSpPr>
          <p:cNvPr id="191" name="Google Shape;191;p20"/>
          <p:cNvSpPr/>
          <p:nvPr/>
        </p:nvSpPr>
        <p:spPr>
          <a:xfrm>
            <a:off x="1221325" y="23921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Business Sub Web portal</a:t>
            </a:r>
            <a:endParaRPr/>
          </a:p>
        </p:txBody>
      </p:sp>
      <p:sp>
        <p:nvSpPr>
          <p:cNvPr id="192" name="Google Shape;192;p20"/>
          <p:cNvSpPr/>
          <p:nvPr/>
        </p:nvSpPr>
        <p:spPr>
          <a:xfrm>
            <a:off x="7742325" y="38074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Internal Quality</a:t>
            </a:r>
            <a:endParaRPr/>
          </a:p>
        </p:txBody>
      </p:sp>
      <p:sp>
        <p:nvSpPr>
          <p:cNvPr id="193" name="Google Shape;193;p20"/>
          <p:cNvSpPr/>
          <p:nvPr/>
        </p:nvSpPr>
        <p:spPr>
          <a:xfrm>
            <a:off x="5332200" y="23921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EyeCloud</a:t>
            </a:r>
            <a:endParaRPr/>
          </a:p>
        </p:txBody>
      </p:sp>
      <p:sp>
        <p:nvSpPr>
          <p:cNvPr id="194" name="Google Shape;194;p20"/>
          <p:cNvSpPr/>
          <p:nvPr/>
        </p:nvSpPr>
        <p:spPr>
          <a:xfrm>
            <a:off x="5332200" y="38074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Datalake</a:t>
            </a:r>
            <a:endParaRPr/>
          </a:p>
        </p:txBody>
      </p:sp>
      <p:cxnSp>
        <p:nvCxnSpPr>
          <p:cNvPr id="195" name="Google Shape;195;p20"/>
          <p:cNvCxnSpPr>
            <a:stCxn id="192" idx="1"/>
            <a:endCxn id="194" idx="3"/>
          </p:cNvCxnSpPr>
          <p:nvPr/>
        </p:nvCxnSpPr>
        <p:spPr>
          <a:xfrm rot="10800000">
            <a:off x="6391125" y="4141500"/>
            <a:ext cx="1351200" cy="0"/>
          </a:xfrm>
          <a:prstGeom prst="straightConnector1">
            <a:avLst/>
          </a:prstGeom>
          <a:noFill/>
          <a:ln w="9525" cap="flat" cmpd="sng">
            <a:solidFill>
              <a:schemeClr val="dk2"/>
            </a:solidFill>
            <a:prstDash val="solid"/>
            <a:round/>
            <a:headEnd type="none" w="med" len="med"/>
            <a:tailEnd type="triangle" w="med" len="med"/>
          </a:ln>
        </p:spPr>
      </p:cxnSp>
      <p:cxnSp>
        <p:nvCxnSpPr>
          <p:cNvPr id="196" name="Google Shape;196;p20"/>
          <p:cNvCxnSpPr>
            <a:stCxn id="191" idx="3"/>
            <a:endCxn id="193" idx="1"/>
          </p:cNvCxnSpPr>
          <p:nvPr/>
        </p:nvCxnSpPr>
        <p:spPr>
          <a:xfrm>
            <a:off x="2280325" y="2726200"/>
            <a:ext cx="3051900" cy="0"/>
          </a:xfrm>
          <a:prstGeom prst="straightConnector1">
            <a:avLst/>
          </a:prstGeom>
          <a:noFill/>
          <a:ln w="9525" cap="flat" cmpd="sng">
            <a:solidFill>
              <a:schemeClr val="dk2"/>
            </a:solidFill>
            <a:prstDash val="solid"/>
            <a:round/>
            <a:headEnd type="none" w="med" len="med"/>
            <a:tailEnd type="triangle" w="med" len="med"/>
          </a:ln>
        </p:spPr>
      </p:cxnSp>
      <p:cxnSp>
        <p:nvCxnSpPr>
          <p:cNvPr id="197" name="Google Shape;197;p20"/>
          <p:cNvCxnSpPr>
            <a:stCxn id="188" idx="3"/>
            <a:endCxn id="189" idx="1"/>
          </p:cNvCxnSpPr>
          <p:nvPr/>
        </p:nvCxnSpPr>
        <p:spPr>
          <a:xfrm>
            <a:off x="2270800" y="1203050"/>
            <a:ext cx="886800" cy="0"/>
          </a:xfrm>
          <a:prstGeom prst="straightConnector1">
            <a:avLst/>
          </a:prstGeom>
          <a:noFill/>
          <a:ln w="9525" cap="flat" cmpd="sng">
            <a:solidFill>
              <a:schemeClr val="dk2"/>
            </a:solidFill>
            <a:prstDash val="solid"/>
            <a:round/>
            <a:headEnd type="none" w="med" len="med"/>
            <a:tailEnd type="triangle" w="med" len="med"/>
          </a:ln>
        </p:spPr>
      </p:cxnSp>
      <p:cxnSp>
        <p:nvCxnSpPr>
          <p:cNvPr id="198" name="Google Shape;198;p20"/>
          <p:cNvCxnSpPr>
            <a:stCxn id="189" idx="3"/>
            <a:endCxn id="190" idx="1"/>
          </p:cNvCxnSpPr>
          <p:nvPr/>
        </p:nvCxnSpPr>
        <p:spPr>
          <a:xfrm>
            <a:off x="4216700" y="1203050"/>
            <a:ext cx="1115400" cy="0"/>
          </a:xfrm>
          <a:prstGeom prst="straightConnector1">
            <a:avLst/>
          </a:prstGeom>
          <a:noFill/>
          <a:ln w="9525" cap="flat" cmpd="sng">
            <a:solidFill>
              <a:schemeClr val="dk2"/>
            </a:solidFill>
            <a:prstDash val="solid"/>
            <a:round/>
            <a:headEnd type="none" w="med" len="med"/>
            <a:tailEnd type="triangle" w="med" len="med"/>
          </a:ln>
        </p:spPr>
      </p:cxnSp>
      <p:cxnSp>
        <p:nvCxnSpPr>
          <p:cNvPr id="199" name="Google Shape;199;p20"/>
          <p:cNvCxnSpPr>
            <a:stCxn id="190" idx="2"/>
            <a:endCxn id="193" idx="0"/>
          </p:cNvCxnSpPr>
          <p:nvPr/>
        </p:nvCxnSpPr>
        <p:spPr>
          <a:xfrm>
            <a:off x="5861700" y="1537100"/>
            <a:ext cx="0" cy="855000"/>
          </a:xfrm>
          <a:prstGeom prst="straightConnector1">
            <a:avLst/>
          </a:prstGeom>
          <a:noFill/>
          <a:ln w="9525" cap="flat" cmpd="sng">
            <a:solidFill>
              <a:schemeClr val="dk2"/>
            </a:solidFill>
            <a:prstDash val="solid"/>
            <a:round/>
            <a:headEnd type="none" w="med" len="med"/>
            <a:tailEnd type="triangle" w="med" len="med"/>
          </a:ln>
        </p:spPr>
      </p:cxnSp>
      <p:sp>
        <p:nvSpPr>
          <p:cNvPr id="200" name="Google Shape;200;p20"/>
          <p:cNvSpPr txBox="1"/>
          <p:nvPr/>
        </p:nvSpPr>
        <p:spPr>
          <a:xfrm>
            <a:off x="2299000" y="1203050"/>
            <a:ext cx="6774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ECID A</a:t>
            </a:r>
            <a:endParaRPr sz="1100"/>
          </a:p>
        </p:txBody>
      </p:sp>
      <p:sp>
        <p:nvSpPr>
          <p:cNvPr id="201" name="Google Shape;201;p20"/>
          <p:cNvSpPr txBox="1"/>
          <p:nvPr/>
        </p:nvSpPr>
        <p:spPr>
          <a:xfrm>
            <a:off x="4356400" y="1203050"/>
            <a:ext cx="6774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ECID A</a:t>
            </a:r>
            <a:endParaRPr sz="1100"/>
          </a:p>
        </p:txBody>
      </p:sp>
      <p:sp>
        <p:nvSpPr>
          <p:cNvPr id="202" name="Google Shape;202;p20"/>
          <p:cNvSpPr txBox="1"/>
          <p:nvPr/>
        </p:nvSpPr>
        <p:spPr>
          <a:xfrm>
            <a:off x="5880400" y="1671050"/>
            <a:ext cx="1217400" cy="641400"/>
          </a:xfrm>
          <a:prstGeom prst="rect">
            <a:avLst/>
          </a:prstGeom>
          <a:solidFill>
            <a:srgbClr val="CFE2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000"/>
              <a:t>Traceability file (many info)  POST on ECID A</a:t>
            </a:r>
            <a:endParaRPr sz="1000"/>
          </a:p>
        </p:txBody>
      </p:sp>
      <p:sp>
        <p:nvSpPr>
          <p:cNvPr id="203" name="Google Shape;203;p20"/>
          <p:cNvSpPr txBox="1"/>
          <p:nvPr/>
        </p:nvSpPr>
        <p:spPr>
          <a:xfrm>
            <a:off x="5499400" y="1279250"/>
            <a:ext cx="7926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Picking</a:t>
            </a:r>
            <a:endParaRPr sz="1100"/>
          </a:p>
        </p:txBody>
      </p:sp>
      <p:sp>
        <p:nvSpPr>
          <p:cNvPr id="204" name="Google Shape;204;p20"/>
          <p:cNvSpPr txBox="1"/>
          <p:nvPr/>
        </p:nvSpPr>
        <p:spPr>
          <a:xfrm>
            <a:off x="6032800" y="4261850"/>
            <a:ext cx="894000" cy="393600"/>
          </a:xfrm>
          <a:prstGeom prst="rect">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cxnSp>
        <p:nvCxnSpPr>
          <p:cNvPr id="205" name="Google Shape;205;p20"/>
          <p:cNvCxnSpPr>
            <a:stCxn id="193" idx="2"/>
            <a:endCxn id="194" idx="0"/>
          </p:cNvCxnSpPr>
          <p:nvPr/>
        </p:nvCxnSpPr>
        <p:spPr>
          <a:xfrm>
            <a:off x="5861700" y="3060250"/>
            <a:ext cx="0" cy="747300"/>
          </a:xfrm>
          <a:prstGeom prst="straightConnector1">
            <a:avLst/>
          </a:prstGeom>
          <a:noFill/>
          <a:ln w="9525" cap="flat" cmpd="sng">
            <a:solidFill>
              <a:schemeClr val="dk2"/>
            </a:solidFill>
            <a:prstDash val="solid"/>
            <a:round/>
            <a:headEnd type="none" w="med" len="med"/>
            <a:tailEnd type="triangle" w="med" len="med"/>
          </a:ln>
        </p:spPr>
      </p:cxnSp>
      <p:pic>
        <p:nvPicPr>
          <p:cNvPr id="206" name="Google Shape;206;p20"/>
          <p:cNvPicPr preferRelativeResize="0"/>
          <p:nvPr/>
        </p:nvPicPr>
        <p:blipFill>
          <a:blip r:embed="rId3">
            <a:alphaModFix/>
          </a:blip>
          <a:stretch>
            <a:fillRect/>
          </a:stretch>
        </p:blipFill>
        <p:spPr>
          <a:xfrm>
            <a:off x="152400" y="2392150"/>
            <a:ext cx="962999" cy="641502"/>
          </a:xfrm>
          <a:prstGeom prst="rect">
            <a:avLst/>
          </a:prstGeom>
          <a:noFill/>
          <a:ln>
            <a:noFill/>
          </a:ln>
        </p:spPr>
      </p:pic>
      <p:sp>
        <p:nvSpPr>
          <p:cNvPr id="207" name="Google Shape;207;p20"/>
          <p:cNvSpPr txBox="1"/>
          <p:nvPr/>
        </p:nvSpPr>
        <p:spPr>
          <a:xfrm>
            <a:off x="6185200" y="4414250"/>
            <a:ext cx="894000" cy="3936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sp>
        <p:nvSpPr>
          <p:cNvPr id="208" name="Google Shape;208;p20"/>
          <p:cNvSpPr txBox="1"/>
          <p:nvPr/>
        </p:nvSpPr>
        <p:spPr>
          <a:xfrm>
            <a:off x="6337600" y="4566650"/>
            <a:ext cx="894000" cy="393600"/>
          </a:xfrm>
          <a:prstGeom prst="rect">
            <a:avLst/>
          </a:prstGeom>
          <a:solidFill>
            <a:srgbClr val="CFE2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sp>
        <p:nvSpPr>
          <p:cNvPr id="209" name="Google Shape;209;p20"/>
          <p:cNvSpPr txBox="1"/>
          <p:nvPr/>
        </p:nvSpPr>
        <p:spPr>
          <a:xfrm>
            <a:off x="6492575" y="3808025"/>
            <a:ext cx="1115400" cy="25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sz="1000"/>
              <a:t>Massive queries</a:t>
            </a:r>
            <a:endParaRPr sz="1000"/>
          </a:p>
        </p:txBody>
      </p:sp>
      <p:sp>
        <p:nvSpPr>
          <p:cNvPr id="210" name="Google Shape;210;p20"/>
          <p:cNvSpPr txBox="1"/>
          <p:nvPr/>
        </p:nvSpPr>
        <p:spPr>
          <a:xfrm>
            <a:off x="2622350" y="2747950"/>
            <a:ext cx="2318400" cy="32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i="1"/>
              <a:t>“GET traceability for ECID A”</a:t>
            </a:r>
            <a:endParaRPr sz="1100" i="1"/>
          </a:p>
        </p:txBody>
      </p:sp>
      <p:sp>
        <p:nvSpPr>
          <p:cNvPr id="211" name="Google Shape;211;p20"/>
          <p:cNvSpPr/>
          <p:nvPr/>
        </p:nvSpPr>
        <p:spPr>
          <a:xfrm>
            <a:off x="7536400" y="16305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sz="900"/>
              <a:t>Formater</a:t>
            </a:r>
            <a:endParaRPr sz="900"/>
          </a:p>
          <a:p>
            <a:pPr marL="0" lvl="0" indent="0" algn="ctr" rtl="0">
              <a:spcBef>
                <a:spcPts val="0"/>
              </a:spcBef>
              <a:spcAft>
                <a:spcPts val="0"/>
              </a:spcAft>
              <a:buNone/>
            </a:pPr>
            <a:r>
              <a:rPr lang="fr-FR" sz="900"/>
              <a:t>GS1--&gt;Traceability format</a:t>
            </a:r>
            <a:endParaRPr sz="900"/>
          </a:p>
        </p:txBody>
      </p:sp>
      <p:cxnSp>
        <p:nvCxnSpPr>
          <p:cNvPr id="212" name="Google Shape;212;p20"/>
          <p:cNvCxnSpPr>
            <a:stCxn id="190" idx="3"/>
            <a:endCxn id="211" idx="0"/>
          </p:cNvCxnSpPr>
          <p:nvPr/>
        </p:nvCxnSpPr>
        <p:spPr>
          <a:xfrm>
            <a:off x="6391200" y="1203050"/>
            <a:ext cx="1674600" cy="427500"/>
          </a:xfrm>
          <a:prstGeom prst="straightConnector1">
            <a:avLst/>
          </a:prstGeom>
          <a:noFill/>
          <a:ln w="9525" cap="flat" cmpd="sng">
            <a:solidFill>
              <a:schemeClr val="dk2"/>
            </a:solidFill>
            <a:prstDash val="solid"/>
            <a:round/>
            <a:headEnd type="triangle" w="med" len="med"/>
            <a:tailEnd type="triangle" w="med" len="med"/>
          </a:ln>
        </p:spPr>
      </p:cxnSp>
      <p:sp>
        <p:nvSpPr>
          <p:cNvPr id="213" name="Google Shape;213;p20"/>
          <p:cNvSpPr/>
          <p:nvPr/>
        </p:nvSpPr>
        <p:spPr>
          <a:xfrm>
            <a:off x="6896000" y="8959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1</a:t>
            </a:r>
            <a:endParaRPr/>
          </a:p>
        </p:txBody>
      </p:sp>
      <p:sp>
        <p:nvSpPr>
          <p:cNvPr id="214" name="Google Shape;214;p20"/>
          <p:cNvSpPr/>
          <p:nvPr/>
        </p:nvSpPr>
        <p:spPr>
          <a:xfrm>
            <a:off x="5351300" y="18173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2</a:t>
            </a:r>
            <a:endParaRPr/>
          </a:p>
        </p:txBody>
      </p:sp>
      <p:sp>
        <p:nvSpPr>
          <p:cNvPr id="215" name="Google Shape;215;p20"/>
          <p:cNvSpPr/>
          <p:nvPr/>
        </p:nvSpPr>
        <p:spPr>
          <a:xfrm>
            <a:off x="5351300" y="32201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3</a:t>
            </a:r>
            <a:endParaRPr/>
          </a:p>
        </p:txBody>
      </p:sp>
      <p:pic>
        <p:nvPicPr>
          <p:cNvPr id="216" name="Google Shape;216;p20"/>
          <p:cNvPicPr preferRelativeResize="0"/>
          <p:nvPr/>
        </p:nvPicPr>
        <p:blipFill>
          <a:blip r:embed="rId3">
            <a:alphaModFix/>
          </a:blip>
          <a:stretch>
            <a:fillRect/>
          </a:stretch>
        </p:blipFill>
        <p:spPr>
          <a:xfrm>
            <a:off x="152400" y="868150"/>
            <a:ext cx="962999" cy="641502"/>
          </a:xfrm>
          <a:prstGeom prst="rect">
            <a:avLst/>
          </a:prstGeom>
          <a:noFill/>
          <a:ln>
            <a:noFill/>
          </a:ln>
        </p:spPr>
      </p:pic>
      <p:sp>
        <p:nvSpPr>
          <p:cNvPr id="217" name="Google Shape;217;p20"/>
          <p:cNvSpPr/>
          <p:nvPr/>
        </p:nvSpPr>
        <p:spPr>
          <a:xfrm>
            <a:off x="327950" y="3505475"/>
            <a:ext cx="3958500" cy="1563300"/>
          </a:xfrm>
          <a:prstGeom prst="wedgeRoundRectCallout">
            <a:avLst>
              <a:gd name="adj1" fmla="val -15924"/>
              <a:gd name="adj2" fmla="val -186101"/>
              <a:gd name="adj3" fmla="val 0"/>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sz="1200">
                <a:solidFill>
                  <a:srgbClr val="FFFFFF"/>
                </a:solidFill>
              </a:rPr>
              <a:t>The ECP makes an order to Essilor.</a:t>
            </a:r>
            <a:endParaRPr sz="1200">
              <a:solidFill>
                <a:srgbClr val="FFFFFF"/>
              </a:solidFill>
            </a:endParaRPr>
          </a:p>
          <a:p>
            <a:pPr marL="0" lvl="0" indent="0" algn="l" rtl="0">
              <a:spcBef>
                <a:spcPts val="0"/>
              </a:spcBef>
              <a:spcAft>
                <a:spcPts val="0"/>
              </a:spcAft>
              <a:buNone/>
            </a:pPr>
            <a:endParaRPr sz="1200">
              <a:solidFill>
                <a:srgbClr val="FFFFFF"/>
              </a:solidFill>
            </a:endParaRPr>
          </a:p>
          <a:p>
            <a:pPr marL="0" lvl="0" indent="0" algn="l" rtl="0">
              <a:spcBef>
                <a:spcPts val="0"/>
              </a:spcBef>
              <a:spcAft>
                <a:spcPts val="0"/>
              </a:spcAft>
              <a:buNone/>
            </a:pPr>
            <a:r>
              <a:rPr lang="fr-FR" sz="1200">
                <a:solidFill>
                  <a:srgbClr val="FFFFFF"/>
                </a:solidFill>
              </a:rPr>
              <a:t>On the back end: the web ordering system asks for Eyecloud to have an Unique Order ID (UOID). It can possibly store documents or data into EyeCloud if he needs to. But in this use case, no need. The ordering system transfers the UOID to the next system of the ordering flow.</a:t>
            </a:r>
            <a:endParaRPr sz="1200">
              <a:solidFill>
                <a:srgbClr val="FFFFFF"/>
              </a:solidFill>
            </a:endParaRPr>
          </a:p>
        </p:txBody>
      </p:sp>
      <p:sp>
        <p:nvSpPr>
          <p:cNvPr id="218" name="Google Shape;218;p20"/>
          <p:cNvSpPr/>
          <p:nvPr/>
        </p:nvSpPr>
        <p:spPr>
          <a:xfrm>
            <a:off x="1287250" y="2919175"/>
            <a:ext cx="548700" cy="507300"/>
          </a:xfrm>
          <a:prstGeom prst="ellipse">
            <a:avLst/>
          </a:prstGeom>
          <a:solidFill>
            <a:srgbClr val="FFFFFF"/>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1</a:t>
            </a:r>
            <a:endParaRPr/>
          </a:p>
        </p:txBody>
      </p:sp>
      <p:sp>
        <p:nvSpPr>
          <p:cNvPr id="219" name="Google Shape;219;p20"/>
          <p:cNvSpPr txBox="1"/>
          <p:nvPr/>
        </p:nvSpPr>
        <p:spPr>
          <a:xfrm>
            <a:off x="1221325" y="0"/>
            <a:ext cx="7200000" cy="507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2000" b="1">
                <a:solidFill>
                  <a:srgbClr val="FFFFFF"/>
                </a:solidFill>
                <a:latin typeface="Rambla"/>
                <a:ea typeface="Rambla"/>
                <a:cs typeface="Rambla"/>
                <a:sym typeface="Rambla"/>
              </a:rPr>
              <a:t>High level flow for traceability for IT Europe systems</a:t>
            </a:r>
            <a:endParaRPr sz="2000" b="1">
              <a:solidFill>
                <a:srgbClr val="FFFFFF"/>
              </a:solidFill>
              <a:latin typeface="Rambla"/>
              <a:ea typeface="Rambla"/>
              <a:cs typeface="Rambla"/>
              <a:sym typeface="Rambl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1"/>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6</a:t>
            </a:fld>
            <a:endParaRPr/>
          </a:p>
        </p:txBody>
      </p:sp>
      <p:sp>
        <p:nvSpPr>
          <p:cNvPr id="226" name="Google Shape;226;p21"/>
          <p:cNvSpPr/>
          <p:nvPr/>
        </p:nvSpPr>
        <p:spPr>
          <a:xfrm>
            <a:off x="0" y="0"/>
            <a:ext cx="9144000" cy="507300"/>
          </a:xfrm>
          <a:prstGeom prst="rect">
            <a:avLst/>
          </a:prstGeom>
          <a:solidFill>
            <a:srgbClr val="45818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1">
              <a:solidFill>
                <a:srgbClr val="FFFFFF"/>
              </a:solidFill>
            </a:endParaRPr>
          </a:p>
        </p:txBody>
      </p:sp>
      <p:sp>
        <p:nvSpPr>
          <p:cNvPr id="227" name="Google Shape;227;p21"/>
          <p:cNvSpPr/>
          <p:nvPr/>
        </p:nvSpPr>
        <p:spPr>
          <a:xfrm>
            <a:off x="12118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Opsys Web</a:t>
            </a:r>
            <a:endParaRPr/>
          </a:p>
          <a:p>
            <a:pPr marL="0" lvl="0" indent="0" algn="ctr" rtl="0">
              <a:spcBef>
                <a:spcPts val="0"/>
              </a:spcBef>
              <a:spcAft>
                <a:spcPts val="0"/>
              </a:spcAft>
              <a:buNone/>
            </a:pPr>
            <a:r>
              <a:rPr lang="fr-FR" sz="800"/>
              <a:t>(web ordering system)</a:t>
            </a:r>
            <a:endParaRPr sz="800"/>
          </a:p>
        </p:txBody>
      </p:sp>
      <p:sp>
        <p:nvSpPr>
          <p:cNvPr id="228" name="Google Shape;228;p21"/>
          <p:cNvSpPr/>
          <p:nvPr/>
        </p:nvSpPr>
        <p:spPr>
          <a:xfrm>
            <a:off x="31577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Orchestra</a:t>
            </a:r>
            <a:endParaRPr/>
          </a:p>
          <a:p>
            <a:pPr marL="0" lvl="0" indent="0" algn="ctr" rtl="0">
              <a:spcBef>
                <a:spcPts val="0"/>
              </a:spcBef>
              <a:spcAft>
                <a:spcPts val="0"/>
              </a:spcAft>
              <a:buNone/>
            </a:pPr>
            <a:r>
              <a:rPr lang="fr-FR" sz="800">
                <a:solidFill>
                  <a:schemeClr val="dk1"/>
                </a:solidFill>
              </a:rPr>
              <a:t>(Ordering management system)</a:t>
            </a:r>
            <a:endParaRPr/>
          </a:p>
        </p:txBody>
      </p:sp>
      <p:sp>
        <p:nvSpPr>
          <p:cNvPr id="229" name="Google Shape;229;p21"/>
          <p:cNvSpPr/>
          <p:nvPr/>
        </p:nvSpPr>
        <p:spPr>
          <a:xfrm>
            <a:off x="53322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LSM Inlab</a:t>
            </a:r>
            <a:endParaRPr/>
          </a:p>
        </p:txBody>
      </p:sp>
      <p:sp>
        <p:nvSpPr>
          <p:cNvPr id="230" name="Google Shape;230;p21"/>
          <p:cNvSpPr/>
          <p:nvPr/>
        </p:nvSpPr>
        <p:spPr>
          <a:xfrm>
            <a:off x="1221325" y="23921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Business Sub Web portal</a:t>
            </a:r>
            <a:endParaRPr/>
          </a:p>
        </p:txBody>
      </p:sp>
      <p:sp>
        <p:nvSpPr>
          <p:cNvPr id="231" name="Google Shape;231;p21"/>
          <p:cNvSpPr/>
          <p:nvPr/>
        </p:nvSpPr>
        <p:spPr>
          <a:xfrm>
            <a:off x="7742325" y="38074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Internal Quality</a:t>
            </a:r>
            <a:endParaRPr/>
          </a:p>
        </p:txBody>
      </p:sp>
      <p:sp>
        <p:nvSpPr>
          <p:cNvPr id="232" name="Google Shape;232;p21"/>
          <p:cNvSpPr/>
          <p:nvPr/>
        </p:nvSpPr>
        <p:spPr>
          <a:xfrm>
            <a:off x="5332200" y="23921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EyeCloud</a:t>
            </a:r>
            <a:endParaRPr/>
          </a:p>
        </p:txBody>
      </p:sp>
      <p:sp>
        <p:nvSpPr>
          <p:cNvPr id="233" name="Google Shape;233;p21"/>
          <p:cNvSpPr/>
          <p:nvPr/>
        </p:nvSpPr>
        <p:spPr>
          <a:xfrm>
            <a:off x="5332200" y="38074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Datalake</a:t>
            </a:r>
            <a:endParaRPr/>
          </a:p>
        </p:txBody>
      </p:sp>
      <p:cxnSp>
        <p:nvCxnSpPr>
          <p:cNvPr id="234" name="Google Shape;234;p21"/>
          <p:cNvCxnSpPr>
            <a:stCxn id="231" idx="1"/>
            <a:endCxn id="233" idx="3"/>
          </p:cNvCxnSpPr>
          <p:nvPr/>
        </p:nvCxnSpPr>
        <p:spPr>
          <a:xfrm rot="10800000">
            <a:off x="6391125" y="4141500"/>
            <a:ext cx="1351200" cy="0"/>
          </a:xfrm>
          <a:prstGeom prst="straightConnector1">
            <a:avLst/>
          </a:prstGeom>
          <a:noFill/>
          <a:ln w="9525" cap="flat" cmpd="sng">
            <a:solidFill>
              <a:schemeClr val="dk2"/>
            </a:solidFill>
            <a:prstDash val="solid"/>
            <a:round/>
            <a:headEnd type="none" w="med" len="med"/>
            <a:tailEnd type="triangle" w="med" len="med"/>
          </a:ln>
        </p:spPr>
      </p:cxnSp>
      <p:cxnSp>
        <p:nvCxnSpPr>
          <p:cNvPr id="235" name="Google Shape;235;p21"/>
          <p:cNvCxnSpPr>
            <a:stCxn id="230" idx="3"/>
            <a:endCxn id="232" idx="1"/>
          </p:cNvCxnSpPr>
          <p:nvPr/>
        </p:nvCxnSpPr>
        <p:spPr>
          <a:xfrm>
            <a:off x="2280325" y="2726200"/>
            <a:ext cx="3051900" cy="0"/>
          </a:xfrm>
          <a:prstGeom prst="straightConnector1">
            <a:avLst/>
          </a:prstGeom>
          <a:noFill/>
          <a:ln w="9525" cap="flat" cmpd="sng">
            <a:solidFill>
              <a:schemeClr val="dk2"/>
            </a:solidFill>
            <a:prstDash val="solid"/>
            <a:round/>
            <a:headEnd type="none" w="med" len="med"/>
            <a:tailEnd type="triangle" w="med" len="med"/>
          </a:ln>
        </p:spPr>
      </p:cxnSp>
      <p:cxnSp>
        <p:nvCxnSpPr>
          <p:cNvPr id="236" name="Google Shape;236;p21"/>
          <p:cNvCxnSpPr>
            <a:stCxn id="227" idx="3"/>
            <a:endCxn id="228" idx="1"/>
          </p:cNvCxnSpPr>
          <p:nvPr/>
        </p:nvCxnSpPr>
        <p:spPr>
          <a:xfrm>
            <a:off x="2270800" y="1203050"/>
            <a:ext cx="886800" cy="0"/>
          </a:xfrm>
          <a:prstGeom prst="straightConnector1">
            <a:avLst/>
          </a:prstGeom>
          <a:noFill/>
          <a:ln w="9525" cap="flat" cmpd="sng">
            <a:solidFill>
              <a:schemeClr val="dk2"/>
            </a:solidFill>
            <a:prstDash val="solid"/>
            <a:round/>
            <a:headEnd type="none" w="med" len="med"/>
            <a:tailEnd type="triangle" w="med" len="med"/>
          </a:ln>
        </p:spPr>
      </p:cxnSp>
      <p:cxnSp>
        <p:nvCxnSpPr>
          <p:cNvPr id="237" name="Google Shape;237;p21"/>
          <p:cNvCxnSpPr>
            <a:stCxn id="228" idx="3"/>
            <a:endCxn id="229" idx="1"/>
          </p:cNvCxnSpPr>
          <p:nvPr/>
        </p:nvCxnSpPr>
        <p:spPr>
          <a:xfrm>
            <a:off x="4216700" y="1203050"/>
            <a:ext cx="1115400" cy="0"/>
          </a:xfrm>
          <a:prstGeom prst="straightConnector1">
            <a:avLst/>
          </a:prstGeom>
          <a:noFill/>
          <a:ln w="9525" cap="flat" cmpd="sng">
            <a:solidFill>
              <a:schemeClr val="dk2"/>
            </a:solidFill>
            <a:prstDash val="solid"/>
            <a:round/>
            <a:headEnd type="none" w="med" len="med"/>
            <a:tailEnd type="triangle" w="med" len="med"/>
          </a:ln>
        </p:spPr>
      </p:cxnSp>
      <p:cxnSp>
        <p:nvCxnSpPr>
          <p:cNvPr id="238" name="Google Shape;238;p21"/>
          <p:cNvCxnSpPr>
            <a:stCxn id="229" idx="2"/>
            <a:endCxn id="232" idx="0"/>
          </p:cNvCxnSpPr>
          <p:nvPr/>
        </p:nvCxnSpPr>
        <p:spPr>
          <a:xfrm>
            <a:off x="5861700" y="1537100"/>
            <a:ext cx="0" cy="855000"/>
          </a:xfrm>
          <a:prstGeom prst="straightConnector1">
            <a:avLst/>
          </a:prstGeom>
          <a:noFill/>
          <a:ln w="9525" cap="flat" cmpd="sng">
            <a:solidFill>
              <a:schemeClr val="dk2"/>
            </a:solidFill>
            <a:prstDash val="solid"/>
            <a:round/>
            <a:headEnd type="none" w="med" len="med"/>
            <a:tailEnd type="triangle" w="med" len="med"/>
          </a:ln>
        </p:spPr>
      </p:cxnSp>
      <p:sp>
        <p:nvSpPr>
          <p:cNvPr id="239" name="Google Shape;239;p21"/>
          <p:cNvSpPr txBox="1"/>
          <p:nvPr/>
        </p:nvSpPr>
        <p:spPr>
          <a:xfrm>
            <a:off x="2299000" y="1203050"/>
            <a:ext cx="6774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ECID A</a:t>
            </a:r>
            <a:endParaRPr sz="1100"/>
          </a:p>
        </p:txBody>
      </p:sp>
      <p:sp>
        <p:nvSpPr>
          <p:cNvPr id="240" name="Google Shape;240;p21"/>
          <p:cNvSpPr txBox="1"/>
          <p:nvPr/>
        </p:nvSpPr>
        <p:spPr>
          <a:xfrm>
            <a:off x="4356400" y="1203050"/>
            <a:ext cx="6774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ECID A</a:t>
            </a:r>
            <a:endParaRPr sz="1100"/>
          </a:p>
        </p:txBody>
      </p:sp>
      <p:sp>
        <p:nvSpPr>
          <p:cNvPr id="241" name="Google Shape;241;p21"/>
          <p:cNvSpPr txBox="1"/>
          <p:nvPr/>
        </p:nvSpPr>
        <p:spPr>
          <a:xfrm>
            <a:off x="5880400" y="1671050"/>
            <a:ext cx="1217400" cy="641400"/>
          </a:xfrm>
          <a:prstGeom prst="rect">
            <a:avLst/>
          </a:prstGeom>
          <a:solidFill>
            <a:srgbClr val="CFE2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000"/>
              <a:t>Traceability file (many info)  POST on ECID A</a:t>
            </a:r>
            <a:endParaRPr sz="1000"/>
          </a:p>
        </p:txBody>
      </p:sp>
      <p:sp>
        <p:nvSpPr>
          <p:cNvPr id="242" name="Google Shape;242;p21"/>
          <p:cNvSpPr txBox="1"/>
          <p:nvPr/>
        </p:nvSpPr>
        <p:spPr>
          <a:xfrm>
            <a:off x="5499400" y="1279250"/>
            <a:ext cx="7926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Picking</a:t>
            </a:r>
            <a:endParaRPr sz="1100"/>
          </a:p>
        </p:txBody>
      </p:sp>
      <p:sp>
        <p:nvSpPr>
          <p:cNvPr id="243" name="Google Shape;243;p21"/>
          <p:cNvSpPr txBox="1"/>
          <p:nvPr/>
        </p:nvSpPr>
        <p:spPr>
          <a:xfrm>
            <a:off x="6032800" y="4261850"/>
            <a:ext cx="894000" cy="393600"/>
          </a:xfrm>
          <a:prstGeom prst="rect">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cxnSp>
        <p:nvCxnSpPr>
          <p:cNvPr id="244" name="Google Shape;244;p21"/>
          <p:cNvCxnSpPr>
            <a:stCxn id="232" idx="2"/>
            <a:endCxn id="233" idx="0"/>
          </p:cNvCxnSpPr>
          <p:nvPr/>
        </p:nvCxnSpPr>
        <p:spPr>
          <a:xfrm>
            <a:off x="5861700" y="3060250"/>
            <a:ext cx="0" cy="747300"/>
          </a:xfrm>
          <a:prstGeom prst="straightConnector1">
            <a:avLst/>
          </a:prstGeom>
          <a:noFill/>
          <a:ln w="9525" cap="flat" cmpd="sng">
            <a:solidFill>
              <a:schemeClr val="dk2"/>
            </a:solidFill>
            <a:prstDash val="solid"/>
            <a:round/>
            <a:headEnd type="none" w="med" len="med"/>
            <a:tailEnd type="triangle" w="med" len="med"/>
          </a:ln>
        </p:spPr>
      </p:cxnSp>
      <p:pic>
        <p:nvPicPr>
          <p:cNvPr id="245" name="Google Shape;245;p21"/>
          <p:cNvPicPr preferRelativeResize="0"/>
          <p:nvPr/>
        </p:nvPicPr>
        <p:blipFill>
          <a:blip r:embed="rId3">
            <a:alphaModFix/>
          </a:blip>
          <a:stretch>
            <a:fillRect/>
          </a:stretch>
        </p:blipFill>
        <p:spPr>
          <a:xfrm>
            <a:off x="152400" y="2392150"/>
            <a:ext cx="962999" cy="641502"/>
          </a:xfrm>
          <a:prstGeom prst="rect">
            <a:avLst/>
          </a:prstGeom>
          <a:noFill/>
          <a:ln>
            <a:noFill/>
          </a:ln>
        </p:spPr>
      </p:pic>
      <p:sp>
        <p:nvSpPr>
          <p:cNvPr id="246" name="Google Shape;246;p21"/>
          <p:cNvSpPr txBox="1"/>
          <p:nvPr/>
        </p:nvSpPr>
        <p:spPr>
          <a:xfrm>
            <a:off x="6185200" y="4414250"/>
            <a:ext cx="894000" cy="3936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sp>
        <p:nvSpPr>
          <p:cNvPr id="247" name="Google Shape;247;p21"/>
          <p:cNvSpPr txBox="1"/>
          <p:nvPr/>
        </p:nvSpPr>
        <p:spPr>
          <a:xfrm>
            <a:off x="6337600" y="4566650"/>
            <a:ext cx="894000" cy="393600"/>
          </a:xfrm>
          <a:prstGeom prst="rect">
            <a:avLst/>
          </a:prstGeom>
          <a:solidFill>
            <a:srgbClr val="CFE2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sp>
        <p:nvSpPr>
          <p:cNvPr id="248" name="Google Shape;248;p21"/>
          <p:cNvSpPr txBox="1"/>
          <p:nvPr/>
        </p:nvSpPr>
        <p:spPr>
          <a:xfrm>
            <a:off x="6492575" y="3808025"/>
            <a:ext cx="1115400" cy="25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sz="1000"/>
              <a:t>Massive queries</a:t>
            </a:r>
            <a:endParaRPr sz="1000"/>
          </a:p>
        </p:txBody>
      </p:sp>
      <p:sp>
        <p:nvSpPr>
          <p:cNvPr id="249" name="Google Shape;249;p21"/>
          <p:cNvSpPr txBox="1"/>
          <p:nvPr/>
        </p:nvSpPr>
        <p:spPr>
          <a:xfrm>
            <a:off x="2622350" y="2747950"/>
            <a:ext cx="2318400" cy="32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i="1"/>
              <a:t>“GET traceability for ECID A”</a:t>
            </a:r>
            <a:endParaRPr sz="1100" i="1"/>
          </a:p>
        </p:txBody>
      </p:sp>
      <p:sp>
        <p:nvSpPr>
          <p:cNvPr id="250" name="Google Shape;250;p21"/>
          <p:cNvSpPr/>
          <p:nvPr/>
        </p:nvSpPr>
        <p:spPr>
          <a:xfrm>
            <a:off x="7536400" y="16305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sz="900"/>
              <a:t>Formater</a:t>
            </a:r>
            <a:endParaRPr sz="900"/>
          </a:p>
          <a:p>
            <a:pPr marL="0" lvl="0" indent="0" algn="ctr" rtl="0">
              <a:spcBef>
                <a:spcPts val="0"/>
              </a:spcBef>
              <a:spcAft>
                <a:spcPts val="0"/>
              </a:spcAft>
              <a:buNone/>
            </a:pPr>
            <a:r>
              <a:rPr lang="fr-FR" sz="900"/>
              <a:t>GS1--&gt;Traceability format</a:t>
            </a:r>
            <a:endParaRPr sz="900"/>
          </a:p>
        </p:txBody>
      </p:sp>
      <p:cxnSp>
        <p:nvCxnSpPr>
          <p:cNvPr id="251" name="Google Shape;251;p21"/>
          <p:cNvCxnSpPr>
            <a:stCxn id="229" idx="3"/>
            <a:endCxn id="250" idx="0"/>
          </p:cNvCxnSpPr>
          <p:nvPr/>
        </p:nvCxnSpPr>
        <p:spPr>
          <a:xfrm>
            <a:off x="6391200" y="1203050"/>
            <a:ext cx="1674600" cy="427500"/>
          </a:xfrm>
          <a:prstGeom prst="straightConnector1">
            <a:avLst/>
          </a:prstGeom>
          <a:noFill/>
          <a:ln w="9525" cap="flat" cmpd="sng">
            <a:solidFill>
              <a:schemeClr val="dk2"/>
            </a:solidFill>
            <a:prstDash val="solid"/>
            <a:round/>
            <a:headEnd type="triangle" w="med" len="med"/>
            <a:tailEnd type="triangle" w="med" len="med"/>
          </a:ln>
        </p:spPr>
      </p:cxnSp>
      <p:sp>
        <p:nvSpPr>
          <p:cNvPr id="252" name="Google Shape;252;p21"/>
          <p:cNvSpPr/>
          <p:nvPr/>
        </p:nvSpPr>
        <p:spPr>
          <a:xfrm>
            <a:off x="6896000" y="8959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1</a:t>
            </a:r>
            <a:endParaRPr/>
          </a:p>
        </p:txBody>
      </p:sp>
      <p:sp>
        <p:nvSpPr>
          <p:cNvPr id="253" name="Google Shape;253;p21"/>
          <p:cNvSpPr/>
          <p:nvPr/>
        </p:nvSpPr>
        <p:spPr>
          <a:xfrm>
            <a:off x="5351300" y="18173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2</a:t>
            </a:r>
            <a:endParaRPr/>
          </a:p>
        </p:txBody>
      </p:sp>
      <p:sp>
        <p:nvSpPr>
          <p:cNvPr id="254" name="Google Shape;254;p21"/>
          <p:cNvSpPr/>
          <p:nvPr/>
        </p:nvSpPr>
        <p:spPr>
          <a:xfrm>
            <a:off x="5351300" y="32201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3</a:t>
            </a:r>
            <a:endParaRPr/>
          </a:p>
        </p:txBody>
      </p:sp>
      <p:pic>
        <p:nvPicPr>
          <p:cNvPr id="255" name="Google Shape;255;p21"/>
          <p:cNvPicPr preferRelativeResize="0"/>
          <p:nvPr/>
        </p:nvPicPr>
        <p:blipFill>
          <a:blip r:embed="rId3">
            <a:alphaModFix/>
          </a:blip>
          <a:stretch>
            <a:fillRect/>
          </a:stretch>
        </p:blipFill>
        <p:spPr>
          <a:xfrm>
            <a:off x="152400" y="868150"/>
            <a:ext cx="962999" cy="641502"/>
          </a:xfrm>
          <a:prstGeom prst="rect">
            <a:avLst/>
          </a:prstGeom>
          <a:noFill/>
          <a:ln>
            <a:noFill/>
          </a:ln>
        </p:spPr>
      </p:pic>
      <p:sp>
        <p:nvSpPr>
          <p:cNvPr id="256" name="Google Shape;256;p21"/>
          <p:cNvSpPr/>
          <p:nvPr/>
        </p:nvSpPr>
        <p:spPr>
          <a:xfrm>
            <a:off x="327950" y="3467650"/>
            <a:ext cx="3958500" cy="1613700"/>
          </a:xfrm>
          <a:prstGeom prst="wedgeRoundRectCallout">
            <a:avLst>
              <a:gd name="adj1" fmla="val 30573"/>
              <a:gd name="adj2" fmla="val -185217"/>
              <a:gd name="adj3" fmla="val 0"/>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sz="1200">
                <a:solidFill>
                  <a:srgbClr val="FFFFFF"/>
                </a:solidFill>
              </a:rPr>
              <a:t>if Orchestra wants/needs, Orchestra can store data/file linked to the previous order into the same storage container (thanks to the UOID).</a:t>
            </a:r>
            <a:endParaRPr sz="1200">
              <a:solidFill>
                <a:srgbClr val="FFFFFF"/>
              </a:solidFill>
            </a:endParaRPr>
          </a:p>
          <a:p>
            <a:pPr marL="0" lvl="0" indent="0" algn="l" rtl="0">
              <a:spcBef>
                <a:spcPts val="0"/>
              </a:spcBef>
              <a:spcAft>
                <a:spcPts val="0"/>
              </a:spcAft>
              <a:buNone/>
            </a:pPr>
            <a:r>
              <a:rPr lang="fr-FR" sz="1200">
                <a:solidFill>
                  <a:srgbClr val="FFFFFF"/>
                </a:solidFill>
              </a:rPr>
              <a:t>In the traceability use case, no need.</a:t>
            </a:r>
            <a:endParaRPr sz="1200">
              <a:solidFill>
                <a:srgbClr val="FFFFFF"/>
              </a:solidFill>
            </a:endParaRPr>
          </a:p>
          <a:p>
            <a:pPr marL="0" lvl="0" indent="0" algn="l" rtl="0">
              <a:spcBef>
                <a:spcPts val="0"/>
              </a:spcBef>
              <a:spcAft>
                <a:spcPts val="0"/>
              </a:spcAft>
              <a:buNone/>
            </a:pPr>
            <a:r>
              <a:rPr lang="fr-FR" sz="1200">
                <a:solidFill>
                  <a:srgbClr val="FFFFFF"/>
                </a:solidFill>
              </a:rPr>
              <a:t>Orchestra just sents the UOID to the next system (inlab).</a:t>
            </a:r>
            <a:endParaRPr sz="1200">
              <a:solidFill>
                <a:srgbClr val="FFFFFF"/>
              </a:solidFill>
            </a:endParaRPr>
          </a:p>
        </p:txBody>
      </p:sp>
      <p:sp>
        <p:nvSpPr>
          <p:cNvPr id="257" name="Google Shape;257;p21"/>
          <p:cNvSpPr/>
          <p:nvPr/>
        </p:nvSpPr>
        <p:spPr>
          <a:xfrm>
            <a:off x="2949450" y="2881250"/>
            <a:ext cx="548700" cy="507300"/>
          </a:xfrm>
          <a:prstGeom prst="ellipse">
            <a:avLst/>
          </a:prstGeom>
          <a:solidFill>
            <a:srgbClr val="FFFFFF"/>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2</a:t>
            </a:r>
            <a:endParaRPr/>
          </a:p>
        </p:txBody>
      </p:sp>
      <p:sp>
        <p:nvSpPr>
          <p:cNvPr id="258" name="Google Shape;258;p21"/>
          <p:cNvSpPr txBox="1"/>
          <p:nvPr/>
        </p:nvSpPr>
        <p:spPr>
          <a:xfrm>
            <a:off x="1221325" y="0"/>
            <a:ext cx="7200000" cy="507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2000" b="1">
                <a:solidFill>
                  <a:srgbClr val="FFFFFF"/>
                </a:solidFill>
                <a:latin typeface="Rambla"/>
                <a:ea typeface="Rambla"/>
                <a:cs typeface="Rambla"/>
                <a:sym typeface="Rambla"/>
              </a:rPr>
              <a:t>High level flow for traceability for IT Europe systems</a:t>
            </a:r>
            <a:endParaRPr sz="2000" b="1">
              <a:solidFill>
                <a:srgbClr val="FFFFFF"/>
              </a:solidFill>
              <a:latin typeface="Rambla"/>
              <a:ea typeface="Rambla"/>
              <a:cs typeface="Rambla"/>
              <a:sym typeface="Rambl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2"/>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7</a:t>
            </a:fld>
            <a:endParaRPr/>
          </a:p>
        </p:txBody>
      </p:sp>
      <p:sp>
        <p:nvSpPr>
          <p:cNvPr id="265" name="Google Shape;265;p22"/>
          <p:cNvSpPr/>
          <p:nvPr/>
        </p:nvSpPr>
        <p:spPr>
          <a:xfrm>
            <a:off x="0" y="0"/>
            <a:ext cx="9144000" cy="507300"/>
          </a:xfrm>
          <a:prstGeom prst="rect">
            <a:avLst/>
          </a:prstGeom>
          <a:solidFill>
            <a:srgbClr val="45818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1">
              <a:solidFill>
                <a:srgbClr val="FFFFFF"/>
              </a:solidFill>
            </a:endParaRPr>
          </a:p>
        </p:txBody>
      </p:sp>
      <p:sp>
        <p:nvSpPr>
          <p:cNvPr id="266" name="Google Shape;266;p22"/>
          <p:cNvSpPr/>
          <p:nvPr/>
        </p:nvSpPr>
        <p:spPr>
          <a:xfrm>
            <a:off x="12118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Opsys Web</a:t>
            </a:r>
            <a:endParaRPr/>
          </a:p>
          <a:p>
            <a:pPr marL="0" lvl="0" indent="0" algn="ctr" rtl="0">
              <a:spcBef>
                <a:spcPts val="0"/>
              </a:spcBef>
              <a:spcAft>
                <a:spcPts val="0"/>
              </a:spcAft>
              <a:buNone/>
            </a:pPr>
            <a:r>
              <a:rPr lang="fr-FR" sz="800"/>
              <a:t>(web ordering system)</a:t>
            </a:r>
            <a:endParaRPr sz="800"/>
          </a:p>
        </p:txBody>
      </p:sp>
      <p:sp>
        <p:nvSpPr>
          <p:cNvPr id="267" name="Google Shape;267;p22"/>
          <p:cNvSpPr/>
          <p:nvPr/>
        </p:nvSpPr>
        <p:spPr>
          <a:xfrm>
            <a:off x="31577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Orchestra</a:t>
            </a:r>
            <a:endParaRPr/>
          </a:p>
          <a:p>
            <a:pPr marL="0" lvl="0" indent="0" algn="ctr" rtl="0">
              <a:spcBef>
                <a:spcPts val="0"/>
              </a:spcBef>
              <a:spcAft>
                <a:spcPts val="0"/>
              </a:spcAft>
              <a:buNone/>
            </a:pPr>
            <a:r>
              <a:rPr lang="fr-FR" sz="800">
                <a:solidFill>
                  <a:schemeClr val="dk1"/>
                </a:solidFill>
              </a:rPr>
              <a:t>(Ordering management system)</a:t>
            </a:r>
            <a:endParaRPr/>
          </a:p>
        </p:txBody>
      </p:sp>
      <p:sp>
        <p:nvSpPr>
          <p:cNvPr id="268" name="Google Shape;268;p22"/>
          <p:cNvSpPr/>
          <p:nvPr/>
        </p:nvSpPr>
        <p:spPr>
          <a:xfrm>
            <a:off x="53322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LSM Inlab</a:t>
            </a:r>
            <a:endParaRPr/>
          </a:p>
        </p:txBody>
      </p:sp>
      <p:sp>
        <p:nvSpPr>
          <p:cNvPr id="269" name="Google Shape;269;p22"/>
          <p:cNvSpPr/>
          <p:nvPr/>
        </p:nvSpPr>
        <p:spPr>
          <a:xfrm>
            <a:off x="1221325" y="23921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Business Sub Web portal</a:t>
            </a:r>
            <a:endParaRPr/>
          </a:p>
        </p:txBody>
      </p:sp>
      <p:sp>
        <p:nvSpPr>
          <p:cNvPr id="270" name="Google Shape;270;p22"/>
          <p:cNvSpPr/>
          <p:nvPr/>
        </p:nvSpPr>
        <p:spPr>
          <a:xfrm>
            <a:off x="7742325" y="38074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Internal Quality</a:t>
            </a:r>
            <a:endParaRPr/>
          </a:p>
        </p:txBody>
      </p:sp>
      <p:sp>
        <p:nvSpPr>
          <p:cNvPr id="271" name="Google Shape;271;p22"/>
          <p:cNvSpPr/>
          <p:nvPr/>
        </p:nvSpPr>
        <p:spPr>
          <a:xfrm>
            <a:off x="5332200" y="23921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EyeCloud</a:t>
            </a:r>
            <a:endParaRPr/>
          </a:p>
        </p:txBody>
      </p:sp>
      <p:sp>
        <p:nvSpPr>
          <p:cNvPr id="272" name="Google Shape;272;p22"/>
          <p:cNvSpPr/>
          <p:nvPr/>
        </p:nvSpPr>
        <p:spPr>
          <a:xfrm>
            <a:off x="5332200" y="38074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Datalake</a:t>
            </a:r>
            <a:endParaRPr/>
          </a:p>
        </p:txBody>
      </p:sp>
      <p:cxnSp>
        <p:nvCxnSpPr>
          <p:cNvPr id="273" name="Google Shape;273;p22"/>
          <p:cNvCxnSpPr>
            <a:stCxn id="270" idx="1"/>
            <a:endCxn id="272" idx="3"/>
          </p:cNvCxnSpPr>
          <p:nvPr/>
        </p:nvCxnSpPr>
        <p:spPr>
          <a:xfrm rot="10800000">
            <a:off x="6391125" y="4141500"/>
            <a:ext cx="1351200" cy="0"/>
          </a:xfrm>
          <a:prstGeom prst="straightConnector1">
            <a:avLst/>
          </a:prstGeom>
          <a:noFill/>
          <a:ln w="9525" cap="flat" cmpd="sng">
            <a:solidFill>
              <a:schemeClr val="dk2"/>
            </a:solidFill>
            <a:prstDash val="solid"/>
            <a:round/>
            <a:headEnd type="none" w="med" len="med"/>
            <a:tailEnd type="triangle" w="med" len="med"/>
          </a:ln>
        </p:spPr>
      </p:cxnSp>
      <p:cxnSp>
        <p:nvCxnSpPr>
          <p:cNvPr id="274" name="Google Shape;274;p22"/>
          <p:cNvCxnSpPr>
            <a:stCxn id="269" idx="3"/>
            <a:endCxn id="271" idx="1"/>
          </p:cNvCxnSpPr>
          <p:nvPr/>
        </p:nvCxnSpPr>
        <p:spPr>
          <a:xfrm>
            <a:off x="2280325" y="2726200"/>
            <a:ext cx="3051900" cy="0"/>
          </a:xfrm>
          <a:prstGeom prst="straightConnector1">
            <a:avLst/>
          </a:prstGeom>
          <a:noFill/>
          <a:ln w="9525" cap="flat" cmpd="sng">
            <a:solidFill>
              <a:schemeClr val="dk2"/>
            </a:solidFill>
            <a:prstDash val="solid"/>
            <a:round/>
            <a:headEnd type="none" w="med" len="med"/>
            <a:tailEnd type="triangle" w="med" len="med"/>
          </a:ln>
        </p:spPr>
      </p:cxnSp>
      <p:cxnSp>
        <p:nvCxnSpPr>
          <p:cNvPr id="275" name="Google Shape;275;p22"/>
          <p:cNvCxnSpPr>
            <a:stCxn id="266" idx="3"/>
            <a:endCxn id="267" idx="1"/>
          </p:cNvCxnSpPr>
          <p:nvPr/>
        </p:nvCxnSpPr>
        <p:spPr>
          <a:xfrm>
            <a:off x="2270800" y="1203050"/>
            <a:ext cx="886800" cy="0"/>
          </a:xfrm>
          <a:prstGeom prst="straightConnector1">
            <a:avLst/>
          </a:prstGeom>
          <a:noFill/>
          <a:ln w="9525" cap="flat" cmpd="sng">
            <a:solidFill>
              <a:schemeClr val="dk2"/>
            </a:solidFill>
            <a:prstDash val="solid"/>
            <a:round/>
            <a:headEnd type="none" w="med" len="med"/>
            <a:tailEnd type="triangle" w="med" len="med"/>
          </a:ln>
        </p:spPr>
      </p:cxnSp>
      <p:cxnSp>
        <p:nvCxnSpPr>
          <p:cNvPr id="276" name="Google Shape;276;p22"/>
          <p:cNvCxnSpPr>
            <a:stCxn id="267" idx="3"/>
            <a:endCxn id="268" idx="1"/>
          </p:cNvCxnSpPr>
          <p:nvPr/>
        </p:nvCxnSpPr>
        <p:spPr>
          <a:xfrm>
            <a:off x="4216700" y="1203050"/>
            <a:ext cx="1115400" cy="0"/>
          </a:xfrm>
          <a:prstGeom prst="straightConnector1">
            <a:avLst/>
          </a:prstGeom>
          <a:noFill/>
          <a:ln w="9525" cap="flat" cmpd="sng">
            <a:solidFill>
              <a:schemeClr val="dk2"/>
            </a:solidFill>
            <a:prstDash val="solid"/>
            <a:round/>
            <a:headEnd type="none" w="med" len="med"/>
            <a:tailEnd type="triangle" w="med" len="med"/>
          </a:ln>
        </p:spPr>
      </p:cxnSp>
      <p:cxnSp>
        <p:nvCxnSpPr>
          <p:cNvPr id="277" name="Google Shape;277;p22"/>
          <p:cNvCxnSpPr>
            <a:stCxn id="268" idx="2"/>
            <a:endCxn id="271" idx="0"/>
          </p:cNvCxnSpPr>
          <p:nvPr/>
        </p:nvCxnSpPr>
        <p:spPr>
          <a:xfrm>
            <a:off x="5861700" y="1537100"/>
            <a:ext cx="0" cy="855000"/>
          </a:xfrm>
          <a:prstGeom prst="straightConnector1">
            <a:avLst/>
          </a:prstGeom>
          <a:noFill/>
          <a:ln w="9525" cap="flat" cmpd="sng">
            <a:solidFill>
              <a:schemeClr val="dk2"/>
            </a:solidFill>
            <a:prstDash val="solid"/>
            <a:round/>
            <a:headEnd type="none" w="med" len="med"/>
            <a:tailEnd type="triangle" w="med" len="med"/>
          </a:ln>
        </p:spPr>
      </p:cxnSp>
      <p:sp>
        <p:nvSpPr>
          <p:cNvPr id="278" name="Google Shape;278;p22"/>
          <p:cNvSpPr txBox="1"/>
          <p:nvPr/>
        </p:nvSpPr>
        <p:spPr>
          <a:xfrm>
            <a:off x="2299000" y="1203050"/>
            <a:ext cx="6774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ECID A</a:t>
            </a:r>
            <a:endParaRPr sz="1100"/>
          </a:p>
        </p:txBody>
      </p:sp>
      <p:sp>
        <p:nvSpPr>
          <p:cNvPr id="279" name="Google Shape;279;p22"/>
          <p:cNvSpPr txBox="1"/>
          <p:nvPr/>
        </p:nvSpPr>
        <p:spPr>
          <a:xfrm>
            <a:off x="4356400" y="1203050"/>
            <a:ext cx="6774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ECID A</a:t>
            </a:r>
            <a:endParaRPr sz="1100"/>
          </a:p>
        </p:txBody>
      </p:sp>
      <p:sp>
        <p:nvSpPr>
          <p:cNvPr id="280" name="Google Shape;280;p22"/>
          <p:cNvSpPr txBox="1"/>
          <p:nvPr/>
        </p:nvSpPr>
        <p:spPr>
          <a:xfrm>
            <a:off x="5880400" y="1671050"/>
            <a:ext cx="1217400" cy="641400"/>
          </a:xfrm>
          <a:prstGeom prst="rect">
            <a:avLst/>
          </a:prstGeom>
          <a:solidFill>
            <a:srgbClr val="CFE2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000"/>
              <a:t>Traceability file (many info)  POST on ECID A</a:t>
            </a:r>
            <a:endParaRPr sz="1000"/>
          </a:p>
        </p:txBody>
      </p:sp>
      <p:sp>
        <p:nvSpPr>
          <p:cNvPr id="281" name="Google Shape;281;p22"/>
          <p:cNvSpPr txBox="1"/>
          <p:nvPr/>
        </p:nvSpPr>
        <p:spPr>
          <a:xfrm>
            <a:off x="5499400" y="1279250"/>
            <a:ext cx="7926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Picking</a:t>
            </a:r>
            <a:endParaRPr sz="1100"/>
          </a:p>
        </p:txBody>
      </p:sp>
      <p:sp>
        <p:nvSpPr>
          <p:cNvPr id="282" name="Google Shape;282;p22"/>
          <p:cNvSpPr txBox="1"/>
          <p:nvPr/>
        </p:nvSpPr>
        <p:spPr>
          <a:xfrm>
            <a:off x="6032800" y="4261850"/>
            <a:ext cx="894000" cy="393600"/>
          </a:xfrm>
          <a:prstGeom prst="rect">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cxnSp>
        <p:nvCxnSpPr>
          <p:cNvPr id="283" name="Google Shape;283;p22"/>
          <p:cNvCxnSpPr>
            <a:stCxn id="271" idx="2"/>
            <a:endCxn id="272" idx="0"/>
          </p:cNvCxnSpPr>
          <p:nvPr/>
        </p:nvCxnSpPr>
        <p:spPr>
          <a:xfrm>
            <a:off x="5861700" y="3060250"/>
            <a:ext cx="0" cy="747300"/>
          </a:xfrm>
          <a:prstGeom prst="straightConnector1">
            <a:avLst/>
          </a:prstGeom>
          <a:noFill/>
          <a:ln w="9525" cap="flat" cmpd="sng">
            <a:solidFill>
              <a:schemeClr val="dk2"/>
            </a:solidFill>
            <a:prstDash val="solid"/>
            <a:round/>
            <a:headEnd type="none" w="med" len="med"/>
            <a:tailEnd type="triangle" w="med" len="med"/>
          </a:ln>
        </p:spPr>
      </p:cxnSp>
      <p:pic>
        <p:nvPicPr>
          <p:cNvPr id="284" name="Google Shape;284;p22"/>
          <p:cNvPicPr preferRelativeResize="0"/>
          <p:nvPr/>
        </p:nvPicPr>
        <p:blipFill>
          <a:blip r:embed="rId3">
            <a:alphaModFix/>
          </a:blip>
          <a:stretch>
            <a:fillRect/>
          </a:stretch>
        </p:blipFill>
        <p:spPr>
          <a:xfrm>
            <a:off x="152400" y="2392150"/>
            <a:ext cx="962999" cy="641502"/>
          </a:xfrm>
          <a:prstGeom prst="rect">
            <a:avLst/>
          </a:prstGeom>
          <a:noFill/>
          <a:ln>
            <a:noFill/>
          </a:ln>
        </p:spPr>
      </p:pic>
      <p:sp>
        <p:nvSpPr>
          <p:cNvPr id="285" name="Google Shape;285;p22"/>
          <p:cNvSpPr txBox="1"/>
          <p:nvPr/>
        </p:nvSpPr>
        <p:spPr>
          <a:xfrm>
            <a:off x="6185200" y="4414250"/>
            <a:ext cx="894000" cy="3936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sp>
        <p:nvSpPr>
          <p:cNvPr id="286" name="Google Shape;286;p22"/>
          <p:cNvSpPr txBox="1"/>
          <p:nvPr/>
        </p:nvSpPr>
        <p:spPr>
          <a:xfrm>
            <a:off x="6337600" y="4566650"/>
            <a:ext cx="894000" cy="393600"/>
          </a:xfrm>
          <a:prstGeom prst="rect">
            <a:avLst/>
          </a:prstGeom>
          <a:solidFill>
            <a:srgbClr val="CFE2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sp>
        <p:nvSpPr>
          <p:cNvPr id="287" name="Google Shape;287;p22"/>
          <p:cNvSpPr txBox="1"/>
          <p:nvPr/>
        </p:nvSpPr>
        <p:spPr>
          <a:xfrm>
            <a:off x="6492575" y="3808025"/>
            <a:ext cx="1115400" cy="25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sz="1000"/>
              <a:t>Massive queries</a:t>
            </a:r>
            <a:endParaRPr sz="1000"/>
          </a:p>
        </p:txBody>
      </p:sp>
      <p:sp>
        <p:nvSpPr>
          <p:cNvPr id="288" name="Google Shape;288;p22"/>
          <p:cNvSpPr txBox="1"/>
          <p:nvPr/>
        </p:nvSpPr>
        <p:spPr>
          <a:xfrm>
            <a:off x="2622350" y="2747950"/>
            <a:ext cx="2318400" cy="32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i="1"/>
              <a:t>“GET traceability for ECID A”</a:t>
            </a:r>
            <a:endParaRPr sz="1100" i="1"/>
          </a:p>
        </p:txBody>
      </p:sp>
      <p:sp>
        <p:nvSpPr>
          <p:cNvPr id="289" name="Google Shape;289;p22"/>
          <p:cNvSpPr/>
          <p:nvPr/>
        </p:nvSpPr>
        <p:spPr>
          <a:xfrm>
            <a:off x="7536400" y="16305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sz="900"/>
              <a:t>Formater</a:t>
            </a:r>
            <a:endParaRPr sz="900"/>
          </a:p>
          <a:p>
            <a:pPr marL="0" lvl="0" indent="0" algn="ctr" rtl="0">
              <a:spcBef>
                <a:spcPts val="0"/>
              </a:spcBef>
              <a:spcAft>
                <a:spcPts val="0"/>
              </a:spcAft>
              <a:buNone/>
            </a:pPr>
            <a:r>
              <a:rPr lang="fr-FR" sz="900"/>
              <a:t>GS1--&gt;Traceability format</a:t>
            </a:r>
            <a:endParaRPr sz="900"/>
          </a:p>
        </p:txBody>
      </p:sp>
      <p:cxnSp>
        <p:nvCxnSpPr>
          <p:cNvPr id="290" name="Google Shape;290;p22"/>
          <p:cNvCxnSpPr>
            <a:stCxn id="268" idx="3"/>
            <a:endCxn id="289" idx="0"/>
          </p:cNvCxnSpPr>
          <p:nvPr/>
        </p:nvCxnSpPr>
        <p:spPr>
          <a:xfrm>
            <a:off x="6391200" y="1203050"/>
            <a:ext cx="1674600" cy="427500"/>
          </a:xfrm>
          <a:prstGeom prst="straightConnector1">
            <a:avLst/>
          </a:prstGeom>
          <a:noFill/>
          <a:ln w="9525" cap="flat" cmpd="sng">
            <a:solidFill>
              <a:schemeClr val="dk2"/>
            </a:solidFill>
            <a:prstDash val="solid"/>
            <a:round/>
            <a:headEnd type="triangle" w="med" len="med"/>
            <a:tailEnd type="triangle" w="med" len="med"/>
          </a:ln>
        </p:spPr>
      </p:cxnSp>
      <p:sp>
        <p:nvSpPr>
          <p:cNvPr id="291" name="Google Shape;291;p22"/>
          <p:cNvSpPr/>
          <p:nvPr/>
        </p:nvSpPr>
        <p:spPr>
          <a:xfrm>
            <a:off x="6896000" y="8959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1</a:t>
            </a:r>
            <a:endParaRPr/>
          </a:p>
        </p:txBody>
      </p:sp>
      <p:sp>
        <p:nvSpPr>
          <p:cNvPr id="292" name="Google Shape;292;p22"/>
          <p:cNvSpPr/>
          <p:nvPr/>
        </p:nvSpPr>
        <p:spPr>
          <a:xfrm>
            <a:off x="5351300" y="18173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2</a:t>
            </a:r>
            <a:endParaRPr/>
          </a:p>
        </p:txBody>
      </p:sp>
      <p:sp>
        <p:nvSpPr>
          <p:cNvPr id="293" name="Google Shape;293;p22"/>
          <p:cNvSpPr/>
          <p:nvPr/>
        </p:nvSpPr>
        <p:spPr>
          <a:xfrm>
            <a:off x="5351300" y="32201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3</a:t>
            </a:r>
            <a:endParaRPr/>
          </a:p>
        </p:txBody>
      </p:sp>
      <p:pic>
        <p:nvPicPr>
          <p:cNvPr id="294" name="Google Shape;294;p22"/>
          <p:cNvPicPr preferRelativeResize="0"/>
          <p:nvPr/>
        </p:nvPicPr>
        <p:blipFill>
          <a:blip r:embed="rId3">
            <a:alphaModFix/>
          </a:blip>
          <a:stretch>
            <a:fillRect/>
          </a:stretch>
        </p:blipFill>
        <p:spPr>
          <a:xfrm>
            <a:off x="152400" y="868150"/>
            <a:ext cx="962999" cy="641502"/>
          </a:xfrm>
          <a:prstGeom prst="rect">
            <a:avLst/>
          </a:prstGeom>
          <a:noFill/>
          <a:ln>
            <a:noFill/>
          </a:ln>
        </p:spPr>
      </p:pic>
      <p:sp>
        <p:nvSpPr>
          <p:cNvPr id="295" name="Google Shape;295;p22"/>
          <p:cNvSpPr/>
          <p:nvPr/>
        </p:nvSpPr>
        <p:spPr>
          <a:xfrm>
            <a:off x="327950" y="3467650"/>
            <a:ext cx="3958500" cy="1613700"/>
          </a:xfrm>
          <a:prstGeom prst="wedgeRoundRectCallout">
            <a:avLst>
              <a:gd name="adj1" fmla="val 87260"/>
              <a:gd name="adj2" fmla="val -172653"/>
              <a:gd name="adj3" fmla="val 0"/>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sz="1200">
                <a:solidFill>
                  <a:srgbClr val="FFFFFF"/>
                </a:solidFill>
              </a:rPr>
              <a:t>The LMS (Inlab) picks up the semi finished lenses from the local stock. During this picking phase reads the datamatrix and create the traceability file.</a:t>
            </a:r>
            <a:endParaRPr sz="1200">
              <a:solidFill>
                <a:srgbClr val="FFFFFF"/>
              </a:solidFill>
            </a:endParaRPr>
          </a:p>
          <a:p>
            <a:pPr marL="0" lvl="0" indent="0" algn="l" rtl="0">
              <a:spcBef>
                <a:spcPts val="0"/>
              </a:spcBef>
              <a:spcAft>
                <a:spcPts val="0"/>
              </a:spcAft>
              <a:buNone/>
            </a:pPr>
            <a:r>
              <a:rPr lang="fr-FR" sz="1200">
                <a:solidFill>
                  <a:srgbClr val="FFFFFF"/>
                </a:solidFill>
              </a:rPr>
              <a:t>Thanks to the previous UOID, inlab stores the traceability file into EyeCloud in the storage space dedicated to the previous order.</a:t>
            </a:r>
            <a:endParaRPr sz="1200">
              <a:solidFill>
                <a:srgbClr val="FFFFFF"/>
              </a:solidFill>
            </a:endParaRPr>
          </a:p>
        </p:txBody>
      </p:sp>
      <p:sp>
        <p:nvSpPr>
          <p:cNvPr id="296" name="Google Shape;296;p22"/>
          <p:cNvSpPr/>
          <p:nvPr/>
        </p:nvSpPr>
        <p:spPr>
          <a:xfrm>
            <a:off x="3254250" y="2881250"/>
            <a:ext cx="548700" cy="507300"/>
          </a:xfrm>
          <a:prstGeom prst="ellipse">
            <a:avLst/>
          </a:prstGeom>
          <a:solidFill>
            <a:srgbClr val="FFFFFF"/>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3</a:t>
            </a:r>
            <a:endParaRPr/>
          </a:p>
        </p:txBody>
      </p:sp>
      <p:sp>
        <p:nvSpPr>
          <p:cNvPr id="297" name="Google Shape;297;p22"/>
          <p:cNvSpPr txBox="1"/>
          <p:nvPr/>
        </p:nvSpPr>
        <p:spPr>
          <a:xfrm>
            <a:off x="1221325" y="0"/>
            <a:ext cx="7200000" cy="507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2000" b="1">
                <a:solidFill>
                  <a:srgbClr val="FFFFFF"/>
                </a:solidFill>
                <a:latin typeface="Rambla"/>
                <a:ea typeface="Rambla"/>
                <a:cs typeface="Rambla"/>
                <a:sym typeface="Rambla"/>
              </a:rPr>
              <a:t>High level flow for traceability for IT Europe systems</a:t>
            </a:r>
            <a:endParaRPr sz="2000" b="1">
              <a:solidFill>
                <a:srgbClr val="FFFFFF"/>
              </a:solidFill>
              <a:latin typeface="Rambla"/>
              <a:ea typeface="Rambla"/>
              <a:cs typeface="Rambla"/>
              <a:sym typeface="Rambl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3"/>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8</a:t>
            </a:fld>
            <a:endParaRPr/>
          </a:p>
        </p:txBody>
      </p:sp>
      <p:sp>
        <p:nvSpPr>
          <p:cNvPr id="304" name="Google Shape;304;p23"/>
          <p:cNvSpPr/>
          <p:nvPr/>
        </p:nvSpPr>
        <p:spPr>
          <a:xfrm>
            <a:off x="0" y="0"/>
            <a:ext cx="9144000" cy="507300"/>
          </a:xfrm>
          <a:prstGeom prst="rect">
            <a:avLst/>
          </a:prstGeom>
          <a:solidFill>
            <a:srgbClr val="45818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1">
              <a:solidFill>
                <a:srgbClr val="FFFFFF"/>
              </a:solidFill>
            </a:endParaRPr>
          </a:p>
        </p:txBody>
      </p:sp>
      <p:sp>
        <p:nvSpPr>
          <p:cNvPr id="305" name="Google Shape;305;p23"/>
          <p:cNvSpPr/>
          <p:nvPr/>
        </p:nvSpPr>
        <p:spPr>
          <a:xfrm>
            <a:off x="12118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Opsys Web</a:t>
            </a:r>
            <a:endParaRPr/>
          </a:p>
          <a:p>
            <a:pPr marL="0" lvl="0" indent="0" algn="ctr" rtl="0">
              <a:spcBef>
                <a:spcPts val="0"/>
              </a:spcBef>
              <a:spcAft>
                <a:spcPts val="0"/>
              </a:spcAft>
              <a:buNone/>
            </a:pPr>
            <a:r>
              <a:rPr lang="fr-FR" sz="800"/>
              <a:t>(web ordering system)</a:t>
            </a:r>
            <a:endParaRPr sz="800"/>
          </a:p>
        </p:txBody>
      </p:sp>
      <p:sp>
        <p:nvSpPr>
          <p:cNvPr id="306" name="Google Shape;306;p23"/>
          <p:cNvSpPr/>
          <p:nvPr/>
        </p:nvSpPr>
        <p:spPr>
          <a:xfrm>
            <a:off x="31577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Orchestra</a:t>
            </a:r>
            <a:endParaRPr/>
          </a:p>
          <a:p>
            <a:pPr marL="0" lvl="0" indent="0" algn="ctr" rtl="0">
              <a:spcBef>
                <a:spcPts val="0"/>
              </a:spcBef>
              <a:spcAft>
                <a:spcPts val="0"/>
              </a:spcAft>
              <a:buNone/>
            </a:pPr>
            <a:r>
              <a:rPr lang="fr-FR" sz="800">
                <a:solidFill>
                  <a:schemeClr val="dk1"/>
                </a:solidFill>
              </a:rPr>
              <a:t>(Ordering management system)</a:t>
            </a:r>
            <a:endParaRPr/>
          </a:p>
        </p:txBody>
      </p:sp>
      <p:sp>
        <p:nvSpPr>
          <p:cNvPr id="307" name="Google Shape;307;p23"/>
          <p:cNvSpPr/>
          <p:nvPr/>
        </p:nvSpPr>
        <p:spPr>
          <a:xfrm>
            <a:off x="53322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LSM Inlab</a:t>
            </a:r>
            <a:endParaRPr/>
          </a:p>
        </p:txBody>
      </p:sp>
      <p:sp>
        <p:nvSpPr>
          <p:cNvPr id="308" name="Google Shape;308;p23"/>
          <p:cNvSpPr/>
          <p:nvPr/>
        </p:nvSpPr>
        <p:spPr>
          <a:xfrm>
            <a:off x="1221325" y="23921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Business Sub Web portal</a:t>
            </a:r>
            <a:endParaRPr/>
          </a:p>
        </p:txBody>
      </p:sp>
      <p:sp>
        <p:nvSpPr>
          <p:cNvPr id="309" name="Google Shape;309;p23"/>
          <p:cNvSpPr/>
          <p:nvPr/>
        </p:nvSpPr>
        <p:spPr>
          <a:xfrm>
            <a:off x="7742325" y="38074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Internal Quality</a:t>
            </a:r>
            <a:endParaRPr/>
          </a:p>
        </p:txBody>
      </p:sp>
      <p:sp>
        <p:nvSpPr>
          <p:cNvPr id="310" name="Google Shape;310;p23"/>
          <p:cNvSpPr/>
          <p:nvPr/>
        </p:nvSpPr>
        <p:spPr>
          <a:xfrm>
            <a:off x="5332200" y="23921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EyeCloud</a:t>
            </a:r>
            <a:endParaRPr/>
          </a:p>
        </p:txBody>
      </p:sp>
      <p:sp>
        <p:nvSpPr>
          <p:cNvPr id="311" name="Google Shape;311;p23"/>
          <p:cNvSpPr/>
          <p:nvPr/>
        </p:nvSpPr>
        <p:spPr>
          <a:xfrm>
            <a:off x="5332200" y="38074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Datalake</a:t>
            </a:r>
            <a:endParaRPr/>
          </a:p>
        </p:txBody>
      </p:sp>
      <p:cxnSp>
        <p:nvCxnSpPr>
          <p:cNvPr id="312" name="Google Shape;312;p23"/>
          <p:cNvCxnSpPr>
            <a:stCxn id="309" idx="1"/>
            <a:endCxn id="311" idx="3"/>
          </p:cNvCxnSpPr>
          <p:nvPr/>
        </p:nvCxnSpPr>
        <p:spPr>
          <a:xfrm rot="10800000">
            <a:off x="6391125" y="4141500"/>
            <a:ext cx="1351200" cy="0"/>
          </a:xfrm>
          <a:prstGeom prst="straightConnector1">
            <a:avLst/>
          </a:prstGeom>
          <a:noFill/>
          <a:ln w="9525" cap="flat" cmpd="sng">
            <a:solidFill>
              <a:schemeClr val="dk2"/>
            </a:solidFill>
            <a:prstDash val="solid"/>
            <a:round/>
            <a:headEnd type="none" w="med" len="med"/>
            <a:tailEnd type="triangle" w="med" len="med"/>
          </a:ln>
        </p:spPr>
      </p:cxnSp>
      <p:cxnSp>
        <p:nvCxnSpPr>
          <p:cNvPr id="313" name="Google Shape;313;p23"/>
          <p:cNvCxnSpPr>
            <a:stCxn id="308" idx="3"/>
            <a:endCxn id="310" idx="1"/>
          </p:cNvCxnSpPr>
          <p:nvPr/>
        </p:nvCxnSpPr>
        <p:spPr>
          <a:xfrm>
            <a:off x="2280325" y="2726200"/>
            <a:ext cx="3051900" cy="0"/>
          </a:xfrm>
          <a:prstGeom prst="straightConnector1">
            <a:avLst/>
          </a:prstGeom>
          <a:noFill/>
          <a:ln w="9525" cap="flat" cmpd="sng">
            <a:solidFill>
              <a:schemeClr val="dk2"/>
            </a:solidFill>
            <a:prstDash val="solid"/>
            <a:round/>
            <a:headEnd type="none" w="med" len="med"/>
            <a:tailEnd type="triangle" w="med" len="med"/>
          </a:ln>
        </p:spPr>
      </p:cxnSp>
      <p:cxnSp>
        <p:nvCxnSpPr>
          <p:cNvPr id="314" name="Google Shape;314;p23"/>
          <p:cNvCxnSpPr>
            <a:stCxn id="305" idx="3"/>
            <a:endCxn id="306" idx="1"/>
          </p:cNvCxnSpPr>
          <p:nvPr/>
        </p:nvCxnSpPr>
        <p:spPr>
          <a:xfrm>
            <a:off x="2270800" y="1203050"/>
            <a:ext cx="886800" cy="0"/>
          </a:xfrm>
          <a:prstGeom prst="straightConnector1">
            <a:avLst/>
          </a:prstGeom>
          <a:noFill/>
          <a:ln w="9525" cap="flat" cmpd="sng">
            <a:solidFill>
              <a:schemeClr val="dk2"/>
            </a:solidFill>
            <a:prstDash val="solid"/>
            <a:round/>
            <a:headEnd type="none" w="med" len="med"/>
            <a:tailEnd type="triangle" w="med" len="med"/>
          </a:ln>
        </p:spPr>
      </p:cxnSp>
      <p:cxnSp>
        <p:nvCxnSpPr>
          <p:cNvPr id="315" name="Google Shape;315;p23"/>
          <p:cNvCxnSpPr>
            <a:stCxn id="306" idx="3"/>
            <a:endCxn id="307" idx="1"/>
          </p:cNvCxnSpPr>
          <p:nvPr/>
        </p:nvCxnSpPr>
        <p:spPr>
          <a:xfrm>
            <a:off x="4216700" y="1203050"/>
            <a:ext cx="1115400" cy="0"/>
          </a:xfrm>
          <a:prstGeom prst="straightConnector1">
            <a:avLst/>
          </a:prstGeom>
          <a:noFill/>
          <a:ln w="9525" cap="flat" cmpd="sng">
            <a:solidFill>
              <a:schemeClr val="dk2"/>
            </a:solidFill>
            <a:prstDash val="solid"/>
            <a:round/>
            <a:headEnd type="none" w="med" len="med"/>
            <a:tailEnd type="triangle" w="med" len="med"/>
          </a:ln>
        </p:spPr>
      </p:cxnSp>
      <p:cxnSp>
        <p:nvCxnSpPr>
          <p:cNvPr id="316" name="Google Shape;316;p23"/>
          <p:cNvCxnSpPr>
            <a:stCxn id="307" idx="2"/>
            <a:endCxn id="310" idx="0"/>
          </p:cNvCxnSpPr>
          <p:nvPr/>
        </p:nvCxnSpPr>
        <p:spPr>
          <a:xfrm>
            <a:off x="5861700" y="1537100"/>
            <a:ext cx="0" cy="855000"/>
          </a:xfrm>
          <a:prstGeom prst="straightConnector1">
            <a:avLst/>
          </a:prstGeom>
          <a:noFill/>
          <a:ln w="9525" cap="flat" cmpd="sng">
            <a:solidFill>
              <a:schemeClr val="dk2"/>
            </a:solidFill>
            <a:prstDash val="solid"/>
            <a:round/>
            <a:headEnd type="none" w="med" len="med"/>
            <a:tailEnd type="triangle" w="med" len="med"/>
          </a:ln>
        </p:spPr>
      </p:cxnSp>
      <p:sp>
        <p:nvSpPr>
          <p:cNvPr id="317" name="Google Shape;317;p23"/>
          <p:cNvSpPr txBox="1"/>
          <p:nvPr/>
        </p:nvSpPr>
        <p:spPr>
          <a:xfrm>
            <a:off x="2299000" y="1203050"/>
            <a:ext cx="6774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ECID A</a:t>
            </a:r>
            <a:endParaRPr sz="1100"/>
          </a:p>
        </p:txBody>
      </p:sp>
      <p:sp>
        <p:nvSpPr>
          <p:cNvPr id="318" name="Google Shape;318;p23"/>
          <p:cNvSpPr txBox="1"/>
          <p:nvPr/>
        </p:nvSpPr>
        <p:spPr>
          <a:xfrm>
            <a:off x="4356400" y="1203050"/>
            <a:ext cx="6774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ECID A</a:t>
            </a:r>
            <a:endParaRPr sz="1100"/>
          </a:p>
        </p:txBody>
      </p:sp>
      <p:sp>
        <p:nvSpPr>
          <p:cNvPr id="319" name="Google Shape;319;p23"/>
          <p:cNvSpPr txBox="1"/>
          <p:nvPr/>
        </p:nvSpPr>
        <p:spPr>
          <a:xfrm>
            <a:off x="5880400" y="1671050"/>
            <a:ext cx="1217400" cy="641400"/>
          </a:xfrm>
          <a:prstGeom prst="rect">
            <a:avLst/>
          </a:prstGeom>
          <a:solidFill>
            <a:srgbClr val="CFE2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000"/>
              <a:t>Traceability file (many info)  POST on ECID A</a:t>
            </a:r>
            <a:endParaRPr sz="1000"/>
          </a:p>
        </p:txBody>
      </p:sp>
      <p:sp>
        <p:nvSpPr>
          <p:cNvPr id="320" name="Google Shape;320;p23"/>
          <p:cNvSpPr txBox="1"/>
          <p:nvPr/>
        </p:nvSpPr>
        <p:spPr>
          <a:xfrm>
            <a:off x="5499400" y="1279250"/>
            <a:ext cx="7926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Picking</a:t>
            </a:r>
            <a:endParaRPr sz="1100"/>
          </a:p>
        </p:txBody>
      </p:sp>
      <p:sp>
        <p:nvSpPr>
          <p:cNvPr id="321" name="Google Shape;321;p23"/>
          <p:cNvSpPr txBox="1"/>
          <p:nvPr/>
        </p:nvSpPr>
        <p:spPr>
          <a:xfrm>
            <a:off x="6032800" y="4261850"/>
            <a:ext cx="894000" cy="393600"/>
          </a:xfrm>
          <a:prstGeom prst="rect">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cxnSp>
        <p:nvCxnSpPr>
          <p:cNvPr id="322" name="Google Shape;322;p23"/>
          <p:cNvCxnSpPr>
            <a:stCxn id="310" idx="2"/>
            <a:endCxn id="311" idx="0"/>
          </p:cNvCxnSpPr>
          <p:nvPr/>
        </p:nvCxnSpPr>
        <p:spPr>
          <a:xfrm>
            <a:off x="5861700" y="3060250"/>
            <a:ext cx="0" cy="747300"/>
          </a:xfrm>
          <a:prstGeom prst="straightConnector1">
            <a:avLst/>
          </a:prstGeom>
          <a:noFill/>
          <a:ln w="9525" cap="flat" cmpd="sng">
            <a:solidFill>
              <a:schemeClr val="dk2"/>
            </a:solidFill>
            <a:prstDash val="solid"/>
            <a:round/>
            <a:headEnd type="none" w="med" len="med"/>
            <a:tailEnd type="triangle" w="med" len="med"/>
          </a:ln>
        </p:spPr>
      </p:cxnSp>
      <p:pic>
        <p:nvPicPr>
          <p:cNvPr id="323" name="Google Shape;323;p23"/>
          <p:cNvPicPr preferRelativeResize="0"/>
          <p:nvPr/>
        </p:nvPicPr>
        <p:blipFill>
          <a:blip r:embed="rId3">
            <a:alphaModFix/>
          </a:blip>
          <a:stretch>
            <a:fillRect/>
          </a:stretch>
        </p:blipFill>
        <p:spPr>
          <a:xfrm>
            <a:off x="152400" y="2392150"/>
            <a:ext cx="962999" cy="641502"/>
          </a:xfrm>
          <a:prstGeom prst="rect">
            <a:avLst/>
          </a:prstGeom>
          <a:noFill/>
          <a:ln>
            <a:noFill/>
          </a:ln>
        </p:spPr>
      </p:pic>
      <p:sp>
        <p:nvSpPr>
          <p:cNvPr id="324" name="Google Shape;324;p23"/>
          <p:cNvSpPr txBox="1"/>
          <p:nvPr/>
        </p:nvSpPr>
        <p:spPr>
          <a:xfrm>
            <a:off x="6185200" y="4414250"/>
            <a:ext cx="894000" cy="3936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sp>
        <p:nvSpPr>
          <p:cNvPr id="325" name="Google Shape;325;p23"/>
          <p:cNvSpPr txBox="1"/>
          <p:nvPr/>
        </p:nvSpPr>
        <p:spPr>
          <a:xfrm>
            <a:off x="6337600" y="4566650"/>
            <a:ext cx="894000" cy="393600"/>
          </a:xfrm>
          <a:prstGeom prst="rect">
            <a:avLst/>
          </a:prstGeom>
          <a:solidFill>
            <a:srgbClr val="CFE2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sp>
        <p:nvSpPr>
          <p:cNvPr id="326" name="Google Shape;326;p23"/>
          <p:cNvSpPr txBox="1"/>
          <p:nvPr/>
        </p:nvSpPr>
        <p:spPr>
          <a:xfrm>
            <a:off x="6492575" y="3808025"/>
            <a:ext cx="1115400" cy="25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sz="1000"/>
              <a:t>Massive queries</a:t>
            </a:r>
            <a:endParaRPr sz="1000"/>
          </a:p>
        </p:txBody>
      </p:sp>
      <p:sp>
        <p:nvSpPr>
          <p:cNvPr id="327" name="Google Shape;327;p23"/>
          <p:cNvSpPr txBox="1"/>
          <p:nvPr/>
        </p:nvSpPr>
        <p:spPr>
          <a:xfrm>
            <a:off x="2622350" y="2747950"/>
            <a:ext cx="2318400" cy="32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i="1"/>
              <a:t>“GET traceability for ECID A”</a:t>
            </a:r>
            <a:endParaRPr sz="1100" i="1"/>
          </a:p>
        </p:txBody>
      </p:sp>
      <p:sp>
        <p:nvSpPr>
          <p:cNvPr id="328" name="Google Shape;328;p23"/>
          <p:cNvSpPr/>
          <p:nvPr/>
        </p:nvSpPr>
        <p:spPr>
          <a:xfrm>
            <a:off x="7536400" y="16305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sz="900"/>
              <a:t>Formater</a:t>
            </a:r>
            <a:endParaRPr sz="900"/>
          </a:p>
          <a:p>
            <a:pPr marL="0" lvl="0" indent="0" algn="ctr" rtl="0">
              <a:spcBef>
                <a:spcPts val="0"/>
              </a:spcBef>
              <a:spcAft>
                <a:spcPts val="0"/>
              </a:spcAft>
              <a:buNone/>
            </a:pPr>
            <a:r>
              <a:rPr lang="fr-FR" sz="900"/>
              <a:t>GS1--&gt;Traceability format</a:t>
            </a:r>
            <a:endParaRPr sz="900"/>
          </a:p>
        </p:txBody>
      </p:sp>
      <p:cxnSp>
        <p:nvCxnSpPr>
          <p:cNvPr id="329" name="Google Shape;329;p23"/>
          <p:cNvCxnSpPr>
            <a:stCxn id="307" idx="3"/>
            <a:endCxn id="328" idx="0"/>
          </p:cNvCxnSpPr>
          <p:nvPr/>
        </p:nvCxnSpPr>
        <p:spPr>
          <a:xfrm>
            <a:off x="6391200" y="1203050"/>
            <a:ext cx="1674600" cy="427500"/>
          </a:xfrm>
          <a:prstGeom prst="straightConnector1">
            <a:avLst/>
          </a:prstGeom>
          <a:noFill/>
          <a:ln w="9525" cap="flat" cmpd="sng">
            <a:solidFill>
              <a:schemeClr val="dk2"/>
            </a:solidFill>
            <a:prstDash val="solid"/>
            <a:round/>
            <a:headEnd type="triangle" w="med" len="med"/>
            <a:tailEnd type="triangle" w="med" len="med"/>
          </a:ln>
        </p:spPr>
      </p:cxnSp>
      <p:sp>
        <p:nvSpPr>
          <p:cNvPr id="330" name="Google Shape;330;p23"/>
          <p:cNvSpPr/>
          <p:nvPr/>
        </p:nvSpPr>
        <p:spPr>
          <a:xfrm>
            <a:off x="6896000" y="8959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1</a:t>
            </a:r>
            <a:endParaRPr/>
          </a:p>
        </p:txBody>
      </p:sp>
      <p:sp>
        <p:nvSpPr>
          <p:cNvPr id="331" name="Google Shape;331;p23"/>
          <p:cNvSpPr/>
          <p:nvPr/>
        </p:nvSpPr>
        <p:spPr>
          <a:xfrm>
            <a:off x="5351300" y="18173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2</a:t>
            </a:r>
            <a:endParaRPr/>
          </a:p>
        </p:txBody>
      </p:sp>
      <p:sp>
        <p:nvSpPr>
          <p:cNvPr id="332" name="Google Shape;332;p23"/>
          <p:cNvSpPr/>
          <p:nvPr/>
        </p:nvSpPr>
        <p:spPr>
          <a:xfrm>
            <a:off x="5351300" y="32201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3</a:t>
            </a:r>
            <a:endParaRPr/>
          </a:p>
        </p:txBody>
      </p:sp>
      <p:pic>
        <p:nvPicPr>
          <p:cNvPr id="333" name="Google Shape;333;p23"/>
          <p:cNvPicPr preferRelativeResize="0"/>
          <p:nvPr/>
        </p:nvPicPr>
        <p:blipFill>
          <a:blip r:embed="rId3">
            <a:alphaModFix/>
          </a:blip>
          <a:stretch>
            <a:fillRect/>
          </a:stretch>
        </p:blipFill>
        <p:spPr>
          <a:xfrm>
            <a:off x="152400" y="868150"/>
            <a:ext cx="962999" cy="641502"/>
          </a:xfrm>
          <a:prstGeom prst="rect">
            <a:avLst/>
          </a:prstGeom>
          <a:noFill/>
          <a:ln>
            <a:noFill/>
          </a:ln>
        </p:spPr>
      </p:pic>
      <p:sp>
        <p:nvSpPr>
          <p:cNvPr id="334" name="Google Shape;334;p23"/>
          <p:cNvSpPr/>
          <p:nvPr/>
        </p:nvSpPr>
        <p:spPr>
          <a:xfrm>
            <a:off x="327950" y="3467650"/>
            <a:ext cx="3958500" cy="1613700"/>
          </a:xfrm>
          <a:prstGeom prst="wedgeRoundRectCallout">
            <a:avLst>
              <a:gd name="adj1" fmla="val 80573"/>
              <a:gd name="adj2" fmla="val -51563"/>
              <a:gd name="adj3" fmla="val 0"/>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sz="1200">
                <a:solidFill>
                  <a:srgbClr val="FFFFFF"/>
                </a:solidFill>
              </a:rPr>
              <a:t>EyeCloud sends the traceability files of any orders to a datalake which would be used to make massive requests (sample: “find me all the lot number = XXXX from start_date to end_date”).</a:t>
            </a:r>
            <a:endParaRPr sz="1200">
              <a:solidFill>
                <a:srgbClr val="FFFFFF"/>
              </a:solidFill>
            </a:endParaRPr>
          </a:p>
          <a:p>
            <a:pPr marL="0" lvl="0" indent="0" algn="l" rtl="0">
              <a:spcBef>
                <a:spcPts val="0"/>
              </a:spcBef>
              <a:spcAft>
                <a:spcPts val="0"/>
              </a:spcAft>
              <a:buNone/>
            </a:pPr>
            <a:endParaRPr sz="1200">
              <a:solidFill>
                <a:srgbClr val="FFFFFF"/>
              </a:solidFill>
            </a:endParaRPr>
          </a:p>
        </p:txBody>
      </p:sp>
      <p:sp>
        <p:nvSpPr>
          <p:cNvPr id="335" name="Google Shape;335;p23"/>
          <p:cNvSpPr/>
          <p:nvPr/>
        </p:nvSpPr>
        <p:spPr>
          <a:xfrm>
            <a:off x="4216700" y="3647600"/>
            <a:ext cx="548700" cy="507300"/>
          </a:xfrm>
          <a:prstGeom prst="ellipse">
            <a:avLst/>
          </a:prstGeom>
          <a:solidFill>
            <a:srgbClr val="FFFFFF"/>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4</a:t>
            </a:r>
            <a:endParaRPr/>
          </a:p>
        </p:txBody>
      </p:sp>
      <p:sp>
        <p:nvSpPr>
          <p:cNvPr id="336" name="Google Shape;336;p23"/>
          <p:cNvSpPr txBox="1"/>
          <p:nvPr/>
        </p:nvSpPr>
        <p:spPr>
          <a:xfrm>
            <a:off x="1221325" y="0"/>
            <a:ext cx="7200000" cy="507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2000" b="1">
                <a:solidFill>
                  <a:srgbClr val="FFFFFF"/>
                </a:solidFill>
                <a:latin typeface="Rambla"/>
                <a:ea typeface="Rambla"/>
                <a:cs typeface="Rambla"/>
                <a:sym typeface="Rambla"/>
              </a:rPr>
              <a:t>High level flow for traceability for IT Europe systems</a:t>
            </a:r>
            <a:endParaRPr sz="2000" b="1">
              <a:solidFill>
                <a:srgbClr val="FFFFFF"/>
              </a:solidFill>
              <a:latin typeface="Rambla"/>
              <a:ea typeface="Rambla"/>
              <a:cs typeface="Rambla"/>
              <a:sym typeface="Rambla"/>
            </a:endParaRPr>
          </a:p>
        </p:txBody>
      </p:sp>
      <p:grpSp>
        <p:nvGrpSpPr>
          <p:cNvPr id="337" name="Google Shape;337;p23"/>
          <p:cNvGrpSpPr/>
          <p:nvPr/>
        </p:nvGrpSpPr>
        <p:grpSpPr>
          <a:xfrm>
            <a:off x="503150" y="4566650"/>
            <a:ext cx="2774800" cy="548700"/>
            <a:chOff x="503150" y="4566650"/>
            <a:chExt cx="2774800" cy="548700"/>
          </a:xfrm>
        </p:grpSpPr>
        <p:pic>
          <p:nvPicPr>
            <p:cNvPr id="338" name="Google Shape;338;p23"/>
            <p:cNvPicPr preferRelativeResize="0"/>
            <p:nvPr/>
          </p:nvPicPr>
          <p:blipFill>
            <a:blip r:embed="rId4">
              <a:alphaModFix/>
            </a:blip>
            <a:stretch>
              <a:fillRect/>
            </a:stretch>
          </p:blipFill>
          <p:spPr>
            <a:xfrm>
              <a:off x="503150" y="4566650"/>
              <a:ext cx="548700" cy="548700"/>
            </a:xfrm>
            <a:prstGeom prst="rect">
              <a:avLst/>
            </a:prstGeom>
            <a:noFill/>
            <a:ln>
              <a:noFill/>
            </a:ln>
          </p:spPr>
        </p:pic>
        <p:sp>
          <p:nvSpPr>
            <p:cNvPr id="339" name="Google Shape;339;p23"/>
            <p:cNvSpPr txBox="1"/>
            <p:nvPr/>
          </p:nvSpPr>
          <p:spPr>
            <a:xfrm>
              <a:off x="1109550" y="4665275"/>
              <a:ext cx="2168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1200" b="1">
                  <a:solidFill>
                    <a:srgbClr val="FFFFFF"/>
                  </a:solidFill>
                </a:rPr>
                <a:t>Not in place yet</a:t>
              </a:r>
              <a:endParaRPr sz="1200" b="1">
                <a:solidFill>
                  <a:srgbClr val="FFFFFF"/>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4"/>
          <p:cNvSpPr txBox="1">
            <a:spLocks noGrp="1"/>
          </p:cNvSpPr>
          <p:nvPr>
            <p:ph type="sldNum" idx="12"/>
          </p:nvPr>
        </p:nvSpPr>
        <p:spPr>
          <a:xfrm>
            <a:off x="86248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FR"/>
              <a:t>9</a:t>
            </a:fld>
            <a:endParaRPr/>
          </a:p>
        </p:txBody>
      </p:sp>
      <p:sp>
        <p:nvSpPr>
          <p:cNvPr id="346" name="Google Shape;346;p24"/>
          <p:cNvSpPr/>
          <p:nvPr/>
        </p:nvSpPr>
        <p:spPr>
          <a:xfrm>
            <a:off x="0" y="0"/>
            <a:ext cx="9144000" cy="507300"/>
          </a:xfrm>
          <a:prstGeom prst="rect">
            <a:avLst/>
          </a:prstGeom>
          <a:solidFill>
            <a:srgbClr val="45818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1">
              <a:solidFill>
                <a:srgbClr val="FFFFFF"/>
              </a:solidFill>
            </a:endParaRPr>
          </a:p>
        </p:txBody>
      </p:sp>
      <p:sp>
        <p:nvSpPr>
          <p:cNvPr id="347" name="Google Shape;347;p24"/>
          <p:cNvSpPr/>
          <p:nvPr/>
        </p:nvSpPr>
        <p:spPr>
          <a:xfrm>
            <a:off x="12118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Opsys Web</a:t>
            </a:r>
            <a:endParaRPr/>
          </a:p>
          <a:p>
            <a:pPr marL="0" lvl="0" indent="0" algn="ctr" rtl="0">
              <a:spcBef>
                <a:spcPts val="0"/>
              </a:spcBef>
              <a:spcAft>
                <a:spcPts val="0"/>
              </a:spcAft>
              <a:buNone/>
            </a:pPr>
            <a:r>
              <a:rPr lang="fr-FR" sz="800"/>
              <a:t>(web ordering system)</a:t>
            </a:r>
            <a:endParaRPr sz="800"/>
          </a:p>
        </p:txBody>
      </p:sp>
      <p:sp>
        <p:nvSpPr>
          <p:cNvPr id="348" name="Google Shape;348;p24"/>
          <p:cNvSpPr/>
          <p:nvPr/>
        </p:nvSpPr>
        <p:spPr>
          <a:xfrm>
            <a:off x="31577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Orchestra</a:t>
            </a:r>
            <a:endParaRPr/>
          </a:p>
          <a:p>
            <a:pPr marL="0" lvl="0" indent="0" algn="ctr" rtl="0">
              <a:spcBef>
                <a:spcPts val="0"/>
              </a:spcBef>
              <a:spcAft>
                <a:spcPts val="0"/>
              </a:spcAft>
              <a:buNone/>
            </a:pPr>
            <a:r>
              <a:rPr lang="fr-FR" sz="800">
                <a:solidFill>
                  <a:schemeClr val="dk1"/>
                </a:solidFill>
              </a:rPr>
              <a:t>(Ordering management system)</a:t>
            </a:r>
            <a:endParaRPr/>
          </a:p>
        </p:txBody>
      </p:sp>
      <p:sp>
        <p:nvSpPr>
          <p:cNvPr id="349" name="Google Shape;349;p24"/>
          <p:cNvSpPr/>
          <p:nvPr/>
        </p:nvSpPr>
        <p:spPr>
          <a:xfrm>
            <a:off x="5332200" y="86900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LSM Inlab</a:t>
            </a:r>
            <a:endParaRPr/>
          </a:p>
        </p:txBody>
      </p:sp>
      <p:sp>
        <p:nvSpPr>
          <p:cNvPr id="350" name="Google Shape;350;p24"/>
          <p:cNvSpPr/>
          <p:nvPr/>
        </p:nvSpPr>
        <p:spPr>
          <a:xfrm>
            <a:off x="1221325" y="23921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Business Sub Web portal</a:t>
            </a:r>
            <a:endParaRPr/>
          </a:p>
        </p:txBody>
      </p:sp>
      <p:sp>
        <p:nvSpPr>
          <p:cNvPr id="351" name="Google Shape;351;p24"/>
          <p:cNvSpPr/>
          <p:nvPr/>
        </p:nvSpPr>
        <p:spPr>
          <a:xfrm>
            <a:off x="7742325" y="38074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Internal Quality</a:t>
            </a:r>
            <a:endParaRPr/>
          </a:p>
        </p:txBody>
      </p:sp>
      <p:sp>
        <p:nvSpPr>
          <p:cNvPr id="352" name="Google Shape;352;p24"/>
          <p:cNvSpPr/>
          <p:nvPr/>
        </p:nvSpPr>
        <p:spPr>
          <a:xfrm>
            <a:off x="5332200" y="23921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a:t>EyeCloud</a:t>
            </a:r>
            <a:endParaRPr/>
          </a:p>
        </p:txBody>
      </p:sp>
      <p:sp>
        <p:nvSpPr>
          <p:cNvPr id="353" name="Google Shape;353;p24"/>
          <p:cNvSpPr/>
          <p:nvPr/>
        </p:nvSpPr>
        <p:spPr>
          <a:xfrm>
            <a:off x="5332200" y="38074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Datalake</a:t>
            </a:r>
            <a:endParaRPr/>
          </a:p>
        </p:txBody>
      </p:sp>
      <p:cxnSp>
        <p:nvCxnSpPr>
          <p:cNvPr id="354" name="Google Shape;354;p24"/>
          <p:cNvCxnSpPr>
            <a:stCxn id="351" idx="1"/>
            <a:endCxn id="353" idx="3"/>
          </p:cNvCxnSpPr>
          <p:nvPr/>
        </p:nvCxnSpPr>
        <p:spPr>
          <a:xfrm rot="10800000">
            <a:off x="6391125" y="4141500"/>
            <a:ext cx="1351200" cy="0"/>
          </a:xfrm>
          <a:prstGeom prst="straightConnector1">
            <a:avLst/>
          </a:prstGeom>
          <a:noFill/>
          <a:ln w="9525" cap="flat" cmpd="sng">
            <a:solidFill>
              <a:schemeClr val="dk2"/>
            </a:solidFill>
            <a:prstDash val="solid"/>
            <a:round/>
            <a:headEnd type="none" w="med" len="med"/>
            <a:tailEnd type="triangle" w="med" len="med"/>
          </a:ln>
        </p:spPr>
      </p:cxnSp>
      <p:cxnSp>
        <p:nvCxnSpPr>
          <p:cNvPr id="355" name="Google Shape;355;p24"/>
          <p:cNvCxnSpPr>
            <a:stCxn id="350" idx="3"/>
            <a:endCxn id="352" idx="1"/>
          </p:cNvCxnSpPr>
          <p:nvPr/>
        </p:nvCxnSpPr>
        <p:spPr>
          <a:xfrm>
            <a:off x="2280325" y="2726200"/>
            <a:ext cx="3051900" cy="0"/>
          </a:xfrm>
          <a:prstGeom prst="straightConnector1">
            <a:avLst/>
          </a:prstGeom>
          <a:noFill/>
          <a:ln w="9525" cap="flat" cmpd="sng">
            <a:solidFill>
              <a:schemeClr val="dk2"/>
            </a:solidFill>
            <a:prstDash val="solid"/>
            <a:round/>
            <a:headEnd type="none" w="med" len="med"/>
            <a:tailEnd type="triangle" w="med" len="med"/>
          </a:ln>
        </p:spPr>
      </p:cxnSp>
      <p:cxnSp>
        <p:nvCxnSpPr>
          <p:cNvPr id="356" name="Google Shape;356;p24"/>
          <p:cNvCxnSpPr>
            <a:stCxn id="347" idx="3"/>
            <a:endCxn id="348" idx="1"/>
          </p:cNvCxnSpPr>
          <p:nvPr/>
        </p:nvCxnSpPr>
        <p:spPr>
          <a:xfrm>
            <a:off x="2270800" y="1203050"/>
            <a:ext cx="886800" cy="0"/>
          </a:xfrm>
          <a:prstGeom prst="straightConnector1">
            <a:avLst/>
          </a:prstGeom>
          <a:noFill/>
          <a:ln w="9525" cap="flat" cmpd="sng">
            <a:solidFill>
              <a:schemeClr val="dk2"/>
            </a:solidFill>
            <a:prstDash val="solid"/>
            <a:round/>
            <a:headEnd type="none" w="med" len="med"/>
            <a:tailEnd type="triangle" w="med" len="med"/>
          </a:ln>
        </p:spPr>
      </p:cxnSp>
      <p:cxnSp>
        <p:nvCxnSpPr>
          <p:cNvPr id="357" name="Google Shape;357;p24"/>
          <p:cNvCxnSpPr>
            <a:stCxn id="348" idx="3"/>
            <a:endCxn id="349" idx="1"/>
          </p:cNvCxnSpPr>
          <p:nvPr/>
        </p:nvCxnSpPr>
        <p:spPr>
          <a:xfrm>
            <a:off x="4216700" y="1203050"/>
            <a:ext cx="1115400" cy="0"/>
          </a:xfrm>
          <a:prstGeom prst="straightConnector1">
            <a:avLst/>
          </a:prstGeom>
          <a:noFill/>
          <a:ln w="9525" cap="flat" cmpd="sng">
            <a:solidFill>
              <a:schemeClr val="dk2"/>
            </a:solidFill>
            <a:prstDash val="solid"/>
            <a:round/>
            <a:headEnd type="none" w="med" len="med"/>
            <a:tailEnd type="triangle" w="med" len="med"/>
          </a:ln>
        </p:spPr>
      </p:cxnSp>
      <p:cxnSp>
        <p:nvCxnSpPr>
          <p:cNvPr id="358" name="Google Shape;358;p24"/>
          <p:cNvCxnSpPr>
            <a:stCxn id="349" idx="2"/>
            <a:endCxn id="352" idx="0"/>
          </p:cNvCxnSpPr>
          <p:nvPr/>
        </p:nvCxnSpPr>
        <p:spPr>
          <a:xfrm>
            <a:off x="5861700" y="1537100"/>
            <a:ext cx="0" cy="855000"/>
          </a:xfrm>
          <a:prstGeom prst="straightConnector1">
            <a:avLst/>
          </a:prstGeom>
          <a:noFill/>
          <a:ln w="9525" cap="flat" cmpd="sng">
            <a:solidFill>
              <a:schemeClr val="dk2"/>
            </a:solidFill>
            <a:prstDash val="solid"/>
            <a:round/>
            <a:headEnd type="none" w="med" len="med"/>
            <a:tailEnd type="triangle" w="med" len="med"/>
          </a:ln>
        </p:spPr>
      </p:cxnSp>
      <p:sp>
        <p:nvSpPr>
          <p:cNvPr id="359" name="Google Shape;359;p24"/>
          <p:cNvSpPr txBox="1"/>
          <p:nvPr/>
        </p:nvSpPr>
        <p:spPr>
          <a:xfrm>
            <a:off x="2299000" y="1203050"/>
            <a:ext cx="6774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ECID A</a:t>
            </a:r>
            <a:endParaRPr sz="1100"/>
          </a:p>
        </p:txBody>
      </p:sp>
      <p:sp>
        <p:nvSpPr>
          <p:cNvPr id="360" name="Google Shape;360;p24"/>
          <p:cNvSpPr txBox="1"/>
          <p:nvPr/>
        </p:nvSpPr>
        <p:spPr>
          <a:xfrm>
            <a:off x="4356400" y="1203050"/>
            <a:ext cx="6774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ECID A</a:t>
            </a:r>
            <a:endParaRPr sz="1100"/>
          </a:p>
        </p:txBody>
      </p:sp>
      <p:sp>
        <p:nvSpPr>
          <p:cNvPr id="361" name="Google Shape;361;p24"/>
          <p:cNvSpPr txBox="1"/>
          <p:nvPr/>
        </p:nvSpPr>
        <p:spPr>
          <a:xfrm>
            <a:off x="5880400" y="1671050"/>
            <a:ext cx="1217400" cy="641400"/>
          </a:xfrm>
          <a:prstGeom prst="rect">
            <a:avLst/>
          </a:prstGeom>
          <a:solidFill>
            <a:srgbClr val="CFE2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000"/>
              <a:t>Traceability file (many info)  POST on ECID A</a:t>
            </a:r>
            <a:endParaRPr sz="1000"/>
          </a:p>
        </p:txBody>
      </p:sp>
      <p:sp>
        <p:nvSpPr>
          <p:cNvPr id="362" name="Google Shape;362;p24"/>
          <p:cNvSpPr txBox="1"/>
          <p:nvPr/>
        </p:nvSpPr>
        <p:spPr>
          <a:xfrm>
            <a:off x="5499400" y="1279250"/>
            <a:ext cx="792600" cy="25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Picking</a:t>
            </a:r>
            <a:endParaRPr sz="1100"/>
          </a:p>
        </p:txBody>
      </p:sp>
      <p:sp>
        <p:nvSpPr>
          <p:cNvPr id="363" name="Google Shape;363;p24"/>
          <p:cNvSpPr txBox="1"/>
          <p:nvPr/>
        </p:nvSpPr>
        <p:spPr>
          <a:xfrm>
            <a:off x="6032800" y="4261850"/>
            <a:ext cx="894000" cy="393600"/>
          </a:xfrm>
          <a:prstGeom prst="rect">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cxnSp>
        <p:nvCxnSpPr>
          <p:cNvPr id="364" name="Google Shape;364;p24"/>
          <p:cNvCxnSpPr>
            <a:stCxn id="352" idx="2"/>
            <a:endCxn id="353" idx="0"/>
          </p:cNvCxnSpPr>
          <p:nvPr/>
        </p:nvCxnSpPr>
        <p:spPr>
          <a:xfrm>
            <a:off x="5861700" y="3060250"/>
            <a:ext cx="0" cy="747300"/>
          </a:xfrm>
          <a:prstGeom prst="straightConnector1">
            <a:avLst/>
          </a:prstGeom>
          <a:noFill/>
          <a:ln w="9525" cap="flat" cmpd="sng">
            <a:solidFill>
              <a:schemeClr val="dk2"/>
            </a:solidFill>
            <a:prstDash val="solid"/>
            <a:round/>
            <a:headEnd type="none" w="med" len="med"/>
            <a:tailEnd type="triangle" w="med" len="med"/>
          </a:ln>
        </p:spPr>
      </p:cxnSp>
      <p:pic>
        <p:nvPicPr>
          <p:cNvPr id="365" name="Google Shape;365;p24"/>
          <p:cNvPicPr preferRelativeResize="0"/>
          <p:nvPr/>
        </p:nvPicPr>
        <p:blipFill>
          <a:blip r:embed="rId3">
            <a:alphaModFix/>
          </a:blip>
          <a:stretch>
            <a:fillRect/>
          </a:stretch>
        </p:blipFill>
        <p:spPr>
          <a:xfrm>
            <a:off x="152400" y="2392150"/>
            <a:ext cx="962999" cy="641502"/>
          </a:xfrm>
          <a:prstGeom prst="rect">
            <a:avLst/>
          </a:prstGeom>
          <a:noFill/>
          <a:ln>
            <a:noFill/>
          </a:ln>
        </p:spPr>
      </p:pic>
      <p:sp>
        <p:nvSpPr>
          <p:cNvPr id="366" name="Google Shape;366;p24"/>
          <p:cNvSpPr txBox="1"/>
          <p:nvPr/>
        </p:nvSpPr>
        <p:spPr>
          <a:xfrm>
            <a:off x="6185200" y="4414250"/>
            <a:ext cx="894000" cy="3936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sp>
        <p:nvSpPr>
          <p:cNvPr id="367" name="Google Shape;367;p24"/>
          <p:cNvSpPr txBox="1"/>
          <p:nvPr/>
        </p:nvSpPr>
        <p:spPr>
          <a:xfrm>
            <a:off x="6337600" y="4566650"/>
            <a:ext cx="894000" cy="393600"/>
          </a:xfrm>
          <a:prstGeom prst="rect">
            <a:avLst/>
          </a:prstGeom>
          <a:solidFill>
            <a:srgbClr val="CFE2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a:t>Traceability info</a:t>
            </a:r>
            <a:endParaRPr sz="1100"/>
          </a:p>
        </p:txBody>
      </p:sp>
      <p:sp>
        <p:nvSpPr>
          <p:cNvPr id="368" name="Google Shape;368;p24"/>
          <p:cNvSpPr txBox="1"/>
          <p:nvPr/>
        </p:nvSpPr>
        <p:spPr>
          <a:xfrm>
            <a:off x="6492575" y="3808025"/>
            <a:ext cx="1115400" cy="25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sz="1000"/>
              <a:t>Massive queries</a:t>
            </a:r>
            <a:endParaRPr sz="1000"/>
          </a:p>
        </p:txBody>
      </p:sp>
      <p:sp>
        <p:nvSpPr>
          <p:cNvPr id="369" name="Google Shape;369;p24"/>
          <p:cNvSpPr txBox="1"/>
          <p:nvPr/>
        </p:nvSpPr>
        <p:spPr>
          <a:xfrm>
            <a:off x="2622350" y="2747950"/>
            <a:ext cx="2318400" cy="32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sz="1100" i="1"/>
              <a:t>“GET traceability for ECID A”</a:t>
            </a:r>
            <a:endParaRPr sz="1100" i="1"/>
          </a:p>
        </p:txBody>
      </p:sp>
      <p:sp>
        <p:nvSpPr>
          <p:cNvPr id="370" name="Google Shape;370;p24"/>
          <p:cNvSpPr/>
          <p:nvPr/>
        </p:nvSpPr>
        <p:spPr>
          <a:xfrm>
            <a:off x="7536400" y="1630550"/>
            <a:ext cx="1059000" cy="66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sz="900"/>
              <a:t>Formater</a:t>
            </a:r>
            <a:endParaRPr sz="900"/>
          </a:p>
          <a:p>
            <a:pPr marL="0" lvl="0" indent="0" algn="ctr" rtl="0">
              <a:spcBef>
                <a:spcPts val="0"/>
              </a:spcBef>
              <a:spcAft>
                <a:spcPts val="0"/>
              </a:spcAft>
              <a:buNone/>
            </a:pPr>
            <a:r>
              <a:rPr lang="fr-FR" sz="900"/>
              <a:t>GS1--&gt;Traceability format</a:t>
            </a:r>
            <a:endParaRPr sz="900"/>
          </a:p>
        </p:txBody>
      </p:sp>
      <p:cxnSp>
        <p:nvCxnSpPr>
          <p:cNvPr id="371" name="Google Shape;371;p24"/>
          <p:cNvCxnSpPr>
            <a:stCxn id="349" idx="3"/>
            <a:endCxn id="370" idx="0"/>
          </p:cNvCxnSpPr>
          <p:nvPr/>
        </p:nvCxnSpPr>
        <p:spPr>
          <a:xfrm>
            <a:off x="6391200" y="1203050"/>
            <a:ext cx="1674600" cy="427500"/>
          </a:xfrm>
          <a:prstGeom prst="straightConnector1">
            <a:avLst/>
          </a:prstGeom>
          <a:noFill/>
          <a:ln w="9525" cap="flat" cmpd="sng">
            <a:solidFill>
              <a:schemeClr val="dk2"/>
            </a:solidFill>
            <a:prstDash val="solid"/>
            <a:round/>
            <a:headEnd type="triangle" w="med" len="med"/>
            <a:tailEnd type="triangle" w="med" len="med"/>
          </a:ln>
        </p:spPr>
      </p:cxnSp>
      <p:sp>
        <p:nvSpPr>
          <p:cNvPr id="372" name="Google Shape;372;p24"/>
          <p:cNvSpPr/>
          <p:nvPr/>
        </p:nvSpPr>
        <p:spPr>
          <a:xfrm>
            <a:off x="6896000" y="8959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1</a:t>
            </a:r>
            <a:endParaRPr/>
          </a:p>
        </p:txBody>
      </p:sp>
      <p:sp>
        <p:nvSpPr>
          <p:cNvPr id="373" name="Google Shape;373;p24"/>
          <p:cNvSpPr/>
          <p:nvPr/>
        </p:nvSpPr>
        <p:spPr>
          <a:xfrm>
            <a:off x="5351300" y="18173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2</a:t>
            </a:r>
            <a:endParaRPr/>
          </a:p>
        </p:txBody>
      </p:sp>
      <p:sp>
        <p:nvSpPr>
          <p:cNvPr id="374" name="Google Shape;374;p24"/>
          <p:cNvSpPr/>
          <p:nvPr/>
        </p:nvSpPr>
        <p:spPr>
          <a:xfrm>
            <a:off x="5351300" y="3220100"/>
            <a:ext cx="491700" cy="427500"/>
          </a:xfrm>
          <a:prstGeom prst="ellipse">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t>3</a:t>
            </a:r>
            <a:endParaRPr/>
          </a:p>
        </p:txBody>
      </p:sp>
      <p:pic>
        <p:nvPicPr>
          <p:cNvPr id="375" name="Google Shape;375;p24"/>
          <p:cNvPicPr preferRelativeResize="0"/>
          <p:nvPr/>
        </p:nvPicPr>
        <p:blipFill>
          <a:blip r:embed="rId3">
            <a:alphaModFix/>
          </a:blip>
          <a:stretch>
            <a:fillRect/>
          </a:stretch>
        </p:blipFill>
        <p:spPr>
          <a:xfrm>
            <a:off x="152400" y="868150"/>
            <a:ext cx="962999" cy="641502"/>
          </a:xfrm>
          <a:prstGeom prst="rect">
            <a:avLst/>
          </a:prstGeom>
          <a:noFill/>
          <a:ln>
            <a:noFill/>
          </a:ln>
        </p:spPr>
      </p:pic>
      <p:sp>
        <p:nvSpPr>
          <p:cNvPr id="376" name="Google Shape;376;p24"/>
          <p:cNvSpPr/>
          <p:nvPr/>
        </p:nvSpPr>
        <p:spPr>
          <a:xfrm>
            <a:off x="327950" y="3467650"/>
            <a:ext cx="3958500" cy="1613700"/>
          </a:xfrm>
          <a:prstGeom prst="wedgeRoundRectCallout">
            <a:avLst>
              <a:gd name="adj1" fmla="val 1592"/>
              <a:gd name="adj2" fmla="val -75000"/>
              <a:gd name="adj3" fmla="val 0"/>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sz="1200">
                <a:solidFill>
                  <a:srgbClr val="FFFFFF"/>
                </a:solidFill>
              </a:rPr>
              <a:t>In case of punctual request for a specific order, the B2B web portal of a sub can make a request to EyeCloud to retrieve the traceability file for the concerned order.</a:t>
            </a:r>
            <a:endParaRPr sz="1200">
              <a:solidFill>
                <a:srgbClr val="FFFFFF"/>
              </a:solidFill>
            </a:endParaRPr>
          </a:p>
          <a:p>
            <a:pPr marL="0" lvl="0" indent="0" algn="l" rtl="0">
              <a:spcBef>
                <a:spcPts val="0"/>
              </a:spcBef>
              <a:spcAft>
                <a:spcPts val="0"/>
              </a:spcAft>
              <a:buNone/>
            </a:pPr>
            <a:endParaRPr sz="1200">
              <a:solidFill>
                <a:srgbClr val="FFFFFF"/>
              </a:solidFill>
            </a:endParaRPr>
          </a:p>
        </p:txBody>
      </p:sp>
      <p:sp>
        <p:nvSpPr>
          <p:cNvPr id="377" name="Google Shape;377;p24"/>
          <p:cNvSpPr/>
          <p:nvPr/>
        </p:nvSpPr>
        <p:spPr>
          <a:xfrm>
            <a:off x="2592250" y="3060250"/>
            <a:ext cx="548700" cy="507300"/>
          </a:xfrm>
          <a:prstGeom prst="ellipse">
            <a:avLst/>
          </a:prstGeom>
          <a:solidFill>
            <a:srgbClr val="FFFFFF"/>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a:t>5</a:t>
            </a:r>
            <a:endParaRPr/>
          </a:p>
        </p:txBody>
      </p:sp>
      <p:sp>
        <p:nvSpPr>
          <p:cNvPr id="378" name="Google Shape;378;p24"/>
          <p:cNvSpPr txBox="1"/>
          <p:nvPr/>
        </p:nvSpPr>
        <p:spPr>
          <a:xfrm>
            <a:off x="1221325" y="0"/>
            <a:ext cx="7200000" cy="507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2000" b="1">
                <a:solidFill>
                  <a:srgbClr val="FFFFFF"/>
                </a:solidFill>
                <a:latin typeface="Rambla"/>
                <a:ea typeface="Rambla"/>
                <a:cs typeface="Rambla"/>
                <a:sym typeface="Rambla"/>
              </a:rPr>
              <a:t>High level flow for traceability for IT Europe systems</a:t>
            </a:r>
            <a:endParaRPr sz="2000" b="1">
              <a:solidFill>
                <a:srgbClr val="FFFFFF"/>
              </a:solidFill>
              <a:latin typeface="Rambla"/>
              <a:ea typeface="Rambla"/>
              <a:cs typeface="Rambla"/>
              <a:sym typeface="Rambla"/>
            </a:endParaRPr>
          </a:p>
        </p:txBody>
      </p:sp>
    </p:spTree>
  </p:cSld>
  <p:clrMapOvr>
    <a:masterClrMapping/>
  </p:clrMapOvr>
</p:sld>
</file>

<file path=ppt/theme/theme1.xml><?xml version="1.0" encoding="utf-8"?>
<a:theme xmlns:a="http://schemas.openxmlformats.org/drawingml/2006/main" name="5_Template Europe Ops and IT - Cover 1 - Agenda Thinkcell">
  <a:themeElements>
    <a:clrScheme name="DOE Europe Template">
      <a:dk1>
        <a:srgbClr val="4B4B4B"/>
      </a:dk1>
      <a:lt1>
        <a:srgbClr val="FFFFFF"/>
      </a:lt1>
      <a:dk2>
        <a:srgbClr val="003F84"/>
      </a:dk2>
      <a:lt2>
        <a:srgbClr val="EBCA9F"/>
      </a:lt2>
      <a:accent1>
        <a:srgbClr val="AEC5E0"/>
      </a:accent1>
      <a:accent2>
        <a:srgbClr val="B7E0A8"/>
      </a:accent2>
      <a:accent3>
        <a:srgbClr val="D7D3B9"/>
      </a:accent3>
      <a:accent4>
        <a:srgbClr val="D9D9D9"/>
      </a:accent4>
      <a:accent5>
        <a:srgbClr val="DD9696"/>
      </a:accent5>
      <a:accent6>
        <a:srgbClr val="D5A3CB"/>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a69be49-e63e-4505-90ce-d18b3283f86f" xsi:nil="true"/>
    <lcf76f155ced4ddcb4097134ff3c332f xmlns="71b77f45-859e-4a9f-b23d-c4b37bd56895">
      <Terms xmlns="http://schemas.microsoft.com/office/infopath/2007/PartnerControls"/>
    </lcf76f155ced4ddcb4097134ff3c332f>
    <Date xmlns="71b77f45-859e-4a9f-b23d-c4b37bd56895">2024-02-04T15:06:22+00:00</Dat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A86F4A466F26046961D2FEADA0F794E" ma:contentTypeVersion="16" ma:contentTypeDescription="Crée un document." ma:contentTypeScope="" ma:versionID="029e64fe54d8b0768025a5c5bf4c8114">
  <xsd:schema xmlns:xsd="http://www.w3.org/2001/XMLSchema" xmlns:xs="http://www.w3.org/2001/XMLSchema" xmlns:p="http://schemas.microsoft.com/office/2006/metadata/properties" xmlns:ns2="71b77f45-859e-4a9f-b23d-c4b37bd56895" xmlns:ns3="7a69be49-e63e-4505-90ce-d18b3283f86f" targetNamespace="http://schemas.microsoft.com/office/2006/metadata/properties" ma:root="true" ma:fieldsID="9cb520361c8cb052414c7e9e9ff8c5db" ns2:_="" ns3:_="">
    <xsd:import namespace="71b77f45-859e-4a9f-b23d-c4b37bd56895"/>
    <xsd:import namespace="7a69be49-e63e-4505-90ce-d18b3283f86f"/>
    <xsd:element name="properties">
      <xsd:complexType>
        <xsd:sequence>
          <xsd:element name="documentManagement">
            <xsd:complexType>
              <xsd:all>
                <xsd:element ref="ns2:MediaServiceMetadata" minOccurs="0"/>
                <xsd:element ref="ns2:MediaServiceFastMetadata"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Dat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b77f45-859e-4a9f-b23d-c4b37bd568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029e37f2-6469-464b-a75a-0b705c5d6e29"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Date" ma:index="21" nillable="true" ma:displayName="Date" ma:default="[today]" ma:format="DateTime" ma:internalName="Date">
      <xsd:simpleType>
        <xsd:restriction base="dms:DateTime"/>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a69be49-e63e-4505-90ce-d18b3283f86f"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64030f8d-2af3-4553-87be-e676b21abbb9}" ma:internalName="TaxCatchAll" ma:showField="CatchAllData" ma:web="7a69be49-e63e-4505-90ce-d18b3283f86f">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EFB6A2-813E-48AD-95C9-9D2DDAE6CAB9}">
  <ds:schemaRefs>
    <ds:schemaRef ds:uri="http://schemas.microsoft.com/office/2006/metadata/properties"/>
    <ds:schemaRef ds:uri="http://schemas.microsoft.com/office/infopath/2007/PartnerControls"/>
    <ds:schemaRef ds:uri="7a69be49-e63e-4505-90ce-d18b3283f86f"/>
    <ds:schemaRef ds:uri="71b77f45-859e-4a9f-b23d-c4b37bd56895"/>
  </ds:schemaRefs>
</ds:datastoreItem>
</file>

<file path=customXml/itemProps2.xml><?xml version="1.0" encoding="utf-8"?>
<ds:datastoreItem xmlns:ds="http://schemas.openxmlformats.org/officeDocument/2006/customXml" ds:itemID="{27BC5B7E-C5E8-4C62-AE9A-6904FD7E2CBC}">
  <ds:schemaRefs>
    <ds:schemaRef ds:uri="http://schemas.microsoft.com/sharepoint/v3/contenttype/forms"/>
  </ds:schemaRefs>
</ds:datastoreItem>
</file>

<file path=customXml/itemProps3.xml><?xml version="1.0" encoding="utf-8"?>
<ds:datastoreItem xmlns:ds="http://schemas.openxmlformats.org/officeDocument/2006/customXml" ds:itemID="{223577C4-B154-4520-8893-36BA3F7CD2FB}"/>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9</Slides>
  <Notes>9</Notes>
  <HiddenSlides>0</HiddenSlides>
  <ScaleCrop>false</ScaleCrop>
  <HeadingPairs>
    <vt:vector size="4" baseType="variant">
      <vt:variant>
        <vt:lpstr>Theme</vt:lpstr>
      </vt:variant>
      <vt:variant>
        <vt:i4>2</vt:i4>
      </vt:variant>
      <vt:variant>
        <vt:lpstr>Slide Titles</vt:lpstr>
      </vt:variant>
      <vt:variant>
        <vt:i4>9</vt:i4>
      </vt:variant>
    </vt:vector>
  </HeadingPairs>
  <TitlesOfParts>
    <vt:vector size="11" baseType="lpstr">
      <vt:lpstr>5_Template Europe Ops and IT - Cover 1 - Agenda Thinkcell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revision>1</cp:revision>
  <dcterms:modified xsi:type="dcterms:W3CDTF">2024-04-23T04:40:24Z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0x010100FA86F4A466F26046961D2FEADA0F794E</vt:lpwstr>
  </property>
  <property fmtid="{D5CDD505-2E9C-101B-9397-08002B2CF9AE}" pid="3" name="MSIP_Label_2e9a4386-74b9-4603-ae20-950a659f9b6e_Enabled">
    <vt:lpwstr>true</vt:lpwstr>
  </property>
  <property fmtid="{D5CDD505-2E9C-101B-9397-08002B2CF9AE}" pid="4" name="MSIP_Label_2e9a4386-74b9-4603-ae20-950a659f9b6e_SetDate">
    <vt:lpwstr>2024-04-23T04:40:24Z</vt:lpwstr>
  </property>
  <property fmtid="{D5CDD505-2E9C-101B-9397-08002B2CF9AE}" pid="5" name="MSIP_Label_2e9a4386-74b9-4603-ae20-950a659f9b6e_Method">
    <vt:lpwstr>Standard</vt:lpwstr>
  </property>
  <property fmtid="{D5CDD505-2E9C-101B-9397-08002B2CF9AE}" pid="6" name="MSIP_Label_2e9a4386-74b9-4603-ae20-950a659f9b6e_Name">
    <vt:lpwstr>Internal Use Only</vt:lpwstr>
  </property>
  <property fmtid="{D5CDD505-2E9C-101B-9397-08002B2CF9AE}" pid="7" name="MSIP_Label_2e9a4386-74b9-4603-ae20-950a659f9b6e_SiteId">
    <vt:lpwstr>c7d1a8f7-0546-4a0c-8cf5-3ddaebf97d51</vt:lpwstr>
  </property>
  <property fmtid="{D5CDD505-2E9C-101B-9397-08002B2CF9AE}" pid="8" name="MSIP_Label_2e9a4386-74b9-4603-ae20-950a659f9b6e_ActionId">
    <vt:lpwstr>e7aa777c-d390-4751-9a54-b4604babae91</vt:lpwstr>
  </property>
  <property fmtid="{D5CDD505-2E9C-101B-9397-08002B2CF9AE}" pid="9" name="MSIP_Label_2e9a4386-74b9-4603-ae20-950a659f9b6e_ContentBits">
    <vt:lpwstr>0</vt:lpwstr>
  </property>
  <property fmtid="{D5CDD505-2E9C-101B-9397-08002B2CF9AE}" pid="10" name="MediaServiceImageTags">
    <vt:lpwstr/>
  </property>
</Properties>
</file>
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EBBDA-6D9D-5E31-0551-23B9CFF93930}" v="11" dt="2024-04-03T12:17:07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CHAMFONG LIONEL" userId="S::tchamfl@ext.essilor.com::7ba41266-02c5-4eb4-be69-a4bf1727da15" providerId="AD" clId="Web-{73BEBBDA-6D9D-5E31-0551-23B9CFF93930}"/>
    <pc:docChg chg="modSld">
      <pc:chgData name="TCHAMFONG LIONEL" userId="S::tchamfl@ext.essilor.com::7ba41266-02c5-4eb4-be69-a4bf1727da15" providerId="AD" clId="Web-{73BEBBDA-6D9D-5E31-0551-23B9CFF93930}" dt="2024-04-03T12:17:04.398" v="1" actId="1076"/>
      <pc:docMkLst>
        <pc:docMk/>
      </pc:docMkLst>
      <pc:sldChg chg="modSp">
        <pc:chgData name="TCHAMFONG LIONEL" userId="S::tchamfl@ext.essilor.com::7ba41266-02c5-4eb4-be69-a4bf1727da15" providerId="AD" clId="Web-{73BEBBDA-6D9D-5E31-0551-23B9CFF93930}" dt="2024-04-03T12:17:04.398" v="1" actId="1076"/>
        <pc:sldMkLst>
          <pc:docMk/>
          <pc:sldMk cId="0" sldId="259"/>
        </pc:sldMkLst>
        <pc:spChg chg="mod">
          <ac:chgData name="TCHAMFONG LIONEL" userId="S::tchamfl@ext.essilor.com::7ba41266-02c5-4eb4-be69-a4bf1727da15" providerId="AD" clId="Web-{73BEBBDA-6D9D-5E31-0551-23B9CFF93930}" dt="2024-04-03T12:17:04.398" v="1" actId="1076"/>
          <ac:spMkLst>
            <pc:docMk/>
            <pc:sldMk cId="0" sldId="259"/>
            <ac:spMk id="87" creationId="{00000000-0000-0000-0000-000000000000}"/>
          </ac:spMkLst>
        </pc:spChg>
      </pc:sldChg>
    </pc:docChg>
  </pc:docChgLst>
  <pc:docChgLst>
    <pc:chgData name="DAVIES Jonathan" userId="S::daviesjo@ext.essilor.com::43dbaf28-6021-4daa-92c2-827cfd53e215" providerId="AD" clId="Web-{B873E252-0F7E-3EAF-F640-E5CBC7FD853D}"/>
    <pc:docChg chg="mod">
      <pc:chgData name="DAVIES Jonathan" userId="S::daviesjo@ext.essilor.com::43dbaf28-6021-4daa-92c2-827cfd53e215" providerId="AD" clId="Web-{B873E252-0F7E-3EAF-F640-E5CBC7FD853D}" dt="2023-07-05T08:58:03.823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6335cb2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6335cb2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6335cb2c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6335cb2c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6335cb2c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6335cb2c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11" Type="http://schemas.openxmlformats.org/officeDocument/2006/relationships/hyperlink" Target="mailto:fjeanrob@amazon.com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hyperlink" Target="mailto:tchamfl@ext.essilor.com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EyeCloud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HAMR AA roadmap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October 21th 2021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214050"/>
            <a:ext cx="8737800" cy="1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/>
              <a:t>What is EyeCloud ? --- Viet’s presentation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/>
              <a:t>Objective of the HAMR AA topic: scope and out of scope, Phases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/>
              <a:t>Team</a:t>
            </a:r>
            <a:endParaRPr sz="2300"/>
          </a:p>
        </p:txBody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Objectives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54300" y="1152475"/>
            <a:ext cx="908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Providing to calling systems, “consumers” of EyeCloud’s service, a 2 regions (AWS IE and AWS CA) availability active active service.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Step 1: design (current step from now to end of 2021). Deliverable: design of final architecture + “how to reach it (in detail)” documentation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Step 2: implementation (2022, tbd).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What is allowed: simplify the EyeCloud model/architecture, PAAS.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What is not allowed: unrealistic &amp; inoperable/observable plan → the plan must be feasible and realistic.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Team for </a:t>
            </a:r>
            <a:r>
              <a:rPr lang="fr" dirty="0" err="1"/>
              <a:t>step</a:t>
            </a:r>
            <a:r>
              <a:rPr lang="fr" dirty="0"/>
              <a:t> 1</a:t>
            </a:r>
            <a:endParaRPr dirty="0"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425" y="1823350"/>
            <a:ext cx="1501200" cy="154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2207700" y="3432850"/>
            <a:ext cx="2015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LIONEL </a:t>
            </a:r>
            <a:r>
              <a:rPr lang="fr" sz="1200" dirty="0" err="1"/>
              <a:t>Tchamfong</a:t>
            </a:r>
            <a:r>
              <a:rPr lang="fr" sz="1200" dirty="0"/>
              <a:t> &lt;</a:t>
            </a:r>
            <a:r>
              <a:rPr lang="fr" sz="1200" u="sng" dirty="0">
                <a:solidFill>
                  <a:schemeClr val="hlink"/>
                </a:solidFill>
                <a:hlinkClick r:id="rId4"/>
              </a:rPr>
              <a:t>tchamfl@ext.essilor.com</a:t>
            </a:r>
            <a:r>
              <a:rPr lang="fr" sz="1200" dirty="0"/>
              <a:t>&gt;, Acting as </a:t>
            </a:r>
            <a:r>
              <a:rPr lang="fr" sz="1200" dirty="0" err="1"/>
              <a:t>project</a:t>
            </a:r>
            <a:r>
              <a:rPr lang="fr" sz="1200" dirty="0"/>
              <a:t> manager for </a:t>
            </a:r>
            <a:r>
              <a:rPr lang="fr" sz="1200" dirty="0" err="1"/>
              <a:t>EssilorLuxottica</a:t>
            </a:r>
            <a:r>
              <a:rPr lang="fr" sz="1200" dirty="0"/>
              <a:t> group, France, Créteil</a:t>
            </a:r>
            <a:endParaRPr sz="1200" dirty="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9738" y="4217225"/>
            <a:ext cx="847200" cy="84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543625" y="4271375"/>
            <a:ext cx="328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Françoise Jean, acting as </a:t>
            </a:r>
            <a:r>
              <a:rPr lang="fr" sz="1200" dirty="0" err="1"/>
              <a:t>auditor</a:t>
            </a:r>
            <a:r>
              <a:rPr lang="fr" sz="1200" dirty="0"/>
              <a:t>, </a:t>
            </a:r>
            <a:r>
              <a:rPr lang="fr" sz="1200" dirty="0" err="1"/>
              <a:t>ensure</a:t>
            </a:r>
            <a:r>
              <a:rPr lang="fr" sz="1200" dirty="0"/>
              <a:t> </a:t>
            </a:r>
            <a:r>
              <a:rPr lang="fr" sz="1200" dirty="0" err="1"/>
              <a:t>that</a:t>
            </a:r>
            <a:r>
              <a:rPr lang="fr" sz="1200" dirty="0"/>
              <a:t> the documentation </a:t>
            </a:r>
            <a:r>
              <a:rPr lang="fr" sz="1200" dirty="0" err="1"/>
              <a:t>is</a:t>
            </a:r>
            <a:r>
              <a:rPr lang="fr" sz="1200" dirty="0"/>
              <a:t> </a:t>
            </a:r>
            <a:r>
              <a:rPr lang="fr" sz="1200" dirty="0" err="1"/>
              <a:t>updated</a:t>
            </a:r>
            <a:r>
              <a:rPr lang="fr" sz="1200" dirty="0"/>
              <a:t>, France, Créteil</a:t>
            </a:r>
            <a:endParaRPr sz="1200" dirty="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9738" y="64400"/>
            <a:ext cx="847200" cy="84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543625" y="26300"/>
            <a:ext cx="328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Joseph Nguyen, Acting as AWS </a:t>
            </a:r>
            <a:r>
              <a:rPr lang="fr" sz="1200" dirty="0" err="1"/>
              <a:t>architect</a:t>
            </a:r>
            <a:r>
              <a:rPr lang="fr" sz="1200" dirty="0"/>
              <a:t> for </a:t>
            </a:r>
            <a:r>
              <a:rPr lang="fr" sz="1200" dirty="0" err="1"/>
              <a:t>EssilorLuxottica</a:t>
            </a:r>
            <a:r>
              <a:rPr lang="fr" sz="1200" dirty="0"/>
              <a:t> group, </a:t>
            </a:r>
            <a:r>
              <a:rPr lang="fr" sz="1200" dirty="0" err="1"/>
              <a:t>is</a:t>
            </a:r>
            <a:r>
              <a:rPr lang="fr" sz="1200" dirty="0"/>
              <a:t> the final </a:t>
            </a:r>
            <a:r>
              <a:rPr lang="fr" sz="1200" dirty="0" err="1"/>
              <a:t>evaluator</a:t>
            </a:r>
            <a:r>
              <a:rPr lang="fr" sz="1200" dirty="0"/>
              <a:t> of the </a:t>
            </a:r>
            <a:r>
              <a:rPr lang="fr" sz="1200" dirty="0" err="1"/>
              <a:t>whole</a:t>
            </a:r>
            <a:r>
              <a:rPr lang="fr" sz="1200" dirty="0"/>
              <a:t> architecture, France, Créteil</a:t>
            </a:r>
            <a:endParaRPr sz="1200" dirty="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9738" y="1116875"/>
            <a:ext cx="847200" cy="84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5543625" y="1171025"/>
            <a:ext cx="328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Rashmi Mahadevappa, acting as </a:t>
            </a:r>
            <a:r>
              <a:rPr lang="fr" sz="1200" dirty="0" err="1"/>
              <a:t>EyeCloud</a:t>
            </a:r>
            <a:r>
              <a:rPr lang="fr" sz="1200" dirty="0"/>
              <a:t> </a:t>
            </a:r>
            <a:r>
              <a:rPr lang="fr" sz="1200" dirty="0" err="1"/>
              <a:t>functional</a:t>
            </a:r>
            <a:r>
              <a:rPr lang="fr" sz="1200" dirty="0"/>
              <a:t> </a:t>
            </a:r>
            <a:r>
              <a:rPr lang="fr" sz="1200" dirty="0" err="1"/>
              <a:t>architect</a:t>
            </a:r>
            <a:r>
              <a:rPr lang="fr" sz="1200" dirty="0"/>
              <a:t> and expert of </a:t>
            </a:r>
            <a:r>
              <a:rPr lang="fr" sz="1200" dirty="0" err="1"/>
              <a:t>EyeCoud</a:t>
            </a:r>
            <a:r>
              <a:rPr lang="fr" sz="1200" dirty="0"/>
              <a:t>, </a:t>
            </a:r>
            <a:r>
              <a:rPr lang="fr" sz="1200" dirty="0" err="1"/>
              <a:t>India</a:t>
            </a:r>
            <a:r>
              <a:rPr lang="fr" sz="1200" dirty="0"/>
              <a:t>, Bangalore</a:t>
            </a:r>
            <a:endParaRPr sz="1200" dirty="0"/>
          </a:p>
        </p:txBody>
      </p:sp>
      <p:sp>
        <p:nvSpPr>
          <p:cNvPr id="81" name="Google Shape;81;p16"/>
          <p:cNvSpPr txBox="1"/>
          <p:nvPr/>
        </p:nvSpPr>
        <p:spPr>
          <a:xfrm>
            <a:off x="5543625" y="2224700"/>
            <a:ext cx="328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Marc Besancenot, acting as AWS expert for </a:t>
            </a:r>
            <a:r>
              <a:rPr lang="fr" sz="1200" dirty="0" err="1">
                <a:solidFill>
                  <a:schemeClr val="dk1"/>
                </a:solidFill>
              </a:rPr>
              <a:t>EssilorLuxottica</a:t>
            </a:r>
            <a:r>
              <a:rPr lang="fr" sz="1200" dirty="0">
                <a:solidFill>
                  <a:schemeClr val="dk1"/>
                </a:solidFill>
              </a:rPr>
              <a:t> group, </a:t>
            </a:r>
            <a:r>
              <a:rPr lang="fr" sz="1200" dirty="0" err="1">
                <a:solidFill>
                  <a:schemeClr val="dk1"/>
                </a:solidFill>
              </a:rPr>
              <a:t>provides</a:t>
            </a:r>
            <a:r>
              <a:rPr lang="fr" sz="1200" dirty="0">
                <a:solidFill>
                  <a:schemeClr val="dk1"/>
                </a:solidFill>
              </a:rPr>
              <a:t> AWS</a:t>
            </a:r>
            <a:endParaRPr sz="1200" dirty="0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29738" y="2170550"/>
            <a:ext cx="847200" cy="84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5543625" y="3062900"/>
            <a:ext cx="3288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Jean-Paul Lee, acting as </a:t>
            </a:r>
            <a:r>
              <a:rPr lang="fr" sz="1200" dirty="0" err="1"/>
              <a:t>representative</a:t>
            </a:r>
            <a:r>
              <a:rPr lang="fr" sz="1200" dirty="0"/>
              <a:t> of the Ops/Support team for </a:t>
            </a:r>
            <a:r>
              <a:rPr lang="fr" sz="1200" dirty="0" err="1"/>
              <a:t>EyeCloud</a:t>
            </a:r>
            <a:r>
              <a:rPr lang="fr" sz="1200" dirty="0"/>
              <a:t>, </a:t>
            </a:r>
            <a:r>
              <a:rPr lang="fr" sz="1200" dirty="0" err="1"/>
              <a:t>ensure</a:t>
            </a:r>
            <a:r>
              <a:rPr lang="fr" sz="1200" dirty="0"/>
              <a:t> </a:t>
            </a:r>
            <a:r>
              <a:rPr lang="fr" sz="1200" dirty="0" err="1"/>
              <a:t>that</a:t>
            </a:r>
            <a:r>
              <a:rPr lang="fr" sz="1200" dirty="0"/>
              <a:t> the info </a:t>
            </a:r>
            <a:r>
              <a:rPr lang="fr" sz="1200" dirty="0" err="1"/>
              <a:t>is</a:t>
            </a:r>
            <a:r>
              <a:rPr lang="fr" sz="1200" dirty="0"/>
              <a:t> </a:t>
            </a:r>
            <a:r>
              <a:rPr lang="fr" sz="1200" dirty="0" err="1"/>
              <a:t>shared</a:t>
            </a:r>
            <a:r>
              <a:rPr lang="fr" sz="1200" dirty="0"/>
              <a:t> to Ops/Support team, check </a:t>
            </a:r>
            <a:r>
              <a:rPr lang="fr" sz="1200" dirty="0" err="1"/>
              <a:t>that</a:t>
            </a:r>
            <a:r>
              <a:rPr lang="fr" sz="1200" dirty="0"/>
              <a:t> the solution </a:t>
            </a:r>
            <a:r>
              <a:rPr lang="fr" sz="1200" dirty="0" err="1"/>
              <a:t>proposed</a:t>
            </a:r>
            <a:r>
              <a:rPr lang="fr" sz="1200" dirty="0"/>
              <a:t> </a:t>
            </a:r>
            <a:r>
              <a:rPr lang="fr" sz="1200" dirty="0" err="1"/>
              <a:t>is</a:t>
            </a:r>
            <a:r>
              <a:rPr lang="fr" sz="1200" dirty="0"/>
              <a:t> </a:t>
            </a:r>
            <a:r>
              <a:rPr lang="fr" sz="1200" dirty="0" err="1"/>
              <a:t>operable</a:t>
            </a:r>
            <a:r>
              <a:rPr lang="fr" sz="1200" dirty="0"/>
              <a:t>, once </a:t>
            </a:r>
            <a:r>
              <a:rPr lang="fr" sz="1200" dirty="0" err="1"/>
              <a:t>implemented</a:t>
            </a:r>
            <a:r>
              <a:rPr lang="fr" sz="1200" dirty="0"/>
              <a:t>.</a:t>
            </a:r>
            <a:endParaRPr sz="1200" dirty="0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3888" y="3248038"/>
            <a:ext cx="738900" cy="738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5425" y="1947650"/>
            <a:ext cx="1420800" cy="142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-2100" y="3432850"/>
            <a:ext cx="201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Jean-Robin Foehn &lt;</a:t>
            </a:r>
            <a:r>
              <a:rPr lang="fr" sz="1200" u="sng" dirty="0">
                <a:solidFill>
                  <a:schemeClr val="hlink"/>
                </a:solidFill>
                <a:hlinkClick r:id="rId11"/>
              </a:rPr>
              <a:t>fjeanrob@amazon.com</a:t>
            </a:r>
            <a:r>
              <a:rPr lang="fr" sz="1200" dirty="0"/>
              <a:t>&gt;, Acting as AWS Solutions </a:t>
            </a:r>
            <a:r>
              <a:rPr lang="fr" sz="1200" dirty="0" err="1"/>
              <a:t>architect</a:t>
            </a:r>
            <a:r>
              <a:rPr lang="fr" sz="1200" dirty="0"/>
              <a:t> for AWS.</a:t>
            </a:r>
            <a:endParaRPr sz="1200" dirty="0"/>
          </a:p>
        </p:txBody>
      </p:sp>
      <p:sp>
        <p:nvSpPr>
          <p:cNvPr id="87" name="Google Shape;87;p16"/>
          <p:cNvSpPr/>
          <p:nvPr/>
        </p:nvSpPr>
        <p:spPr>
          <a:xfrm>
            <a:off x="16457" y="8847"/>
            <a:ext cx="8910325" cy="5259625"/>
          </a:xfrm>
          <a:custGeom>
            <a:avLst/>
            <a:gdLst/>
            <a:ahLst/>
            <a:cxnLst/>
            <a:rect l="l" t="t" r="r" b="b"/>
            <a:pathLst>
              <a:path w="356413" h="210385" extrusionOk="0">
                <a:moveTo>
                  <a:pt x="4392" y="104062"/>
                </a:moveTo>
                <a:cubicBezTo>
                  <a:pt x="-9030" y="70513"/>
                  <a:pt x="62273" y="60468"/>
                  <a:pt x="93647" y="42541"/>
                </a:cubicBezTo>
                <a:cubicBezTo>
                  <a:pt x="107695" y="34514"/>
                  <a:pt x="123551" y="30111"/>
                  <a:pt x="138022" y="22875"/>
                </a:cubicBezTo>
                <a:cubicBezTo>
                  <a:pt x="145899" y="18937"/>
                  <a:pt x="154051" y="15558"/>
                  <a:pt x="162227" y="12286"/>
                </a:cubicBezTo>
                <a:cubicBezTo>
                  <a:pt x="166835" y="10442"/>
                  <a:pt x="170522" y="6429"/>
                  <a:pt x="175338" y="5226"/>
                </a:cubicBezTo>
                <a:cubicBezTo>
                  <a:pt x="206659" y="-2600"/>
                  <a:pt x="239935" y="688"/>
                  <a:pt x="272156" y="2705"/>
                </a:cubicBezTo>
                <a:cubicBezTo>
                  <a:pt x="279202" y="3146"/>
                  <a:pt x="286319" y="3486"/>
                  <a:pt x="293335" y="2705"/>
                </a:cubicBezTo>
                <a:cubicBezTo>
                  <a:pt x="301203" y="1830"/>
                  <a:pt x="309686" y="-1750"/>
                  <a:pt x="317036" y="1192"/>
                </a:cubicBezTo>
                <a:cubicBezTo>
                  <a:pt x="324873" y="4329"/>
                  <a:pt x="333367" y="8577"/>
                  <a:pt x="337711" y="15815"/>
                </a:cubicBezTo>
                <a:cubicBezTo>
                  <a:pt x="347870" y="32741"/>
                  <a:pt x="351057" y="53254"/>
                  <a:pt x="353847" y="72797"/>
                </a:cubicBezTo>
                <a:cubicBezTo>
                  <a:pt x="355035" y="81119"/>
                  <a:pt x="351960" y="89719"/>
                  <a:pt x="353343" y="98011"/>
                </a:cubicBezTo>
                <a:cubicBezTo>
                  <a:pt x="356882" y="119236"/>
                  <a:pt x="357399" y="141255"/>
                  <a:pt x="354352" y="162556"/>
                </a:cubicBezTo>
                <a:cubicBezTo>
                  <a:pt x="351857" y="179996"/>
                  <a:pt x="345069" y="203603"/>
                  <a:pt x="328130" y="208445"/>
                </a:cubicBezTo>
                <a:cubicBezTo>
                  <a:pt x="300414" y="216367"/>
                  <a:pt x="270039" y="195632"/>
                  <a:pt x="241900" y="201889"/>
                </a:cubicBezTo>
                <a:cubicBezTo>
                  <a:pt x="225753" y="205479"/>
                  <a:pt x="208858" y="204084"/>
                  <a:pt x="192483" y="206427"/>
                </a:cubicBezTo>
                <a:cubicBezTo>
                  <a:pt x="176163" y="208762"/>
                  <a:pt x="159450" y="210268"/>
                  <a:pt x="143065" y="208445"/>
                </a:cubicBezTo>
                <a:cubicBezTo>
                  <a:pt x="131109" y="207114"/>
                  <a:pt x="120136" y="200842"/>
                  <a:pt x="108270" y="198864"/>
                </a:cubicBezTo>
                <a:cubicBezTo>
                  <a:pt x="85872" y="195130"/>
                  <a:pt x="63173" y="190955"/>
                  <a:pt x="42212" y="182223"/>
                </a:cubicBezTo>
                <a:cubicBezTo>
                  <a:pt x="32372" y="178124"/>
                  <a:pt x="26137" y="168041"/>
                  <a:pt x="16998" y="162556"/>
                </a:cubicBezTo>
                <a:cubicBezTo>
                  <a:pt x="12227" y="159692"/>
                  <a:pt x="3938" y="160663"/>
                  <a:pt x="1870" y="155497"/>
                </a:cubicBezTo>
                <a:cubicBezTo>
                  <a:pt x="-1378" y="147382"/>
                  <a:pt x="434" y="137897"/>
                  <a:pt x="1870" y="129275"/>
                </a:cubicBezTo>
                <a:cubicBezTo>
                  <a:pt x="3446" y="119811"/>
                  <a:pt x="-908" y="109113"/>
                  <a:pt x="3383" y="100532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88" name="Google Shape;88;p16"/>
          <p:cNvSpPr txBox="1"/>
          <p:nvPr/>
        </p:nvSpPr>
        <p:spPr>
          <a:xfrm>
            <a:off x="466625" y="4350100"/>
            <a:ext cx="2015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chemeClr val="accent5"/>
                </a:solidFill>
              </a:rPr>
              <a:t>One team: no 1:1 but collab’, </a:t>
            </a:r>
            <a:r>
              <a:rPr lang="fr" b="1" dirty="0" err="1">
                <a:solidFill>
                  <a:schemeClr val="accent5"/>
                </a:solidFill>
              </a:rPr>
              <a:t>shared</a:t>
            </a:r>
            <a:r>
              <a:rPr lang="fr" b="1" dirty="0">
                <a:solidFill>
                  <a:schemeClr val="accent5"/>
                </a:solidFill>
              </a:rPr>
              <a:t> info </a:t>
            </a:r>
            <a:r>
              <a:rPr lang="fr" b="1" dirty="0" err="1">
                <a:solidFill>
                  <a:schemeClr val="accent5"/>
                </a:solidFill>
              </a:rPr>
              <a:t>within</a:t>
            </a:r>
            <a:r>
              <a:rPr lang="fr" b="1" dirty="0">
                <a:solidFill>
                  <a:schemeClr val="accent5"/>
                </a:solidFill>
              </a:rPr>
              <a:t> team</a:t>
            </a:r>
            <a:endParaRPr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2023-07-05T08:57:57+00:00</Date>
  </documentManagement>
</p:properties>
</file>

<file path=customXml/itemProps1.xml><?xml version="1.0" encoding="utf-8"?>
<ds:datastoreItem xmlns:ds="http://schemas.openxmlformats.org/officeDocument/2006/customXml" ds:itemID="{CFC22005-9A46-4778-88AA-86E1EAFE5E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b77f45-859e-4a9f-b23d-c4b37bd56895"/>
    <ds:schemaRef ds:uri="7a69be49-e63e-4505-90ce-d18b3283f8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1EBE07-6078-454C-98EF-56DA2ED715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875CF9-C3AC-4045-8CBC-73178FC031EF}">
  <ds:schemaRefs>
    <ds:schemaRef ds:uri="http://schemas.microsoft.com/office/2006/metadata/properties"/>
    <ds:schemaRef ds:uri="http://schemas.microsoft.com/office/infopath/2007/PartnerControls"/>
    <ds:schemaRef ds:uri="7a69be49-e63e-4505-90ce-d18b3283f86f"/>
    <ds:schemaRef ds:uri="71b77f45-859e-4a9f-b23d-c4b37bd5689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4</Slides>
  <Notes>4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Simple Light</vt:lpstr>
      <vt:lpstr>EyeCloud HAMR AA roadmap</vt:lpstr>
      <vt:lpstr>What is EyeCloud ? --- Viet’s presentation Objective of the HAMR AA topic: scope and out of scope, Phases Team</vt:lpstr>
      <vt:lpstr>Objectives</vt:lpstr>
      <vt:lpstr>Team for step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EyeCloud HAMR AA roadmap</dc:title>
  <cp:revision>3</cp:revision>
  <dcterms:modified xsi:type="dcterms:W3CDTF">2024-04-03T12:17:11Z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2023-07-05T08:58:03Z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6cf3f335-0987-4afb-979b-ccea8dc54d46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
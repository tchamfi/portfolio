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0399" y="1323082"/>
            <a:ext cx="1803053" cy="906661"/>
          </a:xfrm>
          <a:prstGeom prst="roundRect">
            <a:avLst>
              <a:gd name="adj" fmla="val 126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56149" y="1513582"/>
            <a:ext cx="125618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epsa</a:t>
            </a:r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956149" y="1905893"/>
            <a:ext cx="12561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</a:t>
            </a:r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EFFICIENCY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54060" y="2763143"/>
            <a:ext cx="40358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spcAft>
                <a:spcPts val="1125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Data Platform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4188543" y="3458468"/>
            <a:ext cx="766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74955" y="4697760"/>
            <a:ext cx="7066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56221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11658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38175" y="325636"/>
            <a:ext cx="11400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6250" y="2154436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936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2025" y="2219176"/>
            <a:ext cx="10281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Identity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250" y="2687836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936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2025" y="2752576"/>
            <a:ext cx="15121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250" y="3221236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936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62025" y="3285976"/>
            <a:ext cx="234993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Processes &amp; Use Cases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50" y="3754636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936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2025" y="3819376"/>
            <a:ext cx="11058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62500" y="2687836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D4A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48275" y="2752576"/>
            <a:ext cx="129610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Capabilities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2500" y="3221236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D4A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48275" y="3285976"/>
            <a:ext cx="17194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3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54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887577" y="2075557"/>
            <a:ext cx="3368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Identity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804173" y="2828032"/>
            <a:ext cx="15355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125"/>
              </a:spcBef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Mission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69498" y="3813870"/>
            <a:ext cx="20706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294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1035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5376" y="327571"/>
            <a:ext cx="45476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Data Platform - Project Identity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81000" y="2019300"/>
            <a:ext cx="2514600" cy="6438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2024063"/>
            <a:ext cx="25146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90837" y="2019300"/>
            <a:ext cx="0" cy="64383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1000" y="2658368"/>
            <a:ext cx="25146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" y="2019300"/>
            <a:ext cx="0" cy="643830"/>
          </a:xfrm>
          <a:prstGeom prst="line">
            <a:avLst/>
          </a:prstGeom>
          <a:noFill/>
          <a:ln w="38100">
            <a:solidFill>
              <a:srgbClr val="2936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2450" y="2162175"/>
            <a:ext cx="22442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52450" y="2333625"/>
            <a:ext cx="224428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Yann DANOU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2777430"/>
            <a:ext cx="2514600" cy="6438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81000" y="2782193"/>
            <a:ext cx="25146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90837" y="2777430"/>
            <a:ext cx="0" cy="64383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1000" y="3416498"/>
            <a:ext cx="25146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0050" y="2777430"/>
            <a:ext cx="0" cy="643830"/>
          </a:xfrm>
          <a:prstGeom prst="line">
            <a:avLst/>
          </a:prstGeom>
          <a:noFill/>
          <a:ln w="38100">
            <a:solidFill>
              <a:srgbClr val="2936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450" y="2920305"/>
            <a:ext cx="22442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TEAM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52450" y="3091755"/>
            <a:ext cx="224428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dedicated people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1000" y="3535561"/>
            <a:ext cx="2514600" cy="6438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81000" y="3540323"/>
            <a:ext cx="25146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90837" y="3535561"/>
            <a:ext cx="0" cy="64383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1000" y="4174629"/>
            <a:ext cx="25146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" y="3535561"/>
            <a:ext cx="0" cy="643830"/>
          </a:xfrm>
          <a:prstGeom prst="line">
            <a:avLst/>
          </a:prstGeom>
          <a:noFill/>
          <a:ln w="38100">
            <a:solidFill>
              <a:srgbClr val="D4A5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2450" y="3678436"/>
            <a:ext cx="22442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52450" y="3849886"/>
            <a:ext cx="224428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Alexis KOUADIO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33725" y="1793677"/>
            <a:ext cx="5629275" cy="85144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276600" y="1936552"/>
            <a:ext cx="54503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06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3276600" y="2159347"/>
            <a:ext cx="54503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EPSA Group needs a centralized tool to master and leverage customer data from multiple CRM systems across all entities worldwide.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33725" y="2759422"/>
            <a:ext cx="5629275" cy="832396"/>
          </a:xfrm>
          <a:prstGeom prst="rect">
            <a:avLst/>
          </a:prstGeom>
          <a:solidFill>
            <a:srgbClr val="2936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67075" y="2892772"/>
            <a:ext cx="54698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267075" y="3115568"/>
            <a:ext cx="54698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GDP is a central Data Hub providing a 360° view of customers. It centralizes and ensures data reliability from various CRMs across the organization.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133725" y="3706118"/>
            <a:ext cx="1812875" cy="69904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241898" y="3829943"/>
            <a:ext cx="159653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06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3241898" y="4161383"/>
            <a:ext cx="15965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CRMs Connected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5041850" y="3706118"/>
            <a:ext cx="1812875" cy="69904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150023" y="3829943"/>
            <a:ext cx="159653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06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5150023" y="4161383"/>
            <a:ext cx="15965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View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6949976" y="3706118"/>
            <a:ext cx="1812875" cy="69904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058149" y="3829943"/>
            <a:ext cx="159653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06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Xsell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7058149" y="4161383"/>
            <a:ext cx="15965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Cross-selling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294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1035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5376" y="327571"/>
            <a:ext cx="48146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Pillars of the Global Data Platform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81000" y="1646486"/>
            <a:ext cx="2698700" cy="10284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665536"/>
            <a:ext cx="2698700" cy="0"/>
          </a:xfrm>
          <a:prstGeom prst="line">
            <a:avLst/>
          </a:prstGeom>
          <a:noFill/>
          <a:ln w="38100">
            <a:solidFill>
              <a:srgbClr val="2936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74938" y="1646486"/>
            <a:ext cx="0" cy="1028402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1000" y="2670125"/>
            <a:ext cx="26987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5763" y="1646486"/>
            <a:ext cx="0" cy="1028402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1827461"/>
            <a:ext cx="2441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Heterogeneous Data Sources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33400" y="2229296"/>
            <a:ext cx="244177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Centralization and reliability of data from Group CRMs and Data Brokers.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222575" y="1646486"/>
            <a:ext cx="2698700" cy="10284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22575" y="1665536"/>
            <a:ext cx="2698700" cy="0"/>
          </a:xfrm>
          <a:prstGeom prst="line">
            <a:avLst/>
          </a:prstGeom>
          <a:noFill/>
          <a:ln w="38100">
            <a:solidFill>
              <a:srgbClr val="0069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16513" y="1646486"/>
            <a:ext cx="0" cy="1028402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2575" y="2670125"/>
            <a:ext cx="26987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27338" y="1646486"/>
            <a:ext cx="0" cy="1028402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4975" y="1827461"/>
            <a:ext cx="2441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State-of-the-Art Platform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374975" y="2229296"/>
            <a:ext cx="244177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Innovative, scalable and robust Data platform ensuring security, auditability and governance.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064151" y="1646486"/>
            <a:ext cx="2698700" cy="10284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64151" y="1665536"/>
            <a:ext cx="2698700" cy="0"/>
          </a:xfrm>
          <a:prstGeom prst="line">
            <a:avLst/>
          </a:prstGeom>
          <a:noFill/>
          <a:ln w="38100">
            <a:solidFill>
              <a:srgbClr val="D4A5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58089" y="1646486"/>
            <a:ext cx="0" cy="1028402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64151" y="2670125"/>
            <a:ext cx="26987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68913" y="1646486"/>
            <a:ext cx="0" cy="1028402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6551" y="1827461"/>
            <a:ext cx="2441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Base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216551" y="2229296"/>
            <a:ext cx="244177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user experience: Xsell, Corporate 360, Targeting, and more use cases.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81000" y="3597325"/>
            <a:ext cx="4119562" cy="88180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81000" y="3616375"/>
            <a:ext cx="4119562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95800" y="3597325"/>
            <a:ext cx="0" cy="881807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1000" y="4474369"/>
            <a:ext cx="4119562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5763" y="3597325"/>
            <a:ext cx="0" cy="881807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400" y="3778300"/>
            <a:ext cx="38910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KPIs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533400" y="4180136"/>
            <a:ext cx="38910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and dashboards to provide key performance indicators for steering.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643438" y="3597325"/>
            <a:ext cx="4119562" cy="88180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43438" y="3616375"/>
            <a:ext cx="4119562" cy="0"/>
          </a:xfrm>
          <a:prstGeom prst="line">
            <a:avLst/>
          </a:prstGeom>
          <a:noFill/>
          <a:ln w="38100">
            <a:solidFill>
              <a:srgbClr val="2936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58237" y="3597325"/>
            <a:ext cx="0" cy="881807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43438" y="4474369"/>
            <a:ext cx="4119562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48200" y="3597325"/>
            <a:ext cx="0" cy="881807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5838" y="3778300"/>
            <a:ext cx="38910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4795838" y="4180136"/>
            <a:ext cx="38910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Committees and financial steering of the program with clear ownership.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3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54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084073" y="2075557"/>
            <a:ext cx="4975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6213" y="2828032"/>
            <a:ext cx="273157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125"/>
              </a:spcBef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 &amp; Medallion Architecture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69498" y="3813870"/>
            <a:ext cx="20706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294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1035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5376" y="327571"/>
            <a:ext cx="26814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62560" y="2145209"/>
            <a:ext cx="1880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476649"/>
            <a:ext cx="1843980" cy="337096"/>
          </a:xfrm>
          <a:prstGeom prst="roundRect">
            <a:avLst>
              <a:gd name="adj" fmla="val 16954"/>
            </a:avLst>
          </a:prstGeom>
          <a:solidFill>
            <a:srgbClr val="0069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9715" y="2571899"/>
            <a:ext cx="1686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889945"/>
            <a:ext cx="1843980" cy="337096"/>
          </a:xfrm>
          <a:prstGeom prst="roundRect">
            <a:avLst>
              <a:gd name="adj" fmla="val 16954"/>
            </a:avLst>
          </a:prstGeom>
          <a:solidFill>
            <a:srgbClr val="0069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9715" y="2985195"/>
            <a:ext cx="1686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3303240"/>
            <a:ext cx="1843980" cy="337096"/>
          </a:xfrm>
          <a:prstGeom prst="roundRect">
            <a:avLst>
              <a:gd name="adj" fmla="val 16954"/>
            </a:avLst>
          </a:prstGeom>
          <a:solidFill>
            <a:srgbClr val="0069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9715" y="3398490"/>
            <a:ext cx="1686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716536"/>
            <a:ext cx="1843980" cy="337096"/>
          </a:xfrm>
          <a:prstGeom prst="roundRect">
            <a:avLst>
              <a:gd name="adj" fmla="val 16954"/>
            </a:avLst>
          </a:prstGeom>
          <a:solidFill>
            <a:srgbClr val="703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9715" y="3811786"/>
            <a:ext cx="1686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Brokers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415480" y="2912715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872680" y="2286893"/>
            <a:ext cx="3398639" cy="1624905"/>
          </a:xfrm>
          <a:prstGeom prst="roundRect">
            <a:avLst>
              <a:gd name="adj" fmla="val 5862"/>
            </a:avLst>
          </a:prstGeom>
          <a:solidFill>
            <a:srgbClr val="2936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033004" y="2477393"/>
            <a:ext cx="30779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125"/>
              </a:spcAft>
              <a:buNone/>
            </a:pPr>
            <a:r>
              <a:rPr lang="en-US" sz="105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DATA PLATFORM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63180" y="2959298"/>
            <a:ext cx="942380" cy="361950"/>
          </a:xfrm>
          <a:prstGeom prst="roundRect">
            <a:avLst>
              <a:gd name="adj" fmla="val 1578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170343" y="3073598"/>
            <a:ext cx="728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00810" y="2959298"/>
            <a:ext cx="942380" cy="361950"/>
          </a:xfrm>
          <a:prstGeom prst="roundRect">
            <a:avLst>
              <a:gd name="adj" fmla="val 1578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207972" y="3073598"/>
            <a:ext cx="728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38440" y="2959298"/>
            <a:ext cx="942380" cy="361950"/>
          </a:xfrm>
          <a:prstGeom prst="roundRect">
            <a:avLst>
              <a:gd name="adj" fmla="val 1578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45602" y="3073598"/>
            <a:ext cx="728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033004" y="3587948"/>
            <a:ext cx="30779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9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 Architecture (Bronze → Silver → Gold)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461820" y="2912715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900580" y="2351782"/>
            <a:ext cx="1880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END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19020" y="2683222"/>
            <a:ext cx="1843980" cy="337096"/>
          </a:xfrm>
          <a:prstGeom prst="roundRect">
            <a:avLst>
              <a:gd name="adj" fmla="val 16954"/>
            </a:avLst>
          </a:prstGeom>
          <a:solidFill>
            <a:srgbClr val="D4A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97735" y="2778472"/>
            <a:ext cx="1686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 View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919020" y="3096518"/>
            <a:ext cx="1843980" cy="337096"/>
          </a:xfrm>
          <a:prstGeom prst="roundRect">
            <a:avLst>
              <a:gd name="adj" fmla="val 16954"/>
            </a:avLst>
          </a:prstGeom>
          <a:solidFill>
            <a:srgbClr val="D4A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997735" y="3191768"/>
            <a:ext cx="1686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Xsell Module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919020" y="3509814"/>
            <a:ext cx="1843980" cy="337096"/>
          </a:xfrm>
          <a:prstGeom prst="roundRect">
            <a:avLst>
              <a:gd name="adj" fmla="val 16954"/>
            </a:avLst>
          </a:prstGeom>
          <a:solidFill>
            <a:srgbClr val="D4A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97735" y="3605064"/>
            <a:ext cx="1686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294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1035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5376" y="327571"/>
            <a:ext cx="2713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 Architecture</a:t>
            </a:r>
            <a:endParaRPr lang="en-US" sz="1950" dirty="0"/>
          </a:p>
        </p:txBody>
      </p:sp>
      <p:pic>
        <p:nvPicPr>
          <p:cNvPr id="5" name="Image 0" descr="/tmp/rasterized-gradient-b86cb4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341090"/>
            <a:ext cx="2298650" cy="35166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2323" y="1531590"/>
            <a:ext cx="195600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52323" y="2005905"/>
            <a:ext cx="195600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75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71500" y="2541091"/>
            <a:ext cx="1917650" cy="2126159"/>
          </a:xfrm>
          <a:prstGeom prst="roundRect">
            <a:avLst>
              <a:gd name="adj" fmla="val 2980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85800" y="2655391"/>
            <a:ext cx="17228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685800" y="2878187"/>
            <a:ext cx="17228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ingested as-is from source systems. No transformation applied.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917775" y="2912715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pic>
        <p:nvPicPr>
          <p:cNvPr id="12" name="Image 1" descr="/tmp/rasterized-gradient-66481db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600" y="1341090"/>
            <a:ext cx="2298650" cy="35166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924" y="1531590"/>
            <a:ext cx="195600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593924" y="2005905"/>
            <a:ext cx="195600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75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13100" y="2541091"/>
            <a:ext cx="1917650" cy="2126159"/>
          </a:xfrm>
          <a:prstGeom prst="roundRect">
            <a:avLst>
              <a:gd name="adj" fmla="val 298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727400" y="2655391"/>
            <a:ext cx="17228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Cleansed Data</a:t>
            </a:r>
            <a:endParaRPr lang="en-US" sz="825" dirty="0"/>
          </a:p>
        </p:txBody>
      </p:sp>
      <p:sp>
        <p:nvSpPr>
          <p:cNvPr id="17" name="Text 13"/>
          <p:cNvSpPr/>
          <p:nvPr/>
        </p:nvSpPr>
        <p:spPr>
          <a:xfrm>
            <a:off x="3727400" y="2878187"/>
            <a:ext cx="17228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cleaned, deduplicated, and validated. Business rules applied.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959376" y="2912715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pic>
        <p:nvPicPr>
          <p:cNvPr id="19" name="Image 2" descr="/tmp/rasterized-gradient-36c1b2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201" y="1341090"/>
            <a:ext cx="2298650" cy="35166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35524" y="1531590"/>
            <a:ext cx="195600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635524" y="2005905"/>
            <a:ext cx="195600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75"/>
              </a:spcBef>
              <a:buNone/>
            </a:pPr>
            <a:r>
              <a:rPr lang="en-US" sz="13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654701" y="2541091"/>
            <a:ext cx="1917650" cy="2126159"/>
          </a:xfrm>
          <a:prstGeom prst="roundRect">
            <a:avLst>
              <a:gd name="adj" fmla="val 2980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769001" y="2655391"/>
            <a:ext cx="17228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Business-Ready</a:t>
            </a:r>
            <a:endParaRPr lang="en-US" sz="825" dirty="0"/>
          </a:p>
        </p:txBody>
      </p:sp>
      <p:sp>
        <p:nvSpPr>
          <p:cNvPr id="24" name="Text 19"/>
          <p:cNvSpPr/>
          <p:nvPr/>
        </p:nvSpPr>
        <p:spPr>
          <a:xfrm>
            <a:off x="6769001" y="2878187"/>
            <a:ext cx="17228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Enriched, aggregated data ready for analytics and business use cases.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3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54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303584" y="2075557"/>
            <a:ext cx="4536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Processes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465496" y="2828032"/>
            <a:ext cx="221300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125"/>
              </a:spcBef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&amp; Value Creation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69498" y="3813870"/>
            <a:ext cx="20706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294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1035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5376" y="327571"/>
            <a:ext cx="35132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Acquisition Funnel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354634" y="2310854"/>
            <a:ext cx="1714500" cy="860971"/>
          </a:xfrm>
          <a:prstGeom prst="rect">
            <a:avLst/>
          </a:prstGeom>
          <a:solidFill>
            <a:srgbClr val="BBD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35634" y="2548979"/>
            <a:ext cx="9715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5634" y="2800350"/>
            <a:ext cx="971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contact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878634" y="2310854"/>
            <a:ext cx="1714500" cy="860971"/>
          </a:xfrm>
          <a:prstGeom prst="rect">
            <a:avLst/>
          </a:prstGeom>
          <a:solidFill>
            <a:srgbClr val="0069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59634" y="2548979"/>
            <a:ext cx="9715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59634" y="2800350"/>
            <a:ext cx="971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402634" y="2310854"/>
            <a:ext cx="1862733" cy="860971"/>
          </a:xfrm>
          <a:prstGeom prst="rect">
            <a:avLst/>
          </a:prstGeom>
          <a:solidFill>
            <a:srgbClr val="D4A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83634" y="2548979"/>
            <a:ext cx="112274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3634" y="2800350"/>
            <a:ext cx="1122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potential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074866" y="2310854"/>
            <a:ext cx="1714500" cy="860971"/>
          </a:xfrm>
          <a:prstGeom prst="rect">
            <a:avLst/>
          </a:prstGeom>
          <a:solidFill>
            <a:srgbClr val="2936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55866" y="2548979"/>
            <a:ext cx="9715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55866" y="2800350"/>
            <a:ext cx="971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deal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91490" y="3705225"/>
            <a:ext cx="816102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GDP consolidates data at each stage of the funnel, enabling tracking and optimization of conversion rates across all EPSA entities.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294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1035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5376" y="327571"/>
            <a:ext cx="24129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 Customer View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000500" y="2177355"/>
            <a:ext cx="1143000" cy="1143000"/>
          </a:xfrm>
          <a:prstGeom prst="roundRect">
            <a:avLst>
              <a:gd name="adj" fmla="val 80000"/>
            </a:avLst>
          </a:prstGeom>
          <a:solidFill>
            <a:srgbClr val="2936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30784" y="2512665"/>
            <a:ext cx="48228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30784" y="2851696"/>
            <a:ext cx="4822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204990" y="1341090"/>
            <a:ext cx="734020" cy="337096"/>
          </a:xfrm>
          <a:prstGeom prst="roundRect">
            <a:avLst>
              <a:gd name="adj" fmla="val 22605"/>
            </a:avLst>
          </a:prstGeom>
          <a:solidFill>
            <a:srgbClr val="0069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43382" y="1436340"/>
            <a:ext cx="457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313908" y="1817340"/>
            <a:ext cx="972592" cy="337096"/>
          </a:xfrm>
          <a:prstGeom prst="roundRect">
            <a:avLst>
              <a:gd name="adj" fmla="val 22605"/>
            </a:avLst>
          </a:prstGeom>
          <a:solidFill>
            <a:srgbClr val="0069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49915" y="1912590"/>
            <a:ext cx="7005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511701" y="3343424"/>
            <a:ext cx="774799" cy="337096"/>
          </a:xfrm>
          <a:prstGeom prst="roundRect">
            <a:avLst>
              <a:gd name="adj" fmla="val 22605"/>
            </a:avLst>
          </a:prstGeom>
          <a:solidFill>
            <a:srgbClr val="D4A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49685" y="3438674"/>
            <a:ext cx="4988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210720" y="3819674"/>
            <a:ext cx="722561" cy="337096"/>
          </a:xfrm>
          <a:prstGeom prst="roundRect">
            <a:avLst>
              <a:gd name="adj" fmla="val 22605"/>
            </a:avLst>
          </a:prstGeom>
          <a:solidFill>
            <a:srgbClr val="D4A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49227" y="3914924"/>
            <a:ext cx="4455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857500" y="3343424"/>
            <a:ext cx="879723" cy="337096"/>
          </a:xfrm>
          <a:prstGeom prst="roundRect">
            <a:avLst>
              <a:gd name="adj" fmla="val 22605"/>
            </a:avLst>
          </a:prstGeom>
          <a:solidFill>
            <a:srgbClr val="703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94435" y="3438674"/>
            <a:ext cx="6058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857500" y="1817340"/>
            <a:ext cx="908745" cy="337096"/>
          </a:xfrm>
          <a:prstGeom prst="roundRect">
            <a:avLst>
              <a:gd name="adj" fmla="val 22605"/>
            </a:avLst>
          </a:prstGeom>
          <a:solidFill>
            <a:srgbClr val="703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994145" y="1912590"/>
            <a:ext cx="6354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CRM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657350" y="4499670"/>
            <a:ext cx="58293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view of all customer data across multiple CRMs, enabling better decision-making and cross-entity collaboration.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294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1035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5376" y="327571"/>
            <a:ext cx="341074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Cross-Selling Module (Xsell)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257300" y="2006947"/>
            <a:ext cx="1714500" cy="1234380"/>
          </a:xfrm>
          <a:prstGeom prst="roundRect">
            <a:avLst>
              <a:gd name="adj" fmla="val 7716"/>
            </a:avLst>
          </a:prstGeom>
          <a:solidFill>
            <a:srgbClr val="0069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34465" y="2197447"/>
            <a:ext cx="13601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34465" y="2612678"/>
            <a:ext cx="1360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a lead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34465" y="2917478"/>
            <a:ext cx="1360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another BU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162300" y="2437507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619500" y="1892647"/>
            <a:ext cx="1905000" cy="1462832"/>
          </a:xfrm>
          <a:prstGeom prst="roundRect">
            <a:avLst>
              <a:gd name="adj" fmla="val 6511"/>
            </a:avLst>
          </a:prstGeom>
          <a:solidFill>
            <a:srgbClr val="2936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94760" y="2083147"/>
            <a:ext cx="15544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94760" y="2498378"/>
            <a:ext cx="1554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Xsell Hub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0" y="2892623"/>
            <a:ext cx="1524000" cy="272355"/>
          </a:xfrm>
          <a:prstGeom prst="roundRect">
            <a:avLst>
              <a:gd name="adj" fmla="val 2098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72484" y="2968823"/>
            <a:ext cx="13990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&amp; Tracking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5715000" y="2437507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172200" y="2006947"/>
            <a:ext cx="1714500" cy="1234380"/>
          </a:xfrm>
          <a:prstGeom prst="roundRect">
            <a:avLst>
              <a:gd name="adj" fmla="val 7716"/>
            </a:avLst>
          </a:prstGeom>
          <a:solidFill>
            <a:srgbClr val="D4A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49365" y="2197447"/>
            <a:ext cx="13601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B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49365" y="2612678"/>
            <a:ext cx="1360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and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349365" y="2917478"/>
            <a:ext cx="1360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the lead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6250" y="4145310"/>
            <a:ext cx="2635300" cy="7124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6250" y="4150072"/>
            <a:ext cx="26353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6787" y="4145310"/>
            <a:ext cx="0" cy="71244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6250" y="4852988"/>
            <a:ext cx="26353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5300" y="4145310"/>
            <a:ext cx="0" cy="712440"/>
          </a:xfrm>
          <a:prstGeom prst="line">
            <a:avLst/>
          </a:prstGeom>
          <a:noFill/>
          <a:ln w="38100">
            <a:solidFill>
              <a:srgbClr val="0069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650" y="4269135"/>
            <a:ext cx="24062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Leads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8650" y="4467225"/>
            <a:ext cx="2406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lead generation through cross-entity collaboration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54425" y="4211985"/>
            <a:ext cx="2635300" cy="5790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254425" y="4216747"/>
            <a:ext cx="26353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84962" y="4211985"/>
            <a:ext cx="0" cy="57909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54425" y="4786313"/>
            <a:ext cx="26353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73475" y="4211985"/>
            <a:ext cx="0" cy="579090"/>
          </a:xfrm>
          <a:prstGeom prst="line">
            <a:avLst/>
          </a:prstGeom>
          <a:noFill/>
          <a:ln w="38100">
            <a:solidFill>
              <a:srgbClr val="D4A5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6825" y="4335810"/>
            <a:ext cx="24062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06825" y="4533900"/>
            <a:ext cx="24062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revenue from cross-selling opportunities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032599" y="4211985"/>
            <a:ext cx="2635300" cy="5790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032599" y="4216747"/>
            <a:ext cx="26353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63136" y="4211985"/>
            <a:ext cx="0" cy="57909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2599" y="4786313"/>
            <a:ext cx="26353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51649" y="4211985"/>
            <a:ext cx="0" cy="57909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4999" y="4335810"/>
            <a:ext cx="24062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Traceability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84999" y="4533900"/>
            <a:ext cx="24062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tracking from lead creation to conversion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93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54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774938" y="2075557"/>
            <a:ext cx="35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050767" y="2828032"/>
            <a:ext cx="304231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125"/>
              </a:spcBef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Launch to Data Driven Enterprise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69498" y="3813870"/>
            <a:ext cx="20706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4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294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1035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5376" y="327571"/>
            <a:ext cx="37996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 - Data Strategy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81000" y="3192959"/>
            <a:ext cx="1988344" cy="762000"/>
          </a:xfrm>
          <a:prstGeom prst="roundRect">
            <a:avLst>
              <a:gd name="adj" fmla="val 1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3875" y="3335834"/>
            <a:ext cx="17366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75"/>
              </a:spcAft>
              <a:buNone/>
            </a:pPr>
            <a:r>
              <a:rPr lang="en-US" sz="7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23875" y="3516809"/>
            <a:ext cx="173664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kickoff &amp; Business Case validation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4050209"/>
            <a:ext cx="1988344" cy="607516"/>
          </a:xfrm>
          <a:prstGeom prst="roundRect">
            <a:avLst>
              <a:gd name="adj" fmla="val 12543"/>
            </a:avLst>
          </a:prstGeom>
          <a:solidFill>
            <a:srgbClr val="2936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7703" y="4164509"/>
            <a:ext cx="179493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7703" y="4423470"/>
            <a:ext cx="17949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2512219" y="2811959"/>
            <a:ext cx="1988344" cy="1143000"/>
          </a:xfrm>
          <a:prstGeom prst="roundRect">
            <a:avLst>
              <a:gd name="adj" fmla="val 6667"/>
            </a:avLst>
          </a:prstGeom>
          <a:solidFill>
            <a:srgbClr val="0069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55094" y="2954834"/>
            <a:ext cx="17366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75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55094" y="3135809"/>
            <a:ext cx="17366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Multi-CRM Database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655094" y="3330029"/>
            <a:ext cx="17366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Xsell Business Case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655094" y="3524250"/>
            <a:ext cx="17366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View deployed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512219" y="4050209"/>
            <a:ext cx="1988344" cy="607516"/>
          </a:xfrm>
          <a:prstGeom prst="roundRect">
            <a:avLst>
              <a:gd name="adj" fmla="val 12543"/>
            </a:avLst>
          </a:prstGeom>
          <a:solidFill>
            <a:srgbClr val="0069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08921" y="4164509"/>
            <a:ext cx="179493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608921" y="4423470"/>
            <a:ext cx="17949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643438" y="2526209"/>
            <a:ext cx="1988344" cy="1428750"/>
          </a:xfrm>
          <a:prstGeom prst="roundRect">
            <a:avLst>
              <a:gd name="adj" fmla="val 5333"/>
            </a:avLst>
          </a:prstGeom>
          <a:solidFill>
            <a:srgbClr val="D4A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86313" y="2669084"/>
            <a:ext cx="17366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75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86313" y="2850059"/>
            <a:ext cx="17366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platform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786313" y="3044279"/>
            <a:ext cx="17366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Brokers integration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786313" y="3238500"/>
            <a:ext cx="17366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Rules Engine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786313" y="3432721"/>
            <a:ext cx="17366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new entities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43438" y="4050209"/>
            <a:ext cx="1988344" cy="607516"/>
          </a:xfrm>
          <a:prstGeom prst="roundRect">
            <a:avLst>
              <a:gd name="adj" fmla="val 12543"/>
            </a:avLst>
          </a:prstGeom>
          <a:solidFill>
            <a:srgbClr val="D4A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40140" y="4164509"/>
            <a:ext cx="179493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740140" y="4423470"/>
            <a:ext cx="17949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6774656" y="2240459"/>
            <a:ext cx="1988344" cy="1714500"/>
          </a:xfrm>
          <a:prstGeom prst="roundRect">
            <a:avLst>
              <a:gd name="adj" fmla="val 4444"/>
            </a:avLst>
          </a:prstGeom>
          <a:solidFill>
            <a:srgbClr val="703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917531" y="2383334"/>
            <a:ext cx="17366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75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917531" y="2564309"/>
            <a:ext cx="17366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917531" y="2758529"/>
            <a:ext cx="17366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BI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6917531" y="2952750"/>
            <a:ext cx="17366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integration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6917531" y="3146971"/>
            <a:ext cx="17366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Dashboards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6917531" y="3341191"/>
            <a:ext cx="17366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Data Driven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6774656" y="4050209"/>
            <a:ext cx="1988344" cy="607516"/>
          </a:xfrm>
          <a:prstGeom prst="roundRect">
            <a:avLst>
              <a:gd name="adj" fmla="val 12543"/>
            </a:avLst>
          </a:prstGeom>
          <a:solidFill>
            <a:srgbClr val="703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871359" y="4164509"/>
            <a:ext cx="179493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2027-28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871359" y="4423470"/>
            <a:ext cx="17949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Driven</a:t>
            </a:r>
            <a:endParaRPr lang="en-US" sz="675" dirty="0"/>
          </a:p>
        </p:txBody>
      </p:sp>
      <p:pic>
        <p:nvPicPr>
          <p:cNvPr id="38" name="Image 0" descr="/tmp/rasterized-gradient-64262a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4848225"/>
            <a:ext cx="8382000" cy="571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dp_v3/yann_slide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dp_v3/yann_slid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93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54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472998" y="2075557"/>
            <a:ext cx="419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Capabilities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74222" y="2828032"/>
            <a:ext cx="259555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125"/>
              </a:spcBef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KPIs, Finance, AI &amp; Rules Engine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69498" y="3813870"/>
            <a:ext cx="20706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4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2940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1035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5376" y="327571"/>
            <a:ext cx="36492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Capabilities - Roadmap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81000" y="1856333"/>
            <a:ext cx="4095750" cy="1171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861096"/>
            <a:ext cx="409575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1988" y="1856333"/>
            <a:ext cx="0" cy="1171575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1000" y="3023146"/>
            <a:ext cx="409575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" y="1856333"/>
            <a:ext cx="0" cy="1171575"/>
          </a:xfrm>
          <a:prstGeom prst="line">
            <a:avLst/>
          </a:prstGeom>
          <a:noFill/>
          <a:ln w="38100">
            <a:solidFill>
              <a:srgbClr val="0069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1975" y="2008733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069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62025" y="2067818"/>
            <a:ext cx="1050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Dashboards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1975" y="2561183"/>
            <a:ext cx="383762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performance tracking: conversion rates, pipeline velocity, entity benchmarking, and executive reporting.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3170783"/>
            <a:ext cx="4095750" cy="1171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81000" y="3175546"/>
            <a:ext cx="409575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1988" y="3170783"/>
            <a:ext cx="0" cy="1171575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1000" y="4337596"/>
            <a:ext cx="409575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0050" y="3170783"/>
            <a:ext cx="0" cy="1171575"/>
          </a:xfrm>
          <a:prstGeom prst="line">
            <a:avLst/>
          </a:prstGeom>
          <a:noFill/>
          <a:ln w="38100">
            <a:solidFill>
              <a:srgbClr val="D4A5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1975" y="3323183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D4A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62025" y="3382268"/>
            <a:ext cx="12545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Integration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1975" y="3875633"/>
            <a:ext cx="383762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sales data with financial systems: revenue recognition, forecasting, billing reconciliation, and margin analysis.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67250" y="1856333"/>
            <a:ext cx="4095750" cy="1171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67250" y="1861096"/>
            <a:ext cx="409575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58238" y="1856333"/>
            <a:ext cx="0" cy="1171575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7250" y="3023146"/>
            <a:ext cx="409575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856333"/>
            <a:ext cx="0" cy="1171575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8225" y="2008733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703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48275" y="2067818"/>
            <a:ext cx="146628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Machine Learning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8225" y="2561183"/>
            <a:ext cx="383762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scoring, lead prioritization, churn prediction, and intelligent recommendations for sales teams.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667250" y="3170783"/>
            <a:ext cx="4095750" cy="1171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67250" y="3175546"/>
            <a:ext cx="409575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58238" y="3170783"/>
            <a:ext cx="0" cy="1171575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7250" y="4337596"/>
            <a:ext cx="409575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6300" y="3170783"/>
            <a:ext cx="0" cy="1171575"/>
          </a:xfrm>
          <a:prstGeom prst="line">
            <a:avLst/>
          </a:prstGeom>
          <a:noFill/>
          <a:ln w="38100">
            <a:solidFill>
              <a:srgbClr val="2936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8225" y="3323183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936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48275" y="3382268"/>
            <a:ext cx="86164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93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8225" y="3875633"/>
            <a:ext cx="383762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business rules for data quality, routing logic, deduplication criteria, and automated workflows.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93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D4A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81000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76250" y="61719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6250" y="1694557"/>
            <a:ext cx="40562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DONE: COMPLETED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76250" y="1955453"/>
            <a:ext cx="3976687" cy="1657350"/>
          </a:xfrm>
          <a:prstGeom prst="roundRect">
            <a:avLst>
              <a:gd name="adj" fmla="val 574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8650" y="21078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69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09650" y="2161133"/>
            <a:ext cx="27027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 Data Lake architecture deployed on Azure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8650" y="246980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69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9650" y="2523083"/>
            <a:ext cx="32334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connectors operational (Salesforce, Dynamics, HubSpot)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8650" y="28317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69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09650" y="2885033"/>
            <a:ext cx="13674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Xsell module in production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8650" y="319370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69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09650" y="3246983"/>
            <a:ext cx="15093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 View interface deployed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91063" y="1875532"/>
            <a:ext cx="40562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COMING 2026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91063" y="2136428"/>
            <a:ext cx="3976687" cy="1295400"/>
          </a:xfrm>
          <a:prstGeom prst="roundRect">
            <a:avLst>
              <a:gd name="adj" fmla="val 735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43463" y="228882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4A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24463" y="2342108"/>
            <a:ext cx="1947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20+ new entities (Q1-Q3)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3463" y="265077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4A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24463" y="2704058"/>
            <a:ext cx="18984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Brokers integration (Orbis, etc.)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3463" y="301272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4A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24463" y="3066008"/>
            <a:ext cx="20738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Dashboards &amp; Self-service BI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250" y="4290120"/>
            <a:ext cx="8191500" cy="472380"/>
          </a:xfrm>
          <a:prstGeom prst="roundRect">
            <a:avLst>
              <a:gd name="adj" fmla="val 20164"/>
            </a:avLst>
          </a:prstGeom>
          <a:solidFill>
            <a:srgbClr val="D4A520">
              <a:alpha val="20000"/>
            </a:srgbClr>
          </a:solidFill>
          <a:ln w="9525">
            <a:solidFill>
              <a:srgbClr val="D4A52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7223" y="4432995"/>
            <a:ext cx="78695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2028: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EPSA a </a:t>
            </a:r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4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Driven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enterprise with a unified global customer view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EPSA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Data Platform - EPSA Group</dc:title>
  <dc:subject>PptxGenJS Presentation</dc:subject>
  <dc:creator>EPSA Group IT</dc:creator>
  <cp:lastModifiedBy>EPSA Group IT</cp:lastModifiedBy>
  <cp:revision>1</cp:revision>
  <dcterms:created xsi:type="dcterms:W3CDTF">2026-01-19T11:21:34Z</dcterms:created>
  <dcterms:modified xsi:type="dcterms:W3CDTF">2026-01-19T11:21:34Z</dcterms:modified>
</cp:coreProperties>
</file>
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7e3e0c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857250"/>
            <a:ext cx="409022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HESTIA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71500" y="1352550"/>
            <a:ext cx="4090226" cy="232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3"/>
              </a:lnSpc>
              <a:spcBef>
                <a:spcPts val="600"/>
              </a:spcBef>
              <a:buNone/>
            </a:pPr>
            <a:r>
              <a:rPr lang="en-US" sz="1650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Manuel Utilisateur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571500" y="1642467"/>
            <a:ext cx="816102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450"/>
              </a:spcBef>
              <a:buNone/>
            </a:pPr>
            <a:r>
              <a:rPr lang="en-US" sz="12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Manual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4385518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• Offboarding • Gestion des collaborateurs • Mailing Lists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571500" y="4615904"/>
            <a:ext cx="816102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EPSA Group • 2026</a:t>
            </a:r>
            <a:endParaRPr lang="en-US" sz="825" dirty="0"/>
          </a:p>
        </p:txBody>
      </p:sp>
      <p:pic>
        <p:nvPicPr>
          <p:cNvPr id="9" name="Image 1" descr="/tmp/rasterized-gradient-d363d24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32385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66700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400050"/>
            <a:ext cx="42845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Sommaire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04850"/>
            <a:ext cx="854964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99625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986730"/>
            <a:ext cx="786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Texte en français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457027" y="996255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7C8D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609427" y="986730"/>
            <a:ext cx="502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text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6250" y="23016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8913" y="2354014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914400" y="2301627"/>
            <a:ext cx="106718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914400" y="2484388"/>
            <a:ext cx="1067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(SSO Azure AD)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" y="278338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88913" y="2835771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14400" y="2783384"/>
            <a:ext cx="8672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914400" y="2966145"/>
            <a:ext cx="86726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overview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6250" y="326514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8913" y="3317528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914400" y="3265140"/>
            <a:ext cx="102756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14400" y="3447901"/>
            <a:ext cx="102756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 arrival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476250" y="374689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8913" y="3799284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14400" y="3746897"/>
            <a:ext cx="96244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Offboarding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14400" y="3929658"/>
            <a:ext cx="96244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departure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638675" y="2542431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1338" y="2594818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5076825" y="2542431"/>
            <a:ext cx="16284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collaborateurs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076825" y="2725192"/>
            <a:ext cx="16284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management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638675" y="3024188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51338" y="3076575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5076825" y="3024188"/>
            <a:ext cx="152290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Mailing Lists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076825" y="3206948"/>
            <a:ext cx="15229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 management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38675" y="3505944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51338" y="3558332"/>
            <a:ext cx="81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5076825" y="3505944"/>
            <a:ext cx="9263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et Support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5076825" y="3688705"/>
            <a:ext cx="9263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and support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7318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19820" y="1863030"/>
            <a:ext cx="533400" cy="533400"/>
          </a:xfrm>
          <a:prstGeom prst="roundRect">
            <a:avLst>
              <a:gd name="adj" fmla="val 171429"/>
            </a:avLst>
          </a:prstGeom>
          <a:noFill/>
          <a:ln w="28575">
            <a:solidFill>
              <a:srgbClr val="E8A8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21549" y="1969740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4159" y="2682180"/>
            <a:ext cx="12047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43824" y="3120330"/>
            <a:ext cx="2853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25589" y="0"/>
            <a:ext cx="5618411" cy="51435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06589" y="1663303"/>
            <a:ext cx="495353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Hestia utilise l’authentification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Azure AD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du groupe EPSA. Aucun mot de passe spécifique n’est requis.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06589" y="2223195"/>
            <a:ext cx="4953539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Hestia uses Azure AD SSO authentication. No separate password is required.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906589" y="2649885"/>
            <a:ext cx="4856411" cy="830312"/>
          </a:xfrm>
          <a:prstGeom prst="roundRect">
            <a:avLst>
              <a:gd name="adj" fmla="val 45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925639" y="2649885"/>
            <a:ext cx="0" cy="830312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78039" y="2783235"/>
            <a:ext cx="464264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:</a:t>
            </a:r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Accédez à Hestia via votre navigateur. Connectez-vous avec vos identifiants Office 365.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078039" y="3186857"/>
            <a:ext cx="46426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Hestia via your browser. Log in with your Office 365 credentials.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47650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361950"/>
            <a:ext cx="42845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Navigation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381000" y="638175"/>
            <a:ext cx="854964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225"/>
              </a:spcBef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overview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81000" y="1688009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barre de navigation en haut permet d’accéder aux modules principaux.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962299"/>
            <a:ext cx="854964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 navigation bar gives access to the main modules.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381000" y="2232720"/>
            <a:ext cx="1596330" cy="666601"/>
          </a:xfrm>
          <a:prstGeom prst="roundRect">
            <a:avLst>
              <a:gd name="adj" fmla="val 1143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6316" y="2347020"/>
            <a:ext cx="6055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787813" y="2665065"/>
            <a:ext cx="78270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demandes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072580" y="2232720"/>
            <a:ext cx="1596330" cy="666601"/>
          </a:xfrm>
          <a:prstGeom prst="roundRect">
            <a:avLst>
              <a:gd name="adj" fmla="val 1143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65011" y="2347020"/>
            <a:ext cx="6114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Offboarding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2537688" y="2665065"/>
            <a:ext cx="66596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départs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764161" y="2232720"/>
            <a:ext cx="1596330" cy="666601"/>
          </a:xfrm>
          <a:prstGeom prst="roundRect">
            <a:avLst>
              <a:gd name="adj" fmla="val 11431"/>
            </a:avLst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85093" y="2347020"/>
            <a:ext cx="7543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Collaborateurs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246421" y="2665065"/>
            <a:ext cx="631811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Mgmt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5455741" y="2232720"/>
            <a:ext cx="1596330" cy="666601"/>
          </a:xfrm>
          <a:prstGeom prst="roundRect">
            <a:avLst>
              <a:gd name="adj" fmla="val 11431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0259" y="2347020"/>
            <a:ext cx="6472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Lists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947717" y="2665065"/>
            <a:ext cx="61238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1B2A4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ML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7147322" y="2223195"/>
            <a:ext cx="1615380" cy="685651"/>
          </a:xfrm>
          <a:prstGeom prst="roundRect">
            <a:avLst>
              <a:gd name="adj" fmla="val 11114"/>
            </a:avLst>
          </a:prstGeom>
          <a:solidFill>
            <a:srgbClr val="F0F2F5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31213" y="2347020"/>
            <a:ext cx="6475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Paramétrage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7738690" y="2665065"/>
            <a:ext cx="432643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only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1000" y="3023146"/>
            <a:ext cx="8382000" cy="573286"/>
          </a:xfrm>
          <a:prstGeom prst="roundRect">
            <a:avLst>
              <a:gd name="adj" fmla="val 1329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00050" y="3023146"/>
            <a:ext cx="0" cy="573286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3137446"/>
            <a:ext cx="81998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RH et Manager :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Vous avez accès aux 4 premiers onglets. Le Paramétrage est réservé aux Admins.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" y="3335536"/>
            <a:ext cx="81998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and Manager roles: You have access to the first 4 tabs. Settings is restricted to Admins.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381000" y="3710732"/>
            <a:ext cx="4143375" cy="670471"/>
          </a:xfrm>
          <a:prstGeom prst="roundRect">
            <a:avLst>
              <a:gd name="adj" fmla="val 852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23875" y="3815507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haut à droite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23875" y="399067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nom, rôle et langue (FR/EN) sont affichés.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23875" y="414307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name, role and language are displayed.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19625" y="3710732"/>
            <a:ext cx="4143375" cy="670471"/>
          </a:xfrm>
          <a:prstGeom prst="roundRect">
            <a:avLst>
              <a:gd name="adj" fmla="val 852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62500" y="3815507"/>
            <a:ext cx="393477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Nouveau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762500" y="399067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L’onglet Gestion des Mailing Lists est la dernière nouveauté.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762500" y="4143077"/>
            <a:ext cx="39347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Mailing Lists tab is the latest addition.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7318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19820" y="1671638"/>
            <a:ext cx="533400" cy="533400"/>
          </a:xfrm>
          <a:prstGeom prst="roundRect">
            <a:avLst>
              <a:gd name="adj" fmla="val 171429"/>
            </a:avLst>
          </a:prstGeom>
          <a:noFill/>
          <a:ln w="28575">
            <a:solidFill>
              <a:srgbClr val="E8A8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21549" y="1778347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6017" y="2490788"/>
            <a:ext cx="13211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6965" y="2928938"/>
            <a:ext cx="14392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Arrivée d’un collaborateur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26056" y="3311723"/>
            <a:ext cx="112107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employee arrival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5589" y="0"/>
            <a:ext cx="5618411" cy="51435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06589" y="1496616"/>
            <a:ext cx="4953539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module permet de créer une demande d’arrivée pour un nouveau collaborateur. Les informations saisies serviront à créer son compte dans Azure AD.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06589" y="2269778"/>
            <a:ext cx="495353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lets you create an arrival request for a new employee. The information entered will be used to create their Azure AD account.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906589" y="2799308"/>
            <a:ext cx="4856411" cy="847576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49464" y="2942183"/>
            <a:ext cx="46620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49464" y="3159323"/>
            <a:ext cx="46620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RH remplit le formulaire → 2. IT complète les licences → 3. Création du compte AD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49464" y="3357414"/>
            <a:ext cx="46620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HR fills the form → 2. IT completes licenses → 3. AD account creation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8393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 des demandes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758404"/>
            <a:ext cx="8382000" cy="1043583"/>
          </a:xfrm>
          <a:prstGeom prst="roundRect">
            <a:avLst>
              <a:gd name="adj" fmla="val 730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33400" y="1872704"/>
            <a:ext cx="82387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 de recherche :</a:t>
            </a:r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Filtrez les demandes par nom, prénom ou email.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2095500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bar: Filter requests by name or email.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533400" y="2318296"/>
            <a:ext cx="8238744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spcBef>
                <a:spcPts val="600"/>
              </a:spcBef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 « + Ajouter » :</a:t>
            </a:r>
            <a:pPr algn="l" indent="0" marL="0">
              <a:lnSpc>
                <a:spcPts val="1530"/>
              </a:lnSpc>
              <a:spcBef>
                <a:spcPts val="600"/>
              </a:spcBef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Cliquez pour créer une nouvelle demande.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2541091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+ Add » button: Click to create a new request.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81000" y="2897237"/>
            <a:ext cx="8382000" cy="847725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0525" y="2906762"/>
            <a:ext cx="8362950" cy="28575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3875" y="298296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N° Fiche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538139" y="2982962"/>
            <a:ext cx="1172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39641" y="298296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Prénom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53904" y="2982962"/>
            <a:ext cx="1758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Pro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729883" y="2982962"/>
            <a:ext cx="1025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887766" y="298296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902029" y="2982962"/>
            <a:ext cx="73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90525" y="3463975"/>
            <a:ext cx="8362950" cy="0"/>
          </a:xfrm>
          <a:prstGeom prst="line">
            <a:avLst/>
          </a:prstGeom>
          <a:noFill/>
          <a:ln w="9525">
            <a:solidFill>
              <a:srgbClr val="F0F2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875" y="3259187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538139" y="3259187"/>
            <a:ext cx="1172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39641" y="3259187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53904" y="3259187"/>
            <a:ext cx="1758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john.williams@epsa...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729883" y="3259187"/>
            <a:ext cx="1025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Consultant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887766" y="3259187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902029" y="3259187"/>
            <a:ext cx="73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/ Editer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90525" y="3468737"/>
            <a:ext cx="8362950" cy="26670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23875" y="353541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538139" y="3535412"/>
            <a:ext cx="1172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Dupont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839641" y="353541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3853904" y="3535412"/>
            <a:ext cx="17580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marie.dupont@epsa...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29883" y="3535412"/>
            <a:ext cx="1025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887766" y="3535412"/>
            <a:ext cx="87910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902029" y="3535412"/>
            <a:ext cx="7326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 / Editer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81000" y="3840212"/>
            <a:ext cx="4157663" cy="499021"/>
          </a:xfrm>
          <a:prstGeom prst="roundRect">
            <a:avLst>
              <a:gd name="adj" fmla="val 7635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395288" y="3840212"/>
            <a:ext cx="0" cy="499021"/>
          </a:xfrm>
          <a:prstGeom prst="line">
            <a:avLst/>
          </a:prstGeom>
          <a:noFill/>
          <a:ln w="28575">
            <a:solidFill>
              <a:srgbClr val="E8A8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875" y="3935462"/>
            <a:ext cx="3978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Statuts 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Compte AD créé /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En attente IT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523875" y="4110633"/>
            <a:ext cx="3978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= AD account created / In progress = Pending IT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33913" y="3840212"/>
            <a:ext cx="4129088" cy="499021"/>
          </a:xfrm>
          <a:prstGeom prst="roundRect">
            <a:avLst>
              <a:gd name="adj" fmla="val 7635"/>
            </a:avLst>
          </a:prstGeom>
          <a:solidFill>
            <a:srgbClr val="F0F2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8213" y="3935462"/>
            <a:ext cx="397849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: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Voir le détail ou modifier (si en cours)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748213" y="4110633"/>
            <a:ext cx="39784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detail or edit (if pending)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83932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Formulaire de demande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 form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416248"/>
            <a:ext cx="4103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obligatoires (*)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1633389"/>
            <a:ext cx="410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fields (*)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1823889"/>
            <a:ext cx="4023271" cy="139065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5300" y="19191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Alma :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Oui/Non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95300" y="20905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Prénom* / Nom*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5300" y="22620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?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Oui/Non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95300" y="24334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Domaine*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(liste déroulante)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95300" y="26049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professionnel*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5300" y="27763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Pays / Titre du poste*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95300" y="29478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Entité légale* / Secteur* / Service*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3271689"/>
            <a:ext cx="4023271" cy="1390650"/>
          </a:xfrm>
          <a:prstGeom prst="roundRect">
            <a:avLst>
              <a:gd name="adj" fmla="val 411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5300" y="33669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Listes de distribution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(auto selon entité)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5300" y="35383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Bureau / Statut employé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5300" y="37098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Manager*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(recherche par nom/email)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5300" y="38812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Collaborateur cible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(si remplacement)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5300" y="40527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d’entrée* / Date de sortie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5300" y="422418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Téléphone / Fonction support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95300" y="4395639"/>
            <a:ext cx="38705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Remarques*</a:t>
            </a:r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(saisir « RAS » si aucune)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632871" y="1582489"/>
            <a:ext cx="4023271" cy="502890"/>
          </a:xfrm>
          <a:prstGeom prst="roundRect">
            <a:avLst>
              <a:gd name="adj" fmla="val 15152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66221" y="1677739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66221" y="1856780"/>
            <a:ext cx="383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32871" y="216158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1629" y="2190155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899571" y="2161580"/>
            <a:ext cx="2321853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+ Ajouter »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depuis la liste Onboarding.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4899571" y="2328267"/>
            <a:ext cx="23218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+ Add » from the Onboarding list.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32871" y="2537817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01629" y="2566392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899571" y="2537817"/>
            <a:ext cx="190074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Remplissez tous les champs marqués *.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899571" y="2704505"/>
            <a:ext cx="19007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in all fields marked *.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32871" y="291405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01629" y="294263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899571" y="2914055"/>
            <a:ext cx="204359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Recherchez le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par nom ou email.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4899571" y="3080742"/>
            <a:ext cx="20435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manager by name or email.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32871" y="329029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01629" y="331886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899571" y="3290292"/>
            <a:ext cx="2512519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Vérifiez les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listes de distribution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(auto selon entité).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899571" y="3456980"/>
            <a:ext cx="25125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distribution lists (auto-filled by entity).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32871" y="3666530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01629" y="3695105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899571" y="3666530"/>
            <a:ext cx="202401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Sauvegarder »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L’IT sera notifié.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899571" y="3833217"/>
            <a:ext cx="2024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Save ». IT will be notified.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632871" y="4061817"/>
            <a:ext cx="4023271" cy="434280"/>
          </a:xfrm>
          <a:prstGeom prst="roundRect">
            <a:avLst>
              <a:gd name="adj" fmla="val 13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47171" y="4138017"/>
            <a:ext cx="387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champ Remarques est obligatoire. Saisissez « RAS » si rien à signaler.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747171" y="4299942"/>
            <a:ext cx="38705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Remarks field is mandatory. Enter « N/A » if nothing to report.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73189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19820" y="1671638"/>
            <a:ext cx="533400" cy="533400"/>
          </a:xfrm>
          <a:prstGeom prst="roundRect">
            <a:avLst>
              <a:gd name="adj" fmla="val 171429"/>
            </a:avLst>
          </a:prstGeom>
          <a:noFill/>
          <a:ln w="28575">
            <a:solidFill>
              <a:srgbClr val="E8A8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21549" y="1778347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9491" y="2490788"/>
            <a:ext cx="1334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77439" y="2928938"/>
            <a:ext cx="141831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Départ d’un collaborateur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1161578" y="3311723"/>
            <a:ext cx="10500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departure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5589" y="0"/>
            <a:ext cx="5618411" cy="51435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06589" y="1603177"/>
            <a:ext cx="495353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module permet de planifier le départ d’un collaborateur. Son compte Azure AD sera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automatiquement désactivé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la date de sortie indiquée.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906589" y="2163068"/>
            <a:ext cx="495353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lets you schedule an employee departure. Their Azure AD account will be automatically disabled on the specified leaving date.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906589" y="2692598"/>
            <a:ext cx="4856411" cy="847576"/>
          </a:xfrm>
          <a:prstGeom prst="roundRect">
            <a:avLst>
              <a:gd name="adj" fmla="val 6743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49464" y="2835473"/>
            <a:ext cx="46620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Processus automatique 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049464" y="3052614"/>
            <a:ext cx="46620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batch Azure Function tourne chaque jour à 8h pour désactiver les comptes.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49464" y="3250704"/>
            <a:ext cx="466207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Azure Function batch runs daily at 8AM to disable accounts.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9024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OFFBOARDING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 et création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and creation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293590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des demandes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529780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table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81000" y="2739330"/>
            <a:ext cx="4076700" cy="516136"/>
          </a:xfrm>
          <a:prstGeom prst="roundRect">
            <a:avLst>
              <a:gd name="adj" fmla="val 14764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90525" y="2748855"/>
            <a:ext cx="4057650" cy="253305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4825" y="2815530"/>
            <a:ext cx="459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N°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1107877" y="2815530"/>
            <a:ext cx="9852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2226171" y="2815530"/>
            <a:ext cx="72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086844" y="2815530"/>
            <a:ext cx="72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Créé par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3947517" y="2815530"/>
            <a:ext cx="394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390525" y="3241179"/>
            <a:ext cx="4057650" cy="0"/>
          </a:xfrm>
          <a:prstGeom prst="line">
            <a:avLst/>
          </a:prstGeom>
          <a:noFill/>
          <a:ln w="9525">
            <a:solidFill>
              <a:srgbClr val="F0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4825" y="3059311"/>
            <a:ext cx="45966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1107877" y="3059311"/>
            <a:ext cx="9852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 gy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2226171" y="3059311"/>
            <a:ext cx="72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10/12/2025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086844" y="3059311"/>
            <a:ext cx="72243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lionel.t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47517" y="3059311"/>
            <a:ext cx="39408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Voir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81000" y="3331666"/>
            <a:ext cx="4076700" cy="472380"/>
          </a:xfrm>
          <a:prstGeom prst="roundRect">
            <a:avLst>
              <a:gd name="adj" fmla="val 12098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6250" y="3426916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 DÉSACTIVÉ 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compte AD a été désactivé.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476250" y="3588841"/>
            <a:ext cx="396392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badge: The AD account has been disabled.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4686300" y="1794718"/>
            <a:ext cx="41582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demande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6300" y="2030909"/>
            <a:ext cx="4158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request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86300" y="224045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755059" y="226903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953000" y="2240459"/>
            <a:ext cx="105640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+ Ajouter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953000" y="2396579"/>
            <a:ext cx="10564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+ Add ».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686300" y="260612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755059" y="263470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953000" y="2606129"/>
            <a:ext cx="3886200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 collaborateur (min. 2 caractères). Nom et email se remplissent automatiquement.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953000" y="2908846"/>
            <a:ext cx="38862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the employee (min. 2 chars). Name and email auto-fill.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86300" y="311839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55059" y="314697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953000" y="3118396"/>
            <a:ext cx="13068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Indiquez la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de départ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953000" y="3274516"/>
            <a:ext cx="130688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the leaving date.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86300" y="348406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55059" y="351264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953000" y="3484066"/>
            <a:ext cx="24278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Sauvegarder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L’IT est notifié par email.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953000" y="3640187"/>
            <a:ext cx="24278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Save ». IT gets notified by email.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86300" y="3868787"/>
            <a:ext cx="4076700" cy="434280"/>
          </a:xfrm>
          <a:prstGeom prst="roundRect">
            <a:avLst>
              <a:gd name="adj" fmla="val 1316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0600" y="3944987"/>
            <a:ext cx="39250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 est désactivé automatiquement à J+1 à 8h si départ le jour même.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800600" y="4106912"/>
            <a:ext cx="392506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is disabled at 8AM on departure date (or next day if same day).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70957" cy="5143500"/>
          </a:xfrm>
          <a:prstGeom prst="rect">
            <a:avLst/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418779" y="1891605"/>
            <a:ext cx="533400" cy="533400"/>
          </a:xfrm>
          <a:prstGeom prst="roundRect">
            <a:avLst>
              <a:gd name="adj" fmla="val 171429"/>
            </a:avLst>
          </a:prstGeom>
          <a:noFill/>
          <a:ln w="28575">
            <a:solidFill>
              <a:srgbClr val="E8A8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620508" y="199831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58027" y="2710755"/>
            <a:ext cx="225475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collaborateurs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69759" y="3091755"/>
            <a:ext cx="12314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management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523357" y="0"/>
            <a:ext cx="5620643" cy="51435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04357" y="1723132"/>
            <a:ext cx="495581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module vous permet de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rechercher un collaborateur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l’Active Directory, de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consulter et modifier ses informations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 de </a:t>
            </a:r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ses rôles applicatifs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04357" y="2283023"/>
            <a:ext cx="495581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module lets you search for an employee in Active Directory, view and edit their information, and manage their application roles.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904357" y="2812554"/>
            <a:ext cx="1555998" cy="607665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34530" y="2955429"/>
            <a:ext cx="1295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 AD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034530" y="3143994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Search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555605" y="2812554"/>
            <a:ext cx="1555998" cy="607665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5778" y="2955429"/>
            <a:ext cx="1295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Modifier infos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85778" y="3143994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info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206853" y="2812554"/>
            <a:ext cx="1555998" cy="607665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37026" y="2955429"/>
            <a:ext cx="12956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Rôles et Apps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37026" y="3143994"/>
            <a:ext cx="12956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and Apps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11729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COLLABORATEURS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 et modification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and edit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873746"/>
            <a:ext cx="4023271" cy="502890"/>
          </a:xfrm>
          <a:prstGeom prst="roundRect">
            <a:avLst>
              <a:gd name="adj" fmla="val 15152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968996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2148036"/>
            <a:ext cx="383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45283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759" y="248141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7700" y="2452836"/>
            <a:ext cx="25185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sur l’onglet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Gestion des collaborateurs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7700" y="2608957"/>
            <a:ext cx="25185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« Employee Management » tab.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818507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759" y="2847082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7700" y="2818507"/>
            <a:ext cx="228132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Recherchez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collaborateur par nom ou email.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47700" y="2974628"/>
            <a:ext cx="2281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or email.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18417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59" y="321275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7700" y="3184178"/>
            <a:ext cx="24297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informations AD se chargent automatiquement.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47700" y="3340298"/>
            <a:ext cx="2429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information auto-loads.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549848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9759" y="3578423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7700" y="3549848"/>
            <a:ext cx="151455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champs souhaités.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47700" y="3705969"/>
            <a:ext cx="15145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fields as needed.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1000" y="3915519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9759" y="3944094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47700" y="3915519"/>
            <a:ext cx="124176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Sauvegarder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47700" y="4071640"/>
            <a:ext cx="12417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Save ».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632871" y="1595438"/>
            <a:ext cx="4103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modifiables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32871" y="1831628"/>
            <a:ext cx="410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fields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632871" y="2041178"/>
            <a:ext cx="4023271" cy="533400"/>
          </a:xfrm>
          <a:prstGeom prst="roundRect">
            <a:avLst>
              <a:gd name="adj" fmla="val 1071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7171" y="2136428"/>
            <a:ext cx="38705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email, Nom d’affichage, Prénom, Nom, Titre du poste, Entité légale, Service, Secteur, Pays, Manager (recherche par nom/email)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32871" y="2688878"/>
            <a:ext cx="4103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et Rôles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32871" y="2925068"/>
            <a:ext cx="410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and Roles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32871" y="3134618"/>
            <a:ext cx="4023271" cy="847725"/>
          </a:xfrm>
          <a:prstGeom prst="roundRect">
            <a:avLst>
              <a:gd name="adj" fmla="val 6742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47171" y="3229868"/>
            <a:ext cx="387056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le formulaire, la section </a:t>
            </a:r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Applications et rôles »</a:t>
            </a:r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liste les applications disponibles (ex : Athena, SAP). Cochez les rôles souhaités.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747171" y="3601343"/>
            <a:ext cx="38705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 the form, the « Applications and Roles » section lists available apps. Check the desired roles.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32871" y="4058543"/>
            <a:ext cx="4023271" cy="424755"/>
          </a:xfrm>
          <a:prstGeom prst="roundRect">
            <a:avLst>
              <a:gd name="adj" fmla="val 1345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747171" y="4134743"/>
            <a:ext cx="38705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Sélectionnez d’abord un collaborateur avant de gérer les rôles.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47171" y="4287143"/>
            <a:ext cx="38705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 employee first before managing roles.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b5d57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73189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19820" y="1891605"/>
            <a:ext cx="533400" cy="533400"/>
          </a:xfrm>
          <a:prstGeom prst="roundRect">
            <a:avLst>
              <a:gd name="adj" fmla="val 171429"/>
            </a:avLst>
          </a:prstGeom>
          <a:noFill/>
          <a:ln w="28575">
            <a:solidFill>
              <a:srgbClr val="E8A83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1621549" y="1998315"/>
            <a:ext cx="129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32235" y="2710755"/>
            <a:ext cx="21087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Mailing Lists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57897" y="3091755"/>
            <a:ext cx="12572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 management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525589" y="0"/>
            <a:ext cx="5618411" cy="514350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906589" y="1681311"/>
            <a:ext cx="495353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Gérez les mailing lists Azure AD directement depuis Hestia : recherchez, consultez les propriétés, ajoutez ou supprimez des membres.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906589" y="2241203"/>
            <a:ext cx="4953539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Azure AD mailing lists directly from Hestia: search, view properties, add or remove members.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3906589" y="2770733"/>
            <a:ext cx="1555254" cy="691307"/>
          </a:xfrm>
          <a:prstGeom prst="roundRect">
            <a:avLst>
              <a:gd name="adj" fmla="val 8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3906589" y="2785021"/>
            <a:ext cx="1555254" cy="0"/>
          </a:xfrm>
          <a:prstGeom prst="line">
            <a:avLst/>
          </a:prstGeom>
          <a:noFill/>
          <a:ln w="28575">
            <a:solidFill>
              <a:srgbClr val="E8A83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7623" y="2913608"/>
            <a:ext cx="1353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4007623" y="307925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007623" y="322778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5557093" y="2770733"/>
            <a:ext cx="1555254" cy="691307"/>
          </a:xfrm>
          <a:prstGeom prst="roundRect">
            <a:avLst>
              <a:gd name="adj" fmla="val 8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557093" y="2785021"/>
            <a:ext cx="1555254" cy="0"/>
          </a:xfrm>
          <a:prstGeom prst="line">
            <a:avLst/>
          </a:prstGeom>
          <a:noFill/>
          <a:ln w="28575">
            <a:solidFill>
              <a:srgbClr val="2C3E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8127" y="2913608"/>
            <a:ext cx="1353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5658127" y="307925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658127" y="322778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 / Suppression</a:t>
            </a:r>
            <a:endParaRPr lang="en-US" sz="675" dirty="0"/>
          </a:p>
        </p:txBody>
      </p:sp>
      <p:sp>
        <p:nvSpPr>
          <p:cNvPr id="20" name="Text 17"/>
          <p:cNvSpPr/>
          <p:nvPr/>
        </p:nvSpPr>
        <p:spPr>
          <a:xfrm>
            <a:off x="7207597" y="2770733"/>
            <a:ext cx="1555254" cy="691307"/>
          </a:xfrm>
          <a:prstGeom prst="roundRect">
            <a:avLst>
              <a:gd name="adj" fmla="val 826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7207597" y="2785021"/>
            <a:ext cx="1555254" cy="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08631" y="2913608"/>
            <a:ext cx="135318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Propriétaires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7308631" y="307925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7308631" y="3227784"/>
            <a:ext cx="1353187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225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9100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Rechercher une mailing list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for a mailing list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2066032"/>
            <a:ext cx="4023271" cy="502890"/>
          </a:xfrm>
          <a:prstGeom prst="roundRect">
            <a:avLst>
              <a:gd name="adj" fmla="val 15152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2161282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2340322"/>
            <a:ext cx="383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645122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759" y="2673697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7700" y="2645122"/>
            <a:ext cx="242933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sur l’onglet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Gestion des Mailing Lists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7700" y="2801243"/>
            <a:ext cx="24293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« Mailing Lists » tab.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3010793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759" y="3039368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7700" y="3010793"/>
            <a:ext cx="29409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Saisissez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moins 2 caractères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dans la barre de recherche.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47700" y="3166914"/>
            <a:ext cx="29409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at least 2 characters in the search bar.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37646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59" y="3405039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7700" y="3376464"/>
            <a:ext cx="31286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résultats affichent le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l’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et le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 membres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47700" y="3532584"/>
            <a:ext cx="31286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show name, email and member count.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74213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9759" y="3770709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7700" y="3742134"/>
            <a:ext cx="2429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sur une mailing list pour voir ses 3 onglets.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47700" y="3898255"/>
            <a:ext cx="2429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 list to view its 3 tabs.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32871" y="1805880"/>
            <a:ext cx="41037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de résultats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32871" y="2042071"/>
            <a:ext cx="4103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results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632871" y="2251621"/>
            <a:ext cx="4023271" cy="2040136"/>
          </a:xfrm>
          <a:prstGeom prst="roundRect">
            <a:avLst>
              <a:gd name="adj" fmla="val 373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32871" y="2759273"/>
            <a:ext cx="402327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66221" y="2346871"/>
            <a:ext cx="12810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ML-It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6221" y="2525911"/>
            <a:ext cx="1281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ML-It@Epsa.onmicrosoft.com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55893" y="2407741"/>
            <a:ext cx="666899" cy="190500"/>
          </a:xfrm>
          <a:prstGeom prst="roundRect">
            <a:avLst>
              <a:gd name="adj" fmla="val 6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951143" y="2436316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membres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32871" y="3271689"/>
            <a:ext cx="402327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6221" y="2859286"/>
            <a:ext cx="10003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ML-Managers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66221" y="3038326"/>
            <a:ext cx="10003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ML-Managers@Epsa...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855893" y="2920157"/>
            <a:ext cx="666899" cy="190500"/>
          </a:xfrm>
          <a:prstGeom prst="roundRect">
            <a:avLst>
              <a:gd name="adj" fmla="val 6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7951143" y="2948732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membres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32871" y="3784104"/>
            <a:ext cx="4023271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66221" y="3371701"/>
            <a:ext cx="69268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ML-Rh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66221" y="3550741"/>
            <a:ext cx="6926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ML-Rh@Epsa...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855893" y="3432572"/>
            <a:ext cx="666899" cy="190500"/>
          </a:xfrm>
          <a:prstGeom prst="roundRect">
            <a:avLst>
              <a:gd name="adj" fmla="val 6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951143" y="3461147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membres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766221" y="3884116"/>
            <a:ext cx="9087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ML-Support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66221" y="4063157"/>
            <a:ext cx="9087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ML-Support@Epsa...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855893" y="3944987"/>
            <a:ext cx="666899" cy="190500"/>
          </a:xfrm>
          <a:prstGeom prst="roundRect">
            <a:avLst>
              <a:gd name="adj" fmla="val 6000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951143" y="3973562"/>
            <a:ext cx="48592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membres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9100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3 onglets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tabs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85750" y="1754535"/>
            <a:ext cx="2740968" cy="441871"/>
          </a:xfrm>
          <a:prstGeom prst="roundRect">
            <a:avLst>
              <a:gd name="adj" fmla="val 12934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4926" y="1830735"/>
            <a:ext cx="25626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26" y="2000250"/>
            <a:ext cx="25626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1B2A4A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</a:t>
            </a:r>
            <a:endParaRPr lang="en-US" sz="675" dirty="0"/>
          </a:p>
        </p:txBody>
      </p:sp>
      <p:sp>
        <p:nvSpPr>
          <p:cNvPr id="9" name="Text 7"/>
          <p:cNvSpPr/>
          <p:nvPr/>
        </p:nvSpPr>
        <p:spPr>
          <a:xfrm>
            <a:off x="285750" y="2272605"/>
            <a:ext cx="2740968" cy="2051447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2386905"/>
            <a:ext cx="2512368" cy="377130"/>
          </a:xfrm>
          <a:prstGeom prst="roundRect">
            <a:avLst>
              <a:gd name="adj" fmla="val 1010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3219" y="2444055"/>
            <a:ext cx="244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33219" y="2586930"/>
            <a:ext cx="24460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400050" y="2840236"/>
            <a:ext cx="2562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Champs visibles :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0050" y="3011686"/>
            <a:ext cx="2512368" cy="8763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groupe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e-mail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00050" y="3964186"/>
            <a:ext cx="25626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champs sont grisés.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400050" y="4103191"/>
            <a:ext cx="25626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fields are greyed out.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160068" y="1610618"/>
            <a:ext cx="2824014" cy="441871"/>
          </a:xfrm>
          <a:prstGeom prst="roundRect">
            <a:avLst>
              <a:gd name="adj" fmla="val 12934"/>
            </a:avLst>
          </a:prstGeom>
          <a:solidFill>
            <a:srgbClr val="2C3E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48413" y="1686818"/>
            <a:ext cx="264732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8413" y="1856333"/>
            <a:ext cx="264732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160068" y="2128689"/>
            <a:ext cx="2824014" cy="2339280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74368" y="2242989"/>
            <a:ext cx="2595414" cy="377130"/>
          </a:xfrm>
          <a:prstGeom prst="roundRect">
            <a:avLst>
              <a:gd name="adj" fmla="val 1010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06706" y="2300139"/>
            <a:ext cx="25307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 et Suppression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306706" y="2443014"/>
            <a:ext cx="2530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Remove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3274368" y="2696319"/>
            <a:ext cx="26473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Fonctions :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274368" y="2867769"/>
            <a:ext cx="2595414" cy="14859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 des membres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Filtrer les membres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des membres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(individuel ou lot)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requise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117431" y="1906935"/>
            <a:ext cx="2740968" cy="441871"/>
          </a:xfrm>
          <a:prstGeom prst="roundRect">
            <a:avLst>
              <a:gd name="adj" fmla="val 12934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206608" y="1983135"/>
            <a:ext cx="25626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Propriétaires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06608" y="2152650"/>
            <a:ext cx="25626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6117431" y="2425005"/>
            <a:ext cx="2740968" cy="1746647"/>
          </a:xfrm>
          <a:prstGeom prst="rect">
            <a:avLst/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231731" y="2539305"/>
            <a:ext cx="2512368" cy="377130"/>
          </a:xfrm>
          <a:prstGeom prst="roundRect">
            <a:avLst>
              <a:gd name="adj" fmla="val 1010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64901" y="2596455"/>
            <a:ext cx="24460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4901" y="2739330"/>
            <a:ext cx="244602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spcBef>
                <a:spcPts val="75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Read-only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6231731" y="2992636"/>
            <a:ext cx="25626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 affichées :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31731" y="3164086"/>
            <a:ext cx="2512368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 du propriétaire</a:t>
            </a:r>
            <a:endParaRPr lang="en-US" sz="1350" dirty="0"/>
          </a:p>
          <a:p>
            <a:pPr algn="l" marL="76200" indent="-7620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email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231731" y="3811786"/>
            <a:ext cx="2562615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600"/>
              </a:spcBef>
              <a:buNone/>
            </a:pPr>
            <a:r>
              <a:rPr lang="en-US" sz="675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Gérer via le portail Azure.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6231731" y="3950791"/>
            <a:ext cx="2562615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via Azure portal.</a:t>
            </a:r>
            <a:endParaRPr lang="en-US" sz="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91006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MAILING LISTS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450"/>
              </a:spcBef>
              <a:buNone/>
            </a:pPr>
            <a:r>
              <a:rPr lang="en-US" sz="165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et supprimer des membres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381000" y="67999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and remove members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796504"/>
            <a:ext cx="4023271" cy="502890"/>
          </a:xfrm>
          <a:prstGeom prst="roundRect">
            <a:avLst>
              <a:gd name="adj" fmla="val 15152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891754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des membres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14350" y="2070795"/>
            <a:ext cx="383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members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81000" y="237559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9759" y="240417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47700" y="2375595"/>
            <a:ext cx="229209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l’onglet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+ Ajouter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47700" y="2531715"/>
            <a:ext cx="2292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Members tab, click « + Add ».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1000" y="2741265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49759" y="2769840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47700" y="2741265"/>
            <a:ext cx="241202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Saisissez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 moins 2 caractères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pour rechercher.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47700" y="2897386"/>
            <a:ext cx="24120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at least 2 characters to search.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1000" y="310693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9759" y="313551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7700" y="3106936"/>
            <a:ext cx="17049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ou plusieurs utilisateurs.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47700" y="3263057"/>
            <a:ext cx="17049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one or more users.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472607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9759" y="3501182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47700" y="3472607"/>
            <a:ext cx="11304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Ajouter (n)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647700" y="3628727"/>
            <a:ext cx="11304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« Add (n) ».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1000" y="3838277"/>
            <a:ext cx="4023271" cy="424755"/>
          </a:xfrm>
          <a:prstGeom prst="roundRect">
            <a:avLst>
              <a:gd name="adj" fmla="val 8970"/>
            </a:avLst>
          </a:prstGeom>
          <a:solidFill>
            <a:srgbClr val="F0FD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395288" y="3838277"/>
            <a:ext cx="0" cy="424755"/>
          </a:xfrm>
          <a:prstGeom prst="line">
            <a:avLst/>
          </a:prstGeom>
          <a:noFill/>
          <a:ln w="28575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875" y="3914477"/>
            <a:ext cx="3841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Astuce : Vous pouvez ajouter plusieurs membres en une seule opération.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23875" y="4066877"/>
            <a:ext cx="38414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You can add multiple members in one operation.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4632871" y="1541413"/>
            <a:ext cx="4023271" cy="502890"/>
          </a:xfrm>
          <a:prstGeom prst="roundRect">
            <a:avLst>
              <a:gd name="adj" fmla="val 1515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66221" y="1636663"/>
            <a:ext cx="38317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des membres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66221" y="1815703"/>
            <a:ext cx="38317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members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32871" y="2120503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 : Suppression individuelle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32871" y="2343299"/>
            <a:ext cx="4103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A: Individual removal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4632871" y="2539454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01629" y="2568029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899571" y="2539454"/>
            <a:ext cx="23227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Cliquez sur l’icône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corbeille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à droite du membre.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899571" y="2695575"/>
            <a:ext cx="23227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trash icon next to the member.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32871" y="2943225"/>
            <a:ext cx="41037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 : Suppression en lot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632871" y="3166021"/>
            <a:ext cx="41037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B: Bulk removal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4632871" y="3362176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01629" y="3390751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899571" y="3362176"/>
            <a:ext cx="257779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Cochez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 membres, puis cliquez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Supprimer (n)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899571" y="3518297"/>
            <a:ext cx="25777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members, then click « Delete (n) ».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632871" y="3727847"/>
            <a:ext cx="190500" cy="190500"/>
          </a:xfrm>
          <a:prstGeom prst="roundRect">
            <a:avLst>
              <a:gd name="adj" fmla="val 48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01629" y="3756422"/>
            <a:ext cx="540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899571" y="3727847"/>
            <a:ext cx="129489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Confirmez :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Confirmer »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4899571" y="3883968"/>
            <a:ext cx="12948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7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in the dialog box.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632871" y="4093518"/>
            <a:ext cx="4023271" cy="424755"/>
          </a:xfrm>
          <a:prstGeom prst="roundRect">
            <a:avLst>
              <a:gd name="adj" fmla="val 897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4647158" y="4093518"/>
            <a:ext cx="0" cy="424755"/>
          </a:xfrm>
          <a:prstGeom prst="line">
            <a:avLst/>
          </a:prstGeom>
          <a:noFill/>
          <a:ln w="28575">
            <a:solidFill>
              <a:srgbClr val="E8A83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5746" y="4169718"/>
            <a:ext cx="38414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confirmation est toujours demandée avant suppression.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75746" y="4322118"/>
            <a:ext cx="384141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confirmation is always required before deletion.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1823"/>
            <a:ext cx="476250" cy="38100"/>
          </a:xfrm>
          <a:prstGeom prst="rect">
            <a:avLst/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52500" y="247650"/>
            <a:ext cx="10684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ET SUPPORT</a:t>
            </a:r>
            <a:endParaRPr lang="en-US" sz="825" dirty="0"/>
          </a:p>
        </p:txBody>
      </p:sp>
      <p:sp>
        <p:nvSpPr>
          <p:cNvPr id="4" name="Text 2"/>
          <p:cNvSpPr/>
          <p:nvPr/>
        </p:nvSpPr>
        <p:spPr>
          <a:xfrm>
            <a:off x="381000" y="451396"/>
            <a:ext cx="4284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450"/>
              </a:spcBef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fréquentes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699046"/>
            <a:ext cx="85496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Frequently asked questions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1000" y="1125141"/>
            <a:ext cx="8382000" cy="697111"/>
          </a:xfrm>
          <a:prstGeom prst="roundRect">
            <a:avLst>
              <a:gd name="adj" fmla="val 54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125141"/>
            <a:ext cx="0" cy="697111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1220391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ne vois pas l’onglet Gestion des Mailing Lists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2450" y="1418481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Vérifiez que vous avez le rôle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Admin-Hestia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Sinon, contactez votre administrateur.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52450" y="1593652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 have the Admin-Hestia or HR role. If not, contact your admin.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1000" y="1898452"/>
            <a:ext cx="8382000" cy="697111"/>
          </a:xfrm>
          <a:prstGeom prst="roundRect">
            <a:avLst>
              <a:gd name="adj" fmla="val 54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00050" y="1898452"/>
            <a:ext cx="0" cy="697111"/>
          </a:xfrm>
          <a:prstGeom prst="line">
            <a:avLst/>
          </a:prstGeom>
          <a:noFill/>
          <a:ln w="38100">
            <a:solidFill>
              <a:srgbClr val="2C3E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2450" y="1993702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ne peux pas modifier les propriétés d’une mailing list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2450" y="2191792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C’est normal : les propriétés sont en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seule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Seuls les membres peuvent être ajoutés/supprimés.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552450" y="2366963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design: properties are read-only. Only members can be added/removed.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81000" y="2671763"/>
            <a:ext cx="8382000" cy="697111"/>
          </a:xfrm>
          <a:prstGeom prst="roundRect">
            <a:avLst>
              <a:gd name="adj" fmla="val 54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2671763"/>
            <a:ext cx="0" cy="697111"/>
          </a:xfrm>
          <a:prstGeom prst="line">
            <a:avLst/>
          </a:prstGeom>
          <a:noFill/>
          <a:ln w="38100">
            <a:solidFill>
              <a:srgbClr val="E8A8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450" y="276701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fiche d’onboarding est bloquée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2450" y="2965103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fiche au statut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Valide »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signifie que le compte AD a été créé. La fiche est alors verrouillée.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552450" y="3140273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« Valid » status means the AD account was created. The form is then locked.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1000" y="3445073"/>
            <a:ext cx="8382000" cy="697111"/>
          </a:xfrm>
          <a:prstGeom prst="roundRect">
            <a:avLst>
              <a:gd name="adj" fmla="val 5465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00050" y="3445073"/>
            <a:ext cx="0" cy="697111"/>
          </a:xfrm>
          <a:prstGeom prst="line">
            <a:avLst/>
          </a:prstGeom>
          <a:noFill/>
          <a:ln w="38100">
            <a:solidFill>
              <a:srgbClr val="2C3E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450" y="3540323"/>
            <a:ext cx="823874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compte n’est pas désactivé le jour du départ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2450" y="3738414"/>
            <a:ext cx="82387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batch tourne à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8h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Si le départ est créé après 8h le même jour, la désactivation sera le lendemain.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52450" y="3913584"/>
            <a:ext cx="82387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batch runs at 8AM. Same-day requests after 8AM are processed next day.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81000" y="4218384"/>
            <a:ext cx="8382000" cy="697111"/>
          </a:xfrm>
          <a:prstGeom prst="roundRect">
            <a:avLst>
              <a:gd name="adj" fmla="val 10931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4350" y="4313634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d’aide ?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4350" y="4511725"/>
            <a:ext cx="82776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Contactez l’équipe Support IT ou votre administrateur Hestia.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514350" y="4686895"/>
            <a:ext cx="82776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the IT Support team or your Hestia administrator.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0" y="1527870"/>
            <a:ext cx="762000" cy="57150"/>
          </a:xfrm>
          <a:prstGeom prst="roundRect">
            <a:avLst>
              <a:gd name="adj" fmla="val 50000"/>
            </a:avLst>
          </a:prstGeom>
          <a:solidFill>
            <a:srgbClr val="E8A8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5069" y="1680270"/>
            <a:ext cx="9137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163645" y="2118420"/>
            <a:ext cx="816709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en-US" sz="135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838935" y="2529780"/>
            <a:ext cx="1466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600"/>
              </a:spcBef>
              <a:buNone/>
            </a:pPr>
            <a:r>
              <a:rPr lang="en-US" sz="1125" dirty="0">
                <a:solidFill>
                  <a:srgbClr val="E8A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Hestia — EPSA Group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567238" y="2863155"/>
            <a:ext cx="9525" cy="19050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160672" y="3187005"/>
            <a:ext cx="282265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toute question, contactez l’équipe Support IT.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340712" y="3455491"/>
            <a:ext cx="246257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i="1" dirty="0">
                <a:solidFill>
                  <a:srgbClr val="7C8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any questions, contact the IT Support team.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Hestia - Manuel Utilisateur / User Manual</dc:title>
  <dc:subject>PptxGenJS Presentation</dc:subject>
  <dc:creator>EPSA - Hestia Team</dc:creator>
  <cp:lastModifiedBy>EPSA - Hestia Team</cp:lastModifiedBy>
  <cp:revision>1</cp:revision>
  <dcterms:created xsi:type="dcterms:W3CDTF">2026-02-03T14:13:58Z</dcterms:created>
  <dcterms:modified xsi:type="dcterms:W3CDTF">2026-02-03T14:13:58Z</dcterms:modified>
</cp:coreProperties>
</file>
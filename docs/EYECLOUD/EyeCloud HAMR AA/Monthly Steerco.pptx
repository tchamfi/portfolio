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6858000" cx="9144000"/>
  <p:notesSz cx="6799250" cy="9929800"/>
  <p:embeddedFontLst>
    <p:embeddedFont>
      <p:font typeface="Arial Narrow"/>
      <p:regular r:id="rId17"/>
      <p:bold r:id="rId18"/>
      <p:italic r:id="rId19"/>
      <p:boldItalic r:id="rId20"/>
    </p:embeddedFon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82">
          <p15:clr>
            <a:srgbClr val="A4A3A4"/>
          </p15:clr>
        </p15:guide>
        <p15:guide id="2" orient="horz" pos="845">
          <p15:clr>
            <a:srgbClr val="A4A3A4"/>
          </p15:clr>
        </p15:guide>
        <p15:guide id="3" orient="horz" pos="3430">
          <p15:clr>
            <a:srgbClr val="A4A3A4"/>
          </p15:clr>
        </p15:guide>
        <p15:guide id="4" orient="horz" pos="1344">
          <p15:clr>
            <a:srgbClr val="A4A3A4"/>
          </p15:clr>
        </p15:guide>
        <p15:guide id="5" orient="horz" pos="2840">
          <p15:clr>
            <a:srgbClr val="A4A3A4"/>
          </p15:clr>
        </p15:guide>
        <p15:guide id="6" orient="horz" pos="2659">
          <p15:clr>
            <a:srgbClr val="A4A3A4"/>
          </p15:clr>
        </p15:guide>
        <p15:guide id="7" pos="5511">
          <p15:clr>
            <a:srgbClr val="A4A3A4"/>
          </p15:clr>
        </p15:guide>
        <p15:guide id="8" pos="975">
          <p15:clr>
            <a:srgbClr val="A4A3A4"/>
          </p15:clr>
        </p15:guide>
        <p15:guide id="9" pos="362">
          <p15:clr>
            <a:srgbClr val="A4A3A4"/>
          </p15:clr>
        </p15:guide>
      </p15:sldGuideLst>
    </p:ext>
    <p:ext uri="{2D200454-40CA-4A62-9FC3-DE9A4176ACB9}">
      <p15:notesGuideLst>
        <p15:guide id="1" orient="horz" pos="3127">
          <p15:clr>
            <a:srgbClr val="000000"/>
          </p15:clr>
        </p15:guide>
        <p15:guide id="2" pos="2141">
          <p15:clr>
            <a:srgbClr val="000000"/>
          </p15:clr>
        </p15:guide>
      </p15:notesGuideLst>
    </p:ext>
    <p:ext uri="GoogleSlidesCustomDataVersion2">
      <go:slidesCustomData xmlns:go="http://customooxmlschemas.google.com/" r:id="rId25" roundtripDataSignature="AMtx7mgBxz+wZ05dISE3kTq31d4jMqEo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060CCC-D647-4689-A962-5881BA4C3B50}">
  <a:tblStyle styleId="{09060CCC-D647-4689-A962-5881BA4C3B5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82" orient="horz"/>
        <p:guide pos="845" orient="horz"/>
        <p:guide pos="3430" orient="horz"/>
        <p:guide pos="1344" orient="horz"/>
        <p:guide pos="2840" orient="horz"/>
        <p:guide pos="2659" orient="horz"/>
        <p:guide pos="5511"/>
        <p:guide pos="975"/>
        <p:guide pos="362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27" orient="horz"/>
        <p:guide pos="2141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Narrow-boldItalic.fntdata"/><Relationship Id="rId22" Type="http://schemas.openxmlformats.org/officeDocument/2006/relationships/font" Target="fonts/CenturyGothic-bold.fntdata"/><Relationship Id="rId21" Type="http://schemas.openxmlformats.org/officeDocument/2006/relationships/font" Target="fonts/CenturyGothic-regular.fntdata"/><Relationship Id="rId24" Type="http://schemas.openxmlformats.org/officeDocument/2006/relationships/font" Target="fonts/CenturyGothic-boldItalic.fntdata"/><Relationship Id="rId23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ArialNarrow-regular.fntdata"/><Relationship Id="rId16" Type="http://schemas.openxmlformats.org/officeDocument/2006/relationships/slide" Target="slides/slide9.xml"/><Relationship Id="rId19" Type="http://schemas.openxmlformats.org/officeDocument/2006/relationships/font" Target="fonts/ArialNarrow-italic.fntdata"/><Relationship Id="rId18" Type="http://schemas.openxmlformats.org/officeDocument/2006/relationships/font" Target="fonts/ArialNarrow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1342" y="0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679927" y="4716661"/>
            <a:ext cx="5439300" cy="4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79927" y="4716661"/>
            <a:ext cx="5439300" cy="4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679927" y="4716661"/>
            <a:ext cx="5439300" cy="4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/>
          <p:nvPr>
            <p:ph idx="1" type="body"/>
          </p:nvPr>
        </p:nvSpPr>
        <p:spPr>
          <a:xfrm>
            <a:off x="679927" y="4716661"/>
            <a:ext cx="5439300" cy="4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5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6:notes"/>
          <p:cNvSpPr txBox="1"/>
          <p:nvPr>
            <p:ph idx="1" type="body"/>
          </p:nvPr>
        </p:nvSpPr>
        <p:spPr>
          <a:xfrm>
            <a:off x="679927" y="4716661"/>
            <a:ext cx="5439300" cy="4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6:notes"/>
          <p:cNvSpPr txBox="1"/>
          <p:nvPr>
            <p:ph idx="12" type="sldNum"/>
          </p:nvPr>
        </p:nvSpPr>
        <p:spPr>
          <a:xfrm>
            <a:off x="3851342" y="9431599"/>
            <a:ext cx="2946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79927" y="4716661"/>
            <a:ext cx="5439300" cy="4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7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79927" y="4716661"/>
            <a:ext cx="5439300" cy="4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679926" y="4716661"/>
            <a:ext cx="5439300" cy="4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</p:txBody>
      </p:sp>
      <p:sp>
        <p:nvSpPr>
          <p:cNvPr id="288" name="Google Shape;288;p9:notes"/>
          <p:cNvSpPr txBox="1"/>
          <p:nvPr>
            <p:ph idx="12" type="sldNum"/>
          </p:nvPr>
        </p:nvSpPr>
        <p:spPr>
          <a:xfrm>
            <a:off x="3851335" y="9431600"/>
            <a:ext cx="2946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suite">
  <p:cSld name="Slide de suit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2222205" y="686528"/>
            <a:ext cx="65265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4104743" y="6463682"/>
            <a:ext cx="2472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6" name="Google Shape;16;p11"/>
          <p:cNvSpPr txBox="1"/>
          <p:nvPr>
            <p:ph idx="1" type="body"/>
          </p:nvPr>
        </p:nvSpPr>
        <p:spPr>
          <a:xfrm>
            <a:off x="1547813" y="2133600"/>
            <a:ext cx="7200900" cy="3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1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7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2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23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hap 1 // Titre et contenu">
  <p:cSld name="2_Chap 1 // Titre et contenu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Google Shape;59;p25"/>
          <p:cNvCxnSpPr/>
          <p:nvPr/>
        </p:nvCxnSpPr>
        <p:spPr>
          <a:xfrm rot="10800000">
            <a:off x="3788885" y="6409531"/>
            <a:ext cx="5103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25"/>
          <p:cNvSpPr txBox="1"/>
          <p:nvPr>
            <p:ph type="title"/>
          </p:nvPr>
        </p:nvSpPr>
        <p:spPr>
          <a:xfrm>
            <a:off x="251222" y="163513"/>
            <a:ext cx="86415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300" lIns="0" spcFirstLastPara="1" rIns="0" wrap="square" tIns="25300">
            <a:normAutofit/>
          </a:bodyPr>
          <a:lstStyle>
            <a:lvl1pPr lvl="0" algn="l">
              <a:lnSpc>
                <a:spcPct val="7656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3611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3611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3611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3611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" type="body"/>
          </p:nvPr>
        </p:nvSpPr>
        <p:spPr>
          <a:xfrm>
            <a:off x="250826" y="1341441"/>
            <a:ext cx="8642400" cy="47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0" spcFirstLastPara="1" rIns="0" wrap="square" tIns="25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44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ts val="117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2" type="sldNum"/>
          </p:nvPr>
        </p:nvSpPr>
        <p:spPr>
          <a:xfrm>
            <a:off x="251222" y="6507163"/>
            <a:ext cx="443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125" lIns="0" spcFirstLastPara="1" rIns="0" wrap="square" tIns="321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4"/>
              <a:buFont typeface="Arial"/>
              <a:buNone/>
              <a:defRPr b="1" i="0" sz="1014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4"/>
              <a:buFont typeface="Arial"/>
              <a:buNone/>
              <a:defRPr b="1" i="0" sz="1014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4"/>
              <a:buFont typeface="Arial"/>
              <a:buNone/>
              <a:defRPr b="1" i="0" sz="1014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4"/>
              <a:buFont typeface="Arial"/>
              <a:buNone/>
              <a:defRPr b="1" i="0" sz="1014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4"/>
              <a:buFont typeface="Arial"/>
              <a:buNone/>
              <a:defRPr b="1" i="0" sz="1014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4"/>
              <a:buFont typeface="Arial"/>
              <a:buNone/>
              <a:defRPr b="1" i="0" sz="1014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4"/>
              <a:buFont typeface="Arial"/>
              <a:buNone/>
              <a:defRPr b="1" i="0" sz="1014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4"/>
              <a:buFont typeface="Arial"/>
              <a:buNone/>
              <a:defRPr b="1" i="0" sz="1014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4"/>
              <a:buFont typeface="Arial"/>
              <a:buNone/>
              <a:defRPr b="1" i="0" sz="1014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3" name="Google Shape;63;p25"/>
          <p:cNvSpPr txBox="1"/>
          <p:nvPr/>
        </p:nvSpPr>
        <p:spPr>
          <a:xfrm>
            <a:off x="0" y="6551613"/>
            <a:ext cx="91440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0" spcFirstLastPara="1" rIns="0" wrap="square" tIns="27000">
            <a:noAutofit/>
          </a:bodyPr>
          <a:lstStyle/>
          <a:p>
            <a:pPr indent="-333375" lvl="0" marL="33337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CONFIDENTIAL © ESSILOR – All rights reserved – Do not disclose, copy or distribute</a:t>
            </a:r>
            <a:endParaRPr b="0" i="0" sz="800" u="none" cap="none" strike="noStrike">
              <a:solidFill>
                <a:srgbClr val="9C9C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1441281" y="79756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461401" y="1340528"/>
            <a:ext cx="8287200" cy="4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59788" y="6416675"/>
            <a:ext cx="360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P.</a:t>
            </a: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" showMasterSp="0">
  <p:cSld name="Sommair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/>
          <p:nvPr>
            <p:ph type="title"/>
          </p:nvPr>
        </p:nvSpPr>
        <p:spPr>
          <a:xfrm>
            <a:off x="1441281" y="79756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alibri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2" type="sldNum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>
            <a:off x="461401" y="1340528"/>
            <a:ext cx="8287200" cy="4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 cap="none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>
                <a:solidFill>
                  <a:schemeClr val="dk2"/>
                </a:solidFill>
              </a:defRPr>
            </a:lvl2pPr>
            <a:lvl3pPr indent="-301625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◼"/>
              <a:defRPr sz="1150"/>
            </a:lvl3pPr>
            <a:lvl4pPr indent="-301625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-"/>
              <a:defRPr sz="1150"/>
            </a:lvl4pPr>
            <a:lvl5pPr indent="-301625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Char char="."/>
              <a:defRPr sz="115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1" type="ftr"/>
          </p:nvPr>
        </p:nvSpPr>
        <p:spPr>
          <a:xfrm>
            <a:off x="836438" y="6310262"/>
            <a:ext cx="1924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suite">
  <p:cSld name="Slide de suit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>
            <a:off x="1441281" y="79756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81" name="Google Shape;81;p27"/>
          <p:cNvSpPr txBox="1"/>
          <p:nvPr>
            <p:ph idx="1" type="body"/>
          </p:nvPr>
        </p:nvSpPr>
        <p:spPr>
          <a:xfrm>
            <a:off x="461401" y="1340528"/>
            <a:ext cx="8287200" cy="4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836438" y="6310262"/>
            <a:ext cx="13869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lonnes">
  <p:cSld name="Deux colonne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 txBox="1"/>
          <p:nvPr>
            <p:ph type="title"/>
          </p:nvPr>
        </p:nvSpPr>
        <p:spPr>
          <a:xfrm>
            <a:off x="1441281" y="79756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2" type="sldNum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86" name="Google Shape;86;p28"/>
          <p:cNvSpPr txBox="1"/>
          <p:nvPr>
            <p:ph idx="1" type="body"/>
          </p:nvPr>
        </p:nvSpPr>
        <p:spPr>
          <a:xfrm>
            <a:off x="574675" y="2133600"/>
            <a:ext cx="3600000" cy="3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2" type="body"/>
          </p:nvPr>
        </p:nvSpPr>
        <p:spPr>
          <a:xfrm>
            <a:off x="5148713" y="2133600"/>
            <a:ext cx="3600000" cy="3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1" type="ftr"/>
          </p:nvPr>
        </p:nvSpPr>
        <p:spPr>
          <a:xfrm>
            <a:off x="836438" y="6310262"/>
            <a:ext cx="1924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 bleu">
  <p:cSld name="Titre et contenu bleu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41389"/>
            <a:ext cx="7559041" cy="75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9"/>
          <p:cNvSpPr txBox="1"/>
          <p:nvPr>
            <p:ph type="title"/>
          </p:nvPr>
        </p:nvSpPr>
        <p:spPr>
          <a:xfrm>
            <a:off x="553225" y="4077"/>
            <a:ext cx="80508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i="0" sz="2800" u="none" cap="none" strike="noStrike"/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92" name="Google Shape;92;p29"/>
          <p:cNvSpPr txBox="1"/>
          <p:nvPr>
            <p:ph idx="1" type="body"/>
          </p:nvPr>
        </p:nvSpPr>
        <p:spPr>
          <a:xfrm>
            <a:off x="553234" y="1583383"/>
            <a:ext cx="8050800" cy="4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353"/>
              </a:buClr>
              <a:buSzPts val="2400"/>
              <a:buNone/>
              <a:defRPr i="0" sz="2400" u="none" cap="none" strike="noStrike">
                <a:solidFill>
                  <a:srgbClr val="535353"/>
                </a:solidFill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2D2"/>
              </a:buClr>
              <a:buSzPts val="2000"/>
              <a:buChar char="–"/>
              <a:defRPr i="0" sz="2000" u="none" cap="none" strike="noStrike">
                <a:solidFill>
                  <a:srgbClr val="535353"/>
                </a:solidFill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i="0" sz="2400" u="none" cap="none" strike="noStrike">
                <a:solidFill>
                  <a:schemeClr val="dk1"/>
                </a:solidFill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i="0" sz="2000" u="none" cap="none" strike="noStrike">
                <a:solidFill>
                  <a:schemeClr val="dk1"/>
                </a:solidFill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93" name="Google Shape;9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606925"/>
            <a:ext cx="963278" cy="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9"/>
          <p:cNvSpPr txBox="1"/>
          <p:nvPr>
            <p:ph idx="11" type="ftr"/>
          </p:nvPr>
        </p:nvSpPr>
        <p:spPr>
          <a:xfrm>
            <a:off x="2038643" y="6329675"/>
            <a:ext cx="44820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9"/>
          <p:cNvSpPr txBox="1"/>
          <p:nvPr>
            <p:ph idx="12" type="sldNum"/>
          </p:nvPr>
        </p:nvSpPr>
        <p:spPr>
          <a:xfrm>
            <a:off x="7672175" y="6357975"/>
            <a:ext cx="1471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1441281" y="79756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61401" y="1340528"/>
            <a:ext cx="8287200" cy="4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 Black"/>
              <a:buChar char="+"/>
              <a:defRPr b="1" i="0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◼"/>
              <a:defRPr b="0" i="0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b="0" i="1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5275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."/>
              <a:defRPr b="0" i="1" sz="10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8" name="Google Shape;68;p12"/>
          <p:cNvSpPr txBox="1"/>
          <p:nvPr>
            <p:ph idx="10" type="dt"/>
          </p:nvPr>
        </p:nvSpPr>
        <p:spPr>
          <a:xfrm>
            <a:off x="5687367" y="6619875"/>
            <a:ext cx="1399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pp.diagrams.net/#G170t1xylkuBey9kyoB3ttLuuNuZRO4UFe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5.gif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pp.diagrams.net/#G170t1xylkuBey9kyoB3ttLuuNuZRO4UFe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5.gif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pp.diagrams.net/#G170t1xylkuBey9kyoB3ttLuuNuZRO4UFe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5.gif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pp.diagrams.net/#G170t1xylkuBey9kyoB3ttLuuNuZRO4UFe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5.gif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pp.diagrams.net/#G170t1xylkuBey9kyoB3ttLuuNuZRO4UFe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5.gif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gif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gif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title"/>
          </p:nvPr>
        </p:nvSpPr>
        <p:spPr>
          <a:xfrm>
            <a:off x="1765925" y="75675"/>
            <a:ext cx="5035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73437"/>
              <a:buFont typeface="Calibri"/>
              <a:buNone/>
            </a:pPr>
            <a:r>
              <a:rPr lang="fr-FR"/>
              <a:t>Monthly Steerco 7 - 16/09/2022</a:t>
            </a:r>
            <a:br>
              <a:rPr lang="fr-FR"/>
            </a:br>
            <a:endParaRPr b="0" i="1" sz="1600"/>
          </a:p>
        </p:txBody>
      </p:sp>
      <p:sp>
        <p:nvSpPr>
          <p:cNvPr id="101" name="Google Shape;101;p1"/>
          <p:cNvSpPr txBox="1"/>
          <p:nvPr>
            <p:ph idx="12" type="sldNum"/>
          </p:nvPr>
        </p:nvSpPr>
        <p:spPr>
          <a:xfrm>
            <a:off x="4104743" y="6463682"/>
            <a:ext cx="24734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406325" y="1200575"/>
            <a:ext cx="8010600" cy="3433500"/>
          </a:xfrm>
          <a:prstGeom prst="rect">
            <a:avLst/>
          </a:prstGeom>
          <a:noFill/>
          <a:ln cap="flat" cmpd="sng" w="19050">
            <a:solidFill>
              <a:srgbClr val="001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1350" spcFirstLastPara="1" rIns="61350" wrap="square" tIns="45700">
            <a:noAutofit/>
          </a:bodyPr>
          <a:lstStyle/>
          <a:p>
            <a:pPr indent="-28701" lvl="2" marL="87312" marR="0" rtl="0" algn="l">
              <a:lnSpc>
                <a:spcPct val="120043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23"/>
              <a:buFont typeface="Noto Sans Symbols"/>
              <a:buNone/>
            </a:pPr>
            <a:r>
              <a:t/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7312" lvl="2" marL="87312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922"/>
              <a:buFont typeface="Noto Sans Symbols"/>
              <a:buChar char="▪"/>
            </a:pPr>
            <a:r>
              <a:rPr b="1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 side</a:t>
            </a:r>
            <a:r>
              <a:rPr b="0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 b="1" i="0" sz="723" u="none" cap="none" strike="noStrike">
              <a:solidFill>
                <a:srgbClr val="BF9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1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CIN/DEV/TIN/QUA/PPR/PRD 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 in Ireland 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 in Canada </a:t>
            </a:r>
            <a:r>
              <a:rPr b="1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(only for QUA/PPR/PRD)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New DNS for V3 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 the</a:t>
            </a:r>
            <a:r>
              <a:rPr b="0" i="0" lang="fr-FR" sz="723" u="none" cap="none" strike="noStrike">
                <a:solidFill>
                  <a:srgbClr val="002D46"/>
                </a:solidFill>
                <a:uFill>
                  <a:noFill/>
                </a:u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traffic policy (geo-proximity) to be able to route the traffic automatically </a:t>
            </a:r>
            <a:r>
              <a:rPr b="1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(only for QUA/PPR/PRD)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1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Change the traffic policy from “geoProximity” to “geoLocation” </a:t>
            </a:r>
            <a:r>
              <a:rPr b="1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(only for QUA/PPR/PRD)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→ DONE</a:t>
            </a:r>
            <a:endParaRPr b="1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8288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t/>
            </a:r>
            <a:endParaRPr b="1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0962" lvl="2" marL="87312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822"/>
              <a:buFont typeface="Noto Sans Symbols"/>
              <a:buChar char="▪"/>
            </a:pPr>
            <a:r>
              <a:rPr b="1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Application side  :</a:t>
            </a:r>
            <a:r>
              <a:rPr b="1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1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dedicated pipelines for Build and Release </a:t>
            </a:r>
            <a:endParaRPr b="1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new user data script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Remove the ID type from the API Requests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Reinforcement of the ID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Generation of ID depending on the Region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Adding the region info in the healthcheck 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t/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t/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3" marL="2714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01" lvl="3" marL="54451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923"/>
              <a:buFont typeface="Noto Sans Symbols"/>
              <a:buNone/>
            </a:pPr>
            <a:r>
              <a:t/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394250" y="991300"/>
            <a:ext cx="8010600" cy="238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 actions and events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7081975" y="328775"/>
            <a:ext cx="1162800" cy="502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1350" spcFirstLastPara="1" rIns="613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8"/>
              <a:buFont typeface="Calibri"/>
              <a:buNone/>
            </a:pPr>
            <a:r>
              <a:t/>
            </a:r>
            <a:endParaRPr b="0" i="0" sz="1108" u="none" cap="none" strike="noStrike">
              <a:solidFill>
                <a:srgbClr val="002D46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105" name="Google Shape;105;p1"/>
          <p:cNvGrpSpPr/>
          <p:nvPr/>
        </p:nvGrpSpPr>
        <p:grpSpPr>
          <a:xfrm>
            <a:off x="4894127" y="6455276"/>
            <a:ext cx="827180" cy="273910"/>
            <a:chOff x="4244903" y="6537572"/>
            <a:chExt cx="827180" cy="273910"/>
          </a:xfrm>
        </p:grpSpPr>
        <p:pic>
          <p:nvPicPr>
            <p:cNvPr descr="Résultat d’images pour orageux icone" id="106" name="Google Shape;106;p1"/>
            <p:cNvPicPr preferRelativeResize="0"/>
            <p:nvPr/>
          </p:nvPicPr>
          <p:blipFill rotWithShape="1">
            <a:blip r:embed="rId4">
              <a:alphaModFix/>
            </a:blip>
            <a:srcRect b="15982" l="0" r="0" t="0"/>
            <a:stretch/>
          </p:blipFill>
          <p:spPr>
            <a:xfrm>
              <a:off x="4272592" y="6569807"/>
              <a:ext cx="286822" cy="24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1"/>
            <p:cNvSpPr/>
            <p:nvPr/>
          </p:nvSpPr>
          <p:spPr>
            <a:xfrm>
              <a:off x="4244903" y="6537572"/>
              <a:ext cx="827180" cy="267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Blocage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"/>
          <p:cNvGrpSpPr/>
          <p:nvPr/>
        </p:nvGrpSpPr>
        <p:grpSpPr>
          <a:xfrm>
            <a:off x="5721306" y="6418179"/>
            <a:ext cx="720811" cy="279166"/>
            <a:chOff x="5072082" y="6500475"/>
            <a:chExt cx="720811" cy="279166"/>
          </a:xfrm>
        </p:grpSpPr>
        <p:pic>
          <p:nvPicPr>
            <p:cNvPr descr="C:\Users\User\Pictures\Météo PNG\GIF\50x50\m-cloudy.gif" id="109" name="Google Shape;109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72082" y="6500475"/>
              <a:ext cx="249725" cy="2791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"/>
            <p:cNvSpPr/>
            <p:nvPr/>
          </p:nvSpPr>
          <p:spPr>
            <a:xfrm>
              <a:off x="5132842" y="6569808"/>
              <a:ext cx="660051" cy="2098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Risque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"/>
          <p:cNvGrpSpPr/>
          <p:nvPr/>
        </p:nvGrpSpPr>
        <p:grpSpPr>
          <a:xfrm>
            <a:off x="6410658" y="6461307"/>
            <a:ext cx="1304917" cy="312558"/>
            <a:chOff x="6590238" y="6537605"/>
            <a:chExt cx="987900" cy="356924"/>
          </a:xfrm>
        </p:grpSpPr>
        <p:pic>
          <p:nvPicPr>
            <p:cNvPr descr="C:\Users\User\Pictures\Météo PNG\50x50\sunny.png" id="112" name="Google Shape;112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63893" y="6583207"/>
              <a:ext cx="268502" cy="3113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"/>
            <p:cNvSpPr/>
            <p:nvPr/>
          </p:nvSpPr>
          <p:spPr>
            <a:xfrm>
              <a:off x="6590238" y="6537605"/>
              <a:ext cx="987900" cy="29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   Conforme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406325" y="4620625"/>
            <a:ext cx="8010600" cy="182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1350" spcFirstLastPara="1" rIns="61350" wrap="square" tIns="45700">
            <a:no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b="1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 1(Set the infra replication to canada) </a:t>
            </a:r>
            <a:r>
              <a:rPr b="0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completed. The next action is to start Discussion about current users migration from V1/V2 to V3 </a:t>
            </a:r>
            <a:endParaRPr b="0" i="0" sz="11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next STEP  is the </a:t>
            </a:r>
            <a:r>
              <a:rPr b="1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authentication </a:t>
            </a:r>
            <a:r>
              <a:rPr b="0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b="0" i="0" sz="11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98450" lvl="0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D46"/>
              </a:buClr>
              <a:buSzPts val="1100"/>
              <a:buFont typeface="Century Gothic"/>
              <a:buAutoNum type="arabicPeriod"/>
            </a:pPr>
            <a:r>
              <a:rPr b="0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First, Change from </a:t>
            </a:r>
            <a:r>
              <a:rPr b="1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“actor/application key”</a:t>
            </a:r>
            <a:r>
              <a:rPr b="0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to </a:t>
            </a:r>
            <a:r>
              <a:rPr b="1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“api key” with api gateway</a:t>
            </a:r>
            <a:endParaRPr b="1" i="0" sz="11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9845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100"/>
              <a:buFont typeface="Century Gothic"/>
              <a:buAutoNum type="arabicPeriod"/>
            </a:pPr>
            <a:r>
              <a:rPr b="0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Then, Set an</a:t>
            </a:r>
            <a:r>
              <a:rPr b="1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OAUTH2 </a:t>
            </a:r>
            <a:r>
              <a:rPr b="0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mechanism</a:t>
            </a:r>
            <a:r>
              <a:rPr b="1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1" i="0" sz="11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406325" y="4620625"/>
            <a:ext cx="8010600" cy="238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 / Remarks / Risks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406325" y="6410425"/>
            <a:ext cx="23292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fr-FR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eyecloud HAMR  - Steerco meeting</a:t>
            </a:r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1"/>
          <p:cNvCxnSpPr/>
          <p:nvPr/>
        </p:nvCxnSpPr>
        <p:spPr>
          <a:xfrm flipH="1" rot="10800000">
            <a:off x="7629483" y="613219"/>
            <a:ext cx="539100" cy="15300"/>
          </a:xfrm>
          <a:prstGeom prst="straightConnector1">
            <a:avLst/>
          </a:prstGeom>
          <a:noFill/>
          <a:ln cap="flat" cmpd="sng" w="47625">
            <a:solidFill>
              <a:srgbClr val="00368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8" name="Google Shape;118;p1"/>
          <p:cNvSpPr/>
          <p:nvPr/>
        </p:nvSpPr>
        <p:spPr>
          <a:xfrm>
            <a:off x="3142400" y="600350"/>
            <a:ext cx="2048100" cy="238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1350" spcFirstLastPara="1" rIns="613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fr-FR" sz="14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      Eyecloud HAMR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User\Pictures\Météo PNG\50x50\sunny.png" id="119" name="Google Shape;11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7487" y="492543"/>
            <a:ext cx="269201" cy="27262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"/>
          <p:cNvSpPr/>
          <p:nvPr/>
        </p:nvSpPr>
        <p:spPr>
          <a:xfrm>
            <a:off x="3465075" y="2751550"/>
            <a:ext cx="539100" cy="845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4080375" y="2557125"/>
            <a:ext cx="2852700" cy="1795800"/>
          </a:xfrm>
          <a:prstGeom prst="rect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001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451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Century Gothic"/>
              <a:buChar char="●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Implementation 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1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0" marL="457200" marR="0" rtl="0" algn="l">
              <a:lnSpc>
                <a:spcPct val="12004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and Test :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○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DEV/TIN – RIFT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b="0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■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1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■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1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○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 (CA and IR) – RIOS: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■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1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■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1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723"/>
              <a:buFont typeface="Century Gothic"/>
              <a:buChar char="○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PPR (CA and IR) – RICS :</a:t>
            </a:r>
            <a:endParaRPr b="0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■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1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■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1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723"/>
              <a:buFont typeface="Century Gothic"/>
              <a:buChar char="○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PRD (CA and IR) →RICS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■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1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2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23"/>
              <a:buFont typeface="Century Gothic"/>
              <a:buChar char="■"/>
            </a:pPr>
            <a:r>
              <a:rPr b="0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</a:t>
            </a:r>
            <a:r>
              <a:rPr b="1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→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1" i="0" sz="922" u="none" cap="none" strike="noStrike">
              <a:solidFill>
                <a:srgbClr val="B45F0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"/>
          <p:cNvSpPr txBox="1"/>
          <p:nvPr>
            <p:ph type="title"/>
          </p:nvPr>
        </p:nvSpPr>
        <p:spPr>
          <a:xfrm>
            <a:off x="1765925" y="75675"/>
            <a:ext cx="5035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73437"/>
              <a:buFont typeface="Calibri"/>
              <a:buNone/>
            </a:pPr>
            <a:r>
              <a:rPr lang="fr-FR"/>
              <a:t>Monthly Steerco 6 - 22/07/2022</a:t>
            </a:r>
            <a:br>
              <a:rPr lang="fr-FR"/>
            </a:br>
            <a:endParaRPr b="0" i="1" sz="1600"/>
          </a:p>
        </p:txBody>
      </p:sp>
      <p:sp>
        <p:nvSpPr>
          <p:cNvPr id="127" name="Google Shape;127;p2"/>
          <p:cNvSpPr txBox="1"/>
          <p:nvPr>
            <p:ph idx="12" type="sldNum"/>
          </p:nvPr>
        </p:nvSpPr>
        <p:spPr>
          <a:xfrm>
            <a:off x="4104743" y="6463682"/>
            <a:ext cx="2472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406325" y="1200575"/>
            <a:ext cx="8010600" cy="3433500"/>
          </a:xfrm>
          <a:prstGeom prst="rect">
            <a:avLst/>
          </a:prstGeom>
          <a:noFill/>
          <a:ln cap="flat" cmpd="sng" w="19050">
            <a:solidFill>
              <a:srgbClr val="001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1350" spcFirstLastPara="1" rIns="61350" wrap="square" tIns="45700">
            <a:noAutofit/>
          </a:bodyPr>
          <a:lstStyle/>
          <a:p>
            <a:pPr indent="-28701" lvl="2" marL="87312" marR="0" rtl="0" algn="l">
              <a:lnSpc>
                <a:spcPct val="120043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23"/>
              <a:buFont typeface="Noto Sans Symbols"/>
              <a:buNone/>
            </a:pPr>
            <a:r>
              <a:t/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7312" lvl="2" marL="87312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922"/>
              <a:buFont typeface="Noto Sans Symbols"/>
              <a:buChar char="▪"/>
            </a:pPr>
            <a:r>
              <a:rPr b="1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 side</a:t>
            </a:r>
            <a:r>
              <a:rPr b="0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 b="0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1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CIN/DEV/TIN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(only in Ireland) 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1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 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(canada and ireland) 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1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PPR 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(canada and ireland) 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1" i="0" sz="723" u="none" cap="none" strike="noStrike">
              <a:solidFill>
                <a:srgbClr val="BF9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1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PRD 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 in Ireland 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 in Canada→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New DNS for V3 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 the</a:t>
            </a:r>
            <a:r>
              <a:rPr b="0" i="0" lang="fr-FR" sz="723" u="none" cap="none" strike="noStrike">
                <a:solidFill>
                  <a:srgbClr val="002D46"/>
                </a:solidFill>
                <a:uFill>
                  <a:noFill/>
                </a:u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traffic policy (geo-proximity) to be able to route the traffic automatically 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0962" lvl="2" marL="87312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822"/>
              <a:buFont typeface="Noto Sans Symbols"/>
              <a:buChar char="▪"/>
            </a:pPr>
            <a:r>
              <a:rPr b="1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Application side  :</a:t>
            </a:r>
            <a:r>
              <a:rPr b="1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1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dedicated pipelines for Build and Release </a:t>
            </a:r>
            <a:endParaRPr b="1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new user data script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Remove the ID type from the API Requests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Reinforcement of the ID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Generation of ID depending on the Region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t/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Adding the region info in the healthcheck 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1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DEV/TIN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1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 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1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PPR 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1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1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PRD </a:t>
            </a: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1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t/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t/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3" marL="2714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01" lvl="3" marL="54451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923"/>
              <a:buFont typeface="Noto Sans Symbols"/>
              <a:buNone/>
            </a:pPr>
            <a:r>
              <a:t/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394250" y="991300"/>
            <a:ext cx="8010600" cy="238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 actions and events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7081975" y="328775"/>
            <a:ext cx="1162800" cy="502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1350" spcFirstLastPara="1" rIns="613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8"/>
              <a:buFont typeface="Calibri"/>
              <a:buNone/>
            </a:pPr>
            <a:r>
              <a:t/>
            </a:r>
            <a:endParaRPr b="0" i="0" sz="1108" u="none" cap="none" strike="noStrike">
              <a:solidFill>
                <a:srgbClr val="002D46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131" name="Google Shape;131;p2"/>
          <p:cNvGrpSpPr/>
          <p:nvPr/>
        </p:nvGrpSpPr>
        <p:grpSpPr>
          <a:xfrm>
            <a:off x="4894127" y="6455276"/>
            <a:ext cx="827100" cy="273910"/>
            <a:chOff x="4244903" y="6537572"/>
            <a:chExt cx="827100" cy="273910"/>
          </a:xfrm>
        </p:grpSpPr>
        <p:pic>
          <p:nvPicPr>
            <p:cNvPr descr="Résultat d’images pour orageux icone" id="132" name="Google Shape;132;p2"/>
            <p:cNvPicPr preferRelativeResize="0"/>
            <p:nvPr/>
          </p:nvPicPr>
          <p:blipFill rotWithShape="1">
            <a:blip r:embed="rId4">
              <a:alphaModFix/>
            </a:blip>
            <a:srcRect b="15980" l="0" r="0" t="0"/>
            <a:stretch/>
          </p:blipFill>
          <p:spPr>
            <a:xfrm>
              <a:off x="4272592" y="6569807"/>
              <a:ext cx="286822" cy="24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2"/>
            <p:cNvSpPr/>
            <p:nvPr/>
          </p:nvSpPr>
          <p:spPr>
            <a:xfrm>
              <a:off x="4244903" y="6537572"/>
              <a:ext cx="8271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Blocage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5721306" y="6418179"/>
            <a:ext cx="720760" cy="279166"/>
            <a:chOff x="5072082" y="6500475"/>
            <a:chExt cx="720760" cy="279166"/>
          </a:xfrm>
        </p:grpSpPr>
        <p:pic>
          <p:nvPicPr>
            <p:cNvPr descr="C:\Users\User\Pictures\Météo PNG\GIF\50x50\m-cloudy.gif" id="135" name="Google Shape;135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72082" y="6500475"/>
              <a:ext cx="249725" cy="2791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2"/>
            <p:cNvSpPr/>
            <p:nvPr/>
          </p:nvSpPr>
          <p:spPr>
            <a:xfrm>
              <a:off x="5132842" y="6569808"/>
              <a:ext cx="660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Risque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2"/>
          <p:cNvGrpSpPr/>
          <p:nvPr/>
        </p:nvGrpSpPr>
        <p:grpSpPr>
          <a:xfrm>
            <a:off x="6410658" y="6461307"/>
            <a:ext cx="1304917" cy="312558"/>
            <a:chOff x="6590238" y="6537605"/>
            <a:chExt cx="987900" cy="356924"/>
          </a:xfrm>
        </p:grpSpPr>
        <p:pic>
          <p:nvPicPr>
            <p:cNvPr descr="C:\Users\User\Pictures\Météo PNG\50x50\sunny.png" id="138" name="Google Shape;138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63893" y="6583207"/>
              <a:ext cx="268502" cy="3113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2"/>
            <p:cNvSpPr/>
            <p:nvPr/>
          </p:nvSpPr>
          <p:spPr>
            <a:xfrm>
              <a:off x="6590238" y="6537605"/>
              <a:ext cx="987900" cy="29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   Conforme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2"/>
          <p:cNvSpPr/>
          <p:nvPr/>
        </p:nvSpPr>
        <p:spPr>
          <a:xfrm>
            <a:off x="357650" y="4620625"/>
            <a:ext cx="8010600" cy="182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1350" spcFirstLastPara="1" rIns="61350" wrap="square" tIns="45700">
            <a:no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D46"/>
              </a:buClr>
              <a:buSzPts val="1100"/>
              <a:buFont typeface="Century Gothic"/>
              <a:buChar char="●"/>
            </a:pPr>
            <a:r>
              <a:rPr b="0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Today, the traffic policy has been set with </a:t>
            </a:r>
            <a:r>
              <a:rPr b="1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GeoProximity </a:t>
            </a:r>
            <a:r>
              <a:rPr b="0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→ Shall we switch to </a:t>
            </a:r>
            <a:r>
              <a:rPr b="1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GeoLocation </a:t>
            </a:r>
            <a:r>
              <a:rPr b="0" i="0" lang="fr-FR" sz="11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 </a:t>
            </a:r>
            <a:endParaRPr b="0" i="0" sz="11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406325" y="4620625"/>
            <a:ext cx="8010600" cy="238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 / Remarks / Risks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406325" y="6410425"/>
            <a:ext cx="23292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fr-FR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eyecloud HAMR  - Steerco meeting</a:t>
            </a:r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2"/>
          <p:cNvCxnSpPr/>
          <p:nvPr/>
        </p:nvCxnSpPr>
        <p:spPr>
          <a:xfrm flipH="1" rot="10800000">
            <a:off x="7629483" y="613219"/>
            <a:ext cx="539100" cy="15300"/>
          </a:xfrm>
          <a:prstGeom prst="straightConnector1">
            <a:avLst/>
          </a:prstGeom>
          <a:noFill/>
          <a:ln cap="flat" cmpd="sng" w="47625">
            <a:solidFill>
              <a:srgbClr val="00368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4" name="Google Shape;144;p2"/>
          <p:cNvSpPr/>
          <p:nvPr/>
        </p:nvSpPr>
        <p:spPr>
          <a:xfrm>
            <a:off x="3142400" y="600350"/>
            <a:ext cx="2048100" cy="238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1350" spcFirstLastPara="1" rIns="613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fr-FR" sz="14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      Eyecloud HAMR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User\Pictures\Météo PNG\50x50\sunny.png" id="145" name="Google Shape;14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7487" y="492543"/>
            <a:ext cx="269201" cy="27262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"/>
          <p:cNvSpPr/>
          <p:nvPr/>
        </p:nvSpPr>
        <p:spPr>
          <a:xfrm>
            <a:off x="3693675" y="2855950"/>
            <a:ext cx="539100" cy="761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4308975" y="2709525"/>
            <a:ext cx="2852700" cy="1795800"/>
          </a:xfrm>
          <a:prstGeom prst="rect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001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451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Century Gothic"/>
              <a:buChar char="●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Implementation 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0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0" marL="457200" marR="0" rtl="0" algn="l">
              <a:lnSpc>
                <a:spcPct val="12004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and Test :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○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DEV/TIN – RIFT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b="0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■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■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0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○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 (CA and IR) – RIOS: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■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■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0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723"/>
              <a:buFont typeface="Century Gothic"/>
              <a:buChar char="○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PPR (CA and IR) – RICS :</a:t>
            </a:r>
            <a:endParaRPr b="0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■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■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0" i="0" sz="723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723"/>
              <a:buFont typeface="Century Gothic"/>
              <a:buChar char="○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PRD CA and IR) →RICS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■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→ </a:t>
            </a:r>
            <a:r>
              <a:rPr b="0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2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23"/>
              <a:buFont typeface="Century Gothic"/>
              <a:buChar char="■"/>
            </a:pPr>
            <a:r>
              <a:rPr b="1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→ </a:t>
            </a:r>
            <a:r>
              <a:rPr b="1" i="0" lang="fr-FR" sz="922" u="none" cap="none" strike="noStrike">
                <a:solidFill>
                  <a:srgbClr val="B45F0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Progress</a:t>
            </a:r>
            <a:endParaRPr b="1" i="0" sz="922" u="none" cap="none" strike="noStrike">
              <a:solidFill>
                <a:srgbClr val="B45F0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"/>
          <p:cNvSpPr txBox="1"/>
          <p:nvPr>
            <p:ph type="title"/>
          </p:nvPr>
        </p:nvSpPr>
        <p:spPr>
          <a:xfrm>
            <a:off x="1765925" y="75675"/>
            <a:ext cx="5035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73437"/>
              <a:buFont typeface="Calibri"/>
              <a:buNone/>
            </a:pPr>
            <a:r>
              <a:rPr lang="fr-FR"/>
              <a:t>Monthly Steerco 5 - 28/06/2022</a:t>
            </a:r>
            <a:br>
              <a:rPr lang="fr-FR"/>
            </a:br>
            <a:endParaRPr b="0" i="1" sz="1600"/>
          </a:p>
        </p:txBody>
      </p:sp>
      <p:sp>
        <p:nvSpPr>
          <p:cNvPr id="153" name="Google Shape;153;p3"/>
          <p:cNvSpPr txBox="1"/>
          <p:nvPr>
            <p:ph idx="12" type="sldNum"/>
          </p:nvPr>
        </p:nvSpPr>
        <p:spPr>
          <a:xfrm>
            <a:off x="4104743" y="6463682"/>
            <a:ext cx="2472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406325" y="1200575"/>
            <a:ext cx="8010600" cy="3433500"/>
          </a:xfrm>
          <a:prstGeom prst="rect">
            <a:avLst/>
          </a:prstGeom>
          <a:noFill/>
          <a:ln cap="flat" cmpd="sng" w="19050">
            <a:solidFill>
              <a:srgbClr val="001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1350" spcFirstLastPara="1" rIns="61350" wrap="square" tIns="45700">
            <a:noAutofit/>
          </a:bodyPr>
          <a:lstStyle/>
          <a:p>
            <a:pPr indent="-28701" lvl="2" marL="87312" marR="0" rtl="0" algn="l">
              <a:lnSpc>
                <a:spcPct val="120043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23"/>
              <a:buFont typeface="Noto Sans Symbols"/>
              <a:buNone/>
            </a:pPr>
            <a:r>
              <a:t/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7312" lvl="2" marL="87312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022"/>
              <a:buFont typeface="Noto Sans Symbols"/>
              <a:buChar char="▪"/>
            </a:pPr>
            <a:r>
              <a:rPr b="1" i="0" lang="fr-FR" sz="10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 side</a:t>
            </a:r>
            <a:r>
              <a:rPr b="0" i="0" lang="fr-FR" sz="10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 b="0" i="0" sz="10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CIN/DEV/TIN  (only in Ireland)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 (canada and ireland)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PPR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●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 in Ireland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●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 in Canada→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●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New DNS for V3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●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 the</a:t>
            </a:r>
            <a:r>
              <a:rPr b="0" i="0" lang="fr-FR" sz="822" u="sng" cap="none" strike="noStrike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 </a:t>
            </a:r>
            <a:r>
              <a:rPr b="0" i="0" lang="fr-FR" sz="822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traffic policy (geo-proximity) t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be able to route the traffic automatically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 by CCOE </a:t>
            </a:r>
            <a:r>
              <a:rPr b="1" i="0" lang="fr-FR" sz="822" u="none" cap="none" strike="noStrike">
                <a:solidFill>
                  <a:srgbClr val="BF9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(test in progress) </a:t>
            </a:r>
            <a:endParaRPr b="1" i="0" sz="822" u="none" cap="none" strike="noStrike">
              <a:solidFill>
                <a:srgbClr val="BF9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PRD : Tasks about infrastructure creation  will be added in the CCOE’s backlog once validation on PPR will be done (expected this week)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0962" lvl="2" marL="87312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822"/>
              <a:buFont typeface="Noto Sans Symbols"/>
              <a:buChar char="▪"/>
            </a:pPr>
            <a:r>
              <a:rPr b="1" i="0" lang="fr-FR" sz="10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Application side  :</a:t>
            </a: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dedicated pipelines for Build and Release 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new user data script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Remove the ID type from the API Requests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Reinforcement of the ID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Generation of ID depending on the Region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t/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2" marL="4572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▪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Adding the region info in the healthcheck  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DEV/TIN 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 → </a:t>
            </a:r>
            <a:r>
              <a:rPr b="1" i="0" lang="fr-FR" sz="723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0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51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723"/>
              <a:buFont typeface="Century Gothic"/>
              <a:buChar char="●"/>
            </a:pPr>
            <a:r>
              <a:rPr b="0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PPR → </a:t>
            </a:r>
            <a:r>
              <a:rPr b="1" i="0" lang="fr-FR" sz="723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be deployed </a:t>
            </a:r>
            <a:endParaRPr b="1" i="0" sz="723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t/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t/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3" marL="2714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01" lvl="3" marL="54451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923"/>
              <a:buFont typeface="Noto Sans Symbols"/>
              <a:buNone/>
            </a:pPr>
            <a:r>
              <a:t/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394250" y="991300"/>
            <a:ext cx="8010600" cy="238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 actions and events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7081975" y="328775"/>
            <a:ext cx="1162800" cy="502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1350" spcFirstLastPara="1" rIns="613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8"/>
              <a:buFont typeface="Calibri"/>
              <a:buNone/>
            </a:pPr>
            <a:r>
              <a:t/>
            </a:r>
            <a:endParaRPr b="0" i="0" sz="1108" u="none" cap="none" strike="noStrike">
              <a:solidFill>
                <a:srgbClr val="002D46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157" name="Google Shape;157;p3"/>
          <p:cNvGrpSpPr/>
          <p:nvPr/>
        </p:nvGrpSpPr>
        <p:grpSpPr>
          <a:xfrm>
            <a:off x="4894127" y="6455276"/>
            <a:ext cx="827100" cy="273910"/>
            <a:chOff x="4244903" y="6537572"/>
            <a:chExt cx="827100" cy="273910"/>
          </a:xfrm>
        </p:grpSpPr>
        <p:pic>
          <p:nvPicPr>
            <p:cNvPr descr="Résultat d’images pour orageux icone" id="158" name="Google Shape;158;p3"/>
            <p:cNvPicPr preferRelativeResize="0"/>
            <p:nvPr/>
          </p:nvPicPr>
          <p:blipFill rotWithShape="1">
            <a:blip r:embed="rId4">
              <a:alphaModFix/>
            </a:blip>
            <a:srcRect b="15980" l="0" r="0" t="0"/>
            <a:stretch/>
          </p:blipFill>
          <p:spPr>
            <a:xfrm>
              <a:off x="4272592" y="6569807"/>
              <a:ext cx="286822" cy="24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3"/>
            <p:cNvSpPr/>
            <p:nvPr/>
          </p:nvSpPr>
          <p:spPr>
            <a:xfrm>
              <a:off x="4244903" y="6537572"/>
              <a:ext cx="8271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Blocage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3"/>
          <p:cNvGrpSpPr/>
          <p:nvPr/>
        </p:nvGrpSpPr>
        <p:grpSpPr>
          <a:xfrm>
            <a:off x="5721306" y="6418179"/>
            <a:ext cx="720760" cy="279166"/>
            <a:chOff x="5072082" y="6500475"/>
            <a:chExt cx="720760" cy="279166"/>
          </a:xfrm>
        </p:grpSpPr>
        <p:pic>
          <p:nvPicPr>
            <p:cNvPr descr="C:\Users\User\Pictures\Météo PNG\GIF\50x50\m-cloudy.gif" id="161" name="Google Shape;161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72082" y="6500475"/>
              <a:ext cx="249725" cy="2791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3"/>
            <p:cNvSpPr/>
            <p:nvPr/>
          </p:nvSpPr>
          <p:spPr>
            <a:xfrm>
              <a:off x="5132842" y="6569808"/>
              <a:ext cx="660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Risque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3"/>
          <p:cNvGrpSpPr/>
          <p:nvPr/>
        </p:nvGrpSpPr>
        <p:grpSpPr>
          <a:xfrm>
            <a:off x="6410658" y="6461307"/>
            <a:ext cx="1304917" cy="312558"/>
            <a:chOff x="6590238" y="6537605"/>
            <a:chExt cx="987900" cy="356924"/>
          </a:xfrm>
        </p:grpSpPr>
        <p:pic>
          <p:nvPicPr>
            <p:cNvPr descr="C:\Users\User\Pictures\Météo PNG\50x50\sunny.png" id="164" name="Google Shape;164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63893" y="6583207"/>
              <a:ext cx="268502" cy="3113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3"/>
            <p:cNvSpPr/>
            <p:nvPr/>
          </p:nvSpPr>
          <p:spPr>
            <a:xfrm>
              <a:off x="6590238" y="6537605"/>
              <a:ext cx="987900" cy="29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   Conforme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3"/>
          <p:cNvSpPr/>
          <p:nvPr/>
        </p:nvSpPr>
        <p:spPr>
          <a:xfrm>
            <a:off x="393425" y="4620625"/>
            <a:ext cx="8010600" cy="182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1350" spcFirstLastPara="1" rIns="61350" wrap="square" tIns="45700">
            <a:no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sng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6460" lvl="0" marL="8646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406325" y="4620625"/>
            <a:ext cx="8010600" cy="238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 / Remarks / Risks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406325" y="6410425"/>
            <a:ext cx="23292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fr-FR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eyecloud HAMR  - Steerco meeting</a:t>
            </a:r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3"/>
          <p:cNvCxnSpPr/>
          <p:nvPr/>
        </p:nvCxnSpPr>
        <p:spPr>
          <a:xfrm flipH="1" rot="10800000">
            <a:off x="7629483" y="613219"/>
            <a:ext cx="539100" cy="15300"/>
          </a:xfrm>
          <a:prstGeom prst="straightConnector1">
            <a:avLst/>
          </a:prstGeom>
          <a:noFill/>
          <a:ln cap="flat" cmpd="sng" w="47625">
            <a:solidFill>
              <a:srgbClr val="00368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0" name="Google Shape;170;p3"/>
          <p:cNvSpPr/>
          <p:nvPr/>
        </p:nvSpPr>
        <p:spPr>
          <a:xfrm>
            <a:off x="3142400" y="600350"/>
            <a:ext cx="2048100" cy="238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1350" spcFirstLastPara="1" rIns="613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fr-FR" sz="14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      Eyecloud HAMR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User\Pictures\Météo PNG\50x50\sunny.png" id="171" name="Google Shape;17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7487" y="492543"/>
            <a:ext cx="269201" cy="27262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"/>
          <p:cNvSpPr/>
          <p:nvPr/>
        </p:nvSpPr>
        <p:spPr>
          <a:xfrm>
            <a:off x="3693675" y="3084550"/>
            <a:ext cx="539100" cy="761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 txBox="1"/>
          <p:nvPr/>
        </p:nvSpPr>
        <p:spPr>
          <a:xfrm>
            <a:off x="4308975" y="2861925"/>
            <a:ext cx="2852700" cy="1603500"/>
          </a:xfrm>
          <a:prstGeom prst="rect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001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086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3"/>
              <a:buFont typeface="Century Gothic"/>
              <a:buChar char="●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Implementation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0" marL="457200" marR="0" rtl="0" algn="l">
              <a:lnSpc>
                <a:spcPct val="12004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●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and Test : 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DEV/TIN – RIFT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■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■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 (CA and IR) – RIOS: 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■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■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823"/>
              <a:buFont typeface="Century Gothic"/>
              <a:buChar char="○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PPR (CA and IR) – RICS :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■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■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 txBox="1"/>
          <p:nvPr>
            <p:ph type="title"/>
          </p:nvPr>
        </p:nvSpPr>
        <p:spPr>
          <a:xfrm>
            <a:off x="1765925" y="75675"/>
            <a:ext cx="5035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73437"/>
              <a:buFont typeface="Calibri"/>
              <a:buNone/>
            </a:pPr>
            <a:r>
              <a:rPr lang="fr-FR"/>
              <a:t>Monthly Steerco 4 - 20/05/2022</a:t>
            </a:r>
            <a:br>
              <a:rPr lang="fr-FR"/>
            </a:br>
            <a:endParaRPr b="0" i="1" sz="1600"/>
          </a:p>
        </p:txBody>
      </p:sp>
      <p:sp>
        <p:nvSpPr>
          <p:cNvPr id="179" name="Google Shape;179;p4"/>
          <p:cNvSpPr txBox="1"/>
          <p:nvPr>
            <p:ph idx="12" type="sldNum"/>
          </p:nvPr>
        </p:nvSpPr>
        <p:spPr>
          <a:xfrm>
            <a:off x="4104743" y="6463682"/>
            <a:ext cx="2472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406325" y="1200575"/>
            <a:ext cx="8010600" cy="3433500"/>
          </a:xfrm>
          <a:prstGeom prst="rect">
            <a:avLst/>
          </a:prstGeom>
          <a:noFill/>
          <a:ln cap="flat" cmpd="sng" w="19050">
            <a:solidFill>
              <a:srgbClr val="001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1350" spcFirstLastPara="1" rIns="61350" wrap="square" tIns="45700">
            <a:noAutofit/>
          </a:bodyPr>
          <a:lstStyle/>
          <a:p>
            <a:pPr indent="-28701" lvl="2" marL="87312" marR="0" rtl="0" algn="l">
              <a:lnSpc>
                <a:spcPct val="120043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23"/>
              <a:buFont typeface="Noto Sans Symbols"/>
              <a:buNone/>
            </a:pPr>
            <a:r>
              <a:t/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7312" lvl="2" marL="87312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022"/>
              <a:buFont typeface="Noto Sans Symbols"/>
              <a:buChar char="▪"/>
            </a:pPr>
            <a:r>
              <a:rPr b="1" i="0" lang="fr-FR" sz="10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 side</a:t>
            </a:r>
            <a:r>
              <a:rPr b="0" i="0" lang="fr-FR" sz="10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 b="0" i="0" sz="10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CIN/DEV/TIN  (only in Ireland)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 (canada and ireland)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PPR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●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 in Ireland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●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 in Canada→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●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 the</a:t>
            </a:r>
            <a:r>
              <a:rPr b="0" i="0" lang="fr-FR" sz="822" u="sng" cap="none" strike="noStrike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 </a:t>
            </a:r>
            <a:r>
              <a:rPr b="0" i="0" lang="fr-FR" sz="822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traffic policy t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be able to route the traffic automatically → </a:t>
            </a:r>
            <a:r>
              <a:rPr b="1" i="0" lang="fr-FR" sz="822" u="none" cap="none" strike="noStrike">
                <a:solidFill>
                  <a:srgbClr val="B45F0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PROGRESS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2860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t/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0962" lvl="2" marL="87312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822"/>
              <a:buFont typeface="Noto Sans Symbols"/>
              <a:buChar char="▪"/>
            </a:pPr>
            <a:r>
              <a:rPr b="1" i="0" lang="fr-FR" sz="10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Application side  :</a:t>
            </a: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dedicated pipelines for Build and Release 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new user data script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Remove the ID type from the API Requests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Reinforcement of the ID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Generation of ID depending on the Region </a:t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3" marL="2714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01" lvl="3" marL="54451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923"/>
              <a:buFont typeface="Noto Sans Symbols"/>
              <a:buNone/>
            </a:pPr>
            <a:r>
              <a:t/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394250" y="991300"/>
            <a:ext cx="8010600" cy="238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 actions and events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7081975" y="328775"/>
            <a:ext cx="1162800" cy="502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1350" spcFirstLastPara="1" rIns="613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8"/>
              <a:buFont typeface="Calibri"/>
              <a:buNone/>
            </a:pPr>
            <a:r>
              <a:t/>
            </a:r>
            <a:endParaRPr b="0" i="0" sz="1108" u="none" cap="none" strike="noStrike">
              <a:solidFill>
                <a:srgbClr val="002D46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183" name="Google Shape;183;p4"/>
          <p:cNvGrpSpPr/>
          <p:nvPr/>
        </p:nvGrpSpPr>
        <p:grpSpPr>
          <a:xfrm>
            <a:off x="4894127" y="6455276"/>
            <a:ext cx="827100" cy="273910"/>
            <a:chOff x="4244903" y="6537572"/>
            <a:chExt cx="827100" cy="273910"/>
          </a:xfrm>
        </p:grpSpPr>
        <p:pic>
          <p:nvPicPr>
            <p:cNvPr descr="Résultat d’images pour orageux icone" id="184" name="Google Shape;184;p4"/>
            <p:cNvPicPr preferRelativeResize="0"/>
            <p:nvPr/>
          </p:nvPicPr>
          <p:blipFill rotWithShape="1">
            <a:blip r:embed="rId4">
              <a:alphaModFix/>
            </a:blip>
            <a:srcRect b="15980" l="0" r="0" t="0"/>
            <a:stretch/>
          </p:blipFill>
          <p:spPr>
            <a:xfrm>
              <a:off x="4272592" y="6569807"/>
              <a:ext cx="286822" cy="24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4"/>
            <p:cNvSpPr/>
            <p:nvPr/>
          </p:nvSpPr>
          <p:spPr>
            <a:xfrm>
              <a:off x="4244903" y="6537572"/>
              <a:ext cx="8271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Blocage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4"/>
          <p:cNvGrpSpPr/>
          <p:nvPr/>
        </p:nvGrpSpPr>
        <p:grpSpPr>
          <a:xfrm>
            <a:off x="5721306" y="6418179"/>
            <a:ext cx="720760" cy="279166"/>
            <a:chOff x="5072082" y="6500475"/>
            <a:chExt cx="720760" cy="279166"/>
          </a:xfrm>
        </p:grpSpPr>
        <p:pic>
          <p:nvPicPr>
            <p:cNvPr descr="C:\Users\User\Pictures\Météo PNG\GIF\50x50\m-cloudy.gif" id="187" name="Google Shape;187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72082" y="6500475"/>
              <a:ext cx="249725" cy="2791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4"/>
            <p:cNvSpPr/>
            <p:nvPr/>
          </p:nvSpPr>
          <p:spPr>
            <a:xfrm>
              <a:off x="5132842" y="6569808"/>
              <a:ext cx="660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Risque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4"/>
          <p:cNvGrpSpPr/>
          <p:nvPr/>
        </p:nvGrpSpPr>
        <p:grpSpPr>
          <a:xfrm>
            <a:off x="6410658" y="6461307"/>
            <a:ext cx="1304917" cy="312558"/>
            <a:chOff x="6590238" y="6537605"/>
            <a:chExt cx="987900" cy="356924"/>
          </a:xfrm>
        </p:grpSpPr>
        <p:pic>
          <p:nvPicPr>
            <p:cNvPr descr="C:\Users\User\Pictures\Météo PNG\50x50\sunny.png" id="190" name="Google Shape;190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63893" y="6583207"/>
              <a:ext cx="268502" cy="3113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4"/>
            <p:cNvSpPr/>
            <p:nvPr/>
          </p:nvSpPr>
          <p:spPr>
            <a:xfrm>
              <a:off x="6590238" y="6537605"/>
              <a:ext cx="987900" cy="29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   Conforme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p4"/>
          <p:cNvSpPr/>
          <p:nvPr/>
        </p:nvSpPr>
        <p:spPr>
          <a:xfrm>
            <a:off x="393425" y="4620625"/>
            <a:ext cx="8010600" cy="182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1350" spcFirstLastPara="1" rIns="61350" wrap="square" tIns="45700">
            <a:no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 1 :</a:t>
            </a:r>
            <a:endParaRPr b="1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entury Gothic"/>
              <a:buChar char="●"/>
            </a:pP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Traffic Policy activation </a:t>
            </a: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</a:t>
            </a:r>
            <a:r>
              <a:rPr b="1" i="0" lang="fr-FR" sz="900" u="none" cap="none" strike="noStrike">
                <a:solidFill>
                  <a:srgbClr val="B45F0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on hold in PPR </a:t>
            </a: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entury Gothic"/>
              <a:buChar char="○"/>
            </a:pP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had to change the DNS for the V3. The Goal is to apply a specific DNS for the new V3 in order to avoid impacting the V1/V2 version with the new traffic policy. → DNS have been created on </a:t>
            </a: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CIN/DEV/TIN</a:t>
            </a: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test are scheduled for next week. </a:t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entury Gothic"/>
              <a:buChar char="○"/>
            </a:pP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Due to the issue faced in GDP with US and CANADA users with latency, we will probably switch from “</a:t>
            </a: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Latency</a:t>
            </a: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 to “</a:t>
            </a: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Geoproximity</a:t>
            </a: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 (or </a:t>
            </a: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geolocation</a:t>
            </a: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route policy</a:t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sng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6460" lvl="0" marL="8646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406325" y="4620625"/>
            <a:ext cx="8010600" cy="238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 / Remarks / Risks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406325" y="6410425"/>
            <a:ext cx="23292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fr-FR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eyecloud HAMR  - Steerco meeting</a:t>
            </a:r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4"/>
          <p:cNvCxnSpPr/>
          <p:nvPr/>
        </p:nvCxnSpPr>
        <p:spPr>
          <a:xfrm flipH="1" rot="10800000">
            <a:off x="7629483" y="613219"/>
            <a:ext cx="539100" cy="15300"/>
          </a:xfrm>
          <a:prstGeom prst="straightConnector1">
            <a:avLst/>
          </a:prstGeom>
          <a:noFill/>
          <a:ln cap="flat" cmpd="sng" w="47625">
            <a:solidFill>
              <a:srgbClr val="00368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96" name="Google Shape;196;p4"/>
          <p:cNvSpPr/>
          <p:nvPr/>
        </p:nvSpPr>
        <p:spPr>
          <a:xfrm>
            <a:off x="3142400" y="600350"/>
            <a:ext cx="2048100" cy="238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1350" spcFirstLastPara="1" rIns="613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fr-FR" sz="14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      Eyecloud HAMR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4104750" y="2741100"/>
            <a:ext cx="2852700" cy="1603500"/>
          </a:xfrm>
          <a:prstGeom prst="rect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001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086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3"/>
              <a:buFont typeface="Century Gothic"/>
              <a:buChar char="●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Implementation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0" marL="457200" marR="0" rtl="0" algn="l">
              <a:lnSpc>
                <a:spcPct val="12004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●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and Test : 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DEV/TIN – RIFT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■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■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 (CA and IR) – RIOS: 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■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■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823"/>
              <a:buFont typeface="Century Gothic"/>
              <a:buChar char="○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PPR (CA and IR) – RICS :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■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■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– &gt; TO DO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C:\Users\User\Pictures\Météo PNG\50x50\sunny.png" id="198" name="Google Shape;19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7487" y="492543"/>
            <a:ext cx="269201" cy="27262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"/>
          <p:cNvSpPr/>
          <p:nvPr/>
        </p:nvSpPr>
        <p:spPr>
          <a:xfrm>
            <a:off x="3735075" y="2984950"/>
            <a:ext cx="269100" cy="832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/>
          <p:nvPr>
            <p:ph type="title"/>
          </p:nvPr>
        </p:nvSpPr>
        <p:spPr>
          <a:xfrm>
            <a:off x="1765925" y="75675"/>
            <a:ext cx="5035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73437"/>
              <a:buFont typeface="Calibri"/>
              <a:buNone/>
            </a:pPr>
            <a:r>
              <a:rPr lang="fr-FR"/>
              <a:t>Monthly Steerco 3 - 15/04/2022</a:t>
            </a:r>
            <a:br>
              <a:rPr lang="fr-FR"/>
            </a:br>
            <a:endParaRPr b="0" i="1" sz="1600"/>
          </a:p>
        </p:txBody>
      </p:sp>
      <p:sp>
        <p:nvSpPr>
          <p:cNvPr id="205" name="Google Shape;205;p5"/>
          <p:cNvSpPr txBox="1"/>
          <p:nvPr>
            <p:ph idx="12" type="sldNum"/>
          </p:nvPr>
        </p:nvSpPr>
        <p:spPr>
          <a:xfrm>
            <a:off x="4104743" y="6463682"/>
            <a:ext cx="2472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406325" y="1200575"/>
            <a:ext cx="8010600" cy="3433500"/>
          </a:xfrm>
          <a:prstGeom prst="rect">
            <a:avLst/>
          </a:prstGeom>
          <a:noFill/>
          <a:ln cap="flat" cmpd="sng" w="19050">
            <a:solidFill>
              <a:srgbClr val="001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1350" spcFirstLastPara="1" rIns="61350" wrap="square" tIns="45700">
            <a:noAutofit/>
          </a:bodyPr>
          <a:lstStyle/>
          <a:p>
            <a:pPr indent="-28701" lvl="2" marL="87312" marR="0" rtl="0" algn="l">
              <a:lnSpc>
                <a:spcPct val="120043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23"/>
              <a:buFont typeface="Noto Sans Symbols"/>
              <a:buNone/>
            </a:pPr>
            <a:r>
              <a:t/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7312" lvl="2" marL="87312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022"/>
              <a:buFont typeface="Noto Sans Symbols"/>
              <a:buChar char="▪"/>
            </a:pPr>
            <a:r>
              <a:rPr b="1" i="0" lang="fr-FR" sz="10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 side</a:t>
            </a:r>
            <a:r>
              <a:rPr b="0" i="0" lang="fr-FR" sz="10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 b="0" i="0" sz="10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CIN/DEV/TIN  (only in Ireland)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●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Ireland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●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Canada→ </a:t>
            </a:r>
            <a:r>
              <a:rPr b="1" i="0" lang="fr-FR" sz="822" u="none" cap="none" strike="noStrike">
                <a:solidFill>
                  <a:srgbClr val="B45F0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PROGRESS</a:t>
            </a:r>
            <a:endParaRPr b="1" i="0" sz="822" u="none" cap="none" strike="noStrike">
              <a:solidFill>
                <a:srgbClr val="B45F0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4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bucket in canada region to store the files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4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Set bi directional replication between ireland and canada buckets 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4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 the global table feature in order to have dynamoDB in both Region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4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Replica of RDS (Mysql) for CANADA region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4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new ASG in canada for eyecloud V3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4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a bucket to host package in canada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4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 the</a:t>
            </a:r>
            <a:r>
              <a:rPr b="0" i="0" lang="fr-FR" sz="822" u="sng" cap="none" strike="noStrike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 </a:t>
            </a:r>
            <a:r>
              <a:rPr b="0" i="0" lang="fr-FR" sz="822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traffic policy t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be able to route the traffic → </a:t>
            </a:r>
            <a:r>
              <a:rPr b="1" i="0" lang="fr-FR" sz="822" u="none" cap="none" strike="noStrike">
                <a:solidFill>
                  <a:srgbClr val="B45F0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PROGRESS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2860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t/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0962" lvl="2" marL="87312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822"/>
              <a:buFont typeface="Noto Sans Symbols"/>
              <a:buChar char="▪"/>
            </a:pPr>
            <a:r>
              <a:rPr b="1" i="0" lang="fr-FR" sz="10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Application side  :</a:t>
            </a: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dedicated pipelines for Build and Release 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new user data script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Remove the ID type from the API Requests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Reinforcement of the ID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Generation of ID depending on the Region </a:t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3" marL="2714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01" lvl="3" marL="54451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923"/>
              <a:buFont typeface="Noto Sans Symbols"/>
              <a:buNone/>
            </a:pPr>
            <a:r>
              <a:t/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394250" y="991300"/>
            <a:ext cx="8010600" cy="238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 actions and events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7081975" y="328775"/>
            <a:ext cx="1162800" cy="502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1350" spcFirstLastPara="1" rIns="613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8"/>
              <a:buFont typeface="Calibri"/>
              <a:buNone/>
            </a:pPr>
            <a:r>
              <a:t/>
            </a:r>
            <a:endParaRPr b="0" i="0" sz="1108" u="none" cap="none" strike="noStrike">
              <a:solidFill>
                <a:srgbClr val="002D46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209" name="Google Shape;209;p5"/>
          <p:cNvGrpSpPr/>
          <p:nvPr/>
        </p:nvGrpSpPr>
        <p:grpSpPr>
          <a:xfrm>
            <a:off x="4894127" y="6455276"/>
            <a:ext cx="827100" cy="273910"/>
            <a:chOff x="4244903" y="6537572"/>
            <a:chExt cx="827100" cy="273910"/>
          </a:xfrm>
        </p:grpSpPr>
        <p:pic>
          <p:nvPicPr>
            <p:cNvPr descr="Résultat d’images pour orageux icone" id="210" name="Google Shape;210;p5"/>
            <p:cNvPicPr preferRelativeResize="0"/>
            <p:nvPr/>
          </p:nvPicPr>
          <p:blipFill rotWithShape="1">
            <a:blip r:embed="rId4">
              <a:alphaModFix/>
            </a:blip>
            <a:srcRect b="15980" l="0" r="0" t="0"/>
            <a:stretch/>
          </p:blipFill>
          <p:spPr>
            <a:xfrm>
              <a:off x="4272592" y="6569807"/>
              <a:ext cx="286822" cy="24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5"/>
            <p:cNvSpPr/>
            <p:nvPr/>
          </p:nvSpPr>
          <p:spPr>
            <a:xfrm>
              <a:off x="4244903" y="6537572"/>
              <a:ext cx="8271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Blocage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5"/>
          <p:cNvGrpSpPr/>
          <p:nvPr/>
        </p:nvGrpSpPr>
        <p:grpSpPr>
          <a:xfrm>
            <a:off x="5721306" y="6418179"/>
            <a:ext cx="720760" cy="279166"/>
            <a:chOff x="5072082" y="6500475"/>
            <a:chExt cx="720760" cy="279166"/>
          </a:xfrm>
        </p:grpSpPr>
        <p:pic>
          <p:nvPicPr>
            <p:cNvPr descr="C:\Users\User\Pictures\Météo PNG\GIF\50x50\m-cloudy.gif" id="213" name="Google Shape;213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72082" y="6500475"/>
              <a:ext cx="249725" cy="2791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5"/>
            <p:cNvSpPr/>
            <p:nvPr/>
          </p:nvSpPr>
          <p:spPr>
            <a:xfrm>
              <a:off x="5132842" y="6569808"/>
              <a:ext cx="660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Risque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5"/>
          <p:cNvGrpSpPr/>
          <p:nvPr/>
        </p:nvGrpSpPr>
        <p:grpSpPr>
          <a:xfrm>
            <a:off x="6410658" y="6461307"/>
            <a:ext cx="1304917" cy="312558"/>
            <a:chOff x="6590238" y="6537605"/>
            <a:chExt cx="987900" cy="356924"/>
          </a:xfrm>
        </p:grpSpPr>
        <p:pic>
          <p:nvPicPr>
            <p:cNvPr descr="C:\Users\User\Pictures\Météo PNG\50x50\sunny.png" id="216" name="Google Shape;216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63893" y="6583207"/>
              <a:ext cx="268502" cy="3113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5"/>
            <p:cNvSpPr/>
            <p:nvPr/>
          </p:nvSpPr>
          <p:spPr>
            <a:xfrm>
              <a:off x="6590238" y="6537605"/>
              <a:ext cx="987900" cy="29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   Conforme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5"/>
          <p:cNvSpPr/>
          <p:nvPr/>
        </p:nvSpPr>
        <p:spPr>
          <a:xfrm>
            <a:off x="393425" y="4620625"/>
            <a:ext cx="8010600" cy="182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1350" spcFirstLastPara="1" rIns="61350" wrap="square" tIns="45700">
            <a:no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 1 :</a:t>
            </a:r>
            <a:endParaRPr b="1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entury Gothic"/>
              <a:buChar char="●"/>
            </a:pP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Traffic Policy setting</a:t>
            </a: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</a:t>
            </a:r>
            <a:r>
              <a:rPr b="1" i="0" lang="fr-FR" sz="900" u="none" cap="none" strike="noStrike">
                <a:solidFill>
                  <a:srgbClr val="B45F0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progress </a:t>
            </a: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Souad is waiting the support of AWS in order to increase the quotas of records within traffic policy</a:t>
            </a:r>
            <a:endParaRPr b="1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entury Gothic"/>
              <a:buChar char="●"/>
            </a:pP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Next step is setting the infra on PPR </a:t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 2</a:t>
            </a: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: </a:t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entury Gothic"/>
              <a:buChar char="●"/>
            </a:pP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Rashmi will leave the company on20th of April. She  has been the  developer of </a:t>
            </a: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eyecloud </a:t>
            </a: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</a:t>
            </a: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authz </a:t>
            </a:r>
            <a:endParaRPr b="1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sng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6460" lvl="0" marL="8646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406325" y="4620625"/>
            <a:ext cx="8010600" cy="238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 / Remarks / Risks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406325" y="6410425"/>
            <a:ext cx="23292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fr-FR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eyecloud HAMR  - Steerco meeting</a:t>
            </a:r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5"/>
          <p:cNvCxnSpPr/>
          <p:nvPr/>
        </p:nvCxnSpPr>
        <p:spPr>
          <a:xfrm flipH="1" rot="10800000">
            <a:off x="7629483" y="613219"/>
            <a:ext cx="539100" cy="15300"/>
          </a:xfrm>
          <a:prstGeom prst="straightConnector1">
            <a:avLst/>
          </a:prstGeom>
          <a:noFill/>
          <a:ln cap="flat" cmpd="sng" w="47625">
            <a:solidFill>
              <a:srgbClr val="00368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22" name="Google Shape;222;p5"/>
          <p:cNvSpPr/>
          <p:nvPr/>
        </p:nvSpPr>
        <p:spPr>
          <a:xfrm>
            <a:off x="3142400" y="600350"/>
            <a:ext cx="2048100" cy="238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1350" spcFirstLastPara="1" rIns="613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fr-FR" sz="14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      Eyecloud HAMR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4229225" y="3334475"/>
            <a:ext cx="2852700" cy="1223400"/>
          </a:xfrm>
          <a:prstGeom prst="rect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001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086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3"/>
              <a:buFont typeface="Century Gothic"/>
              <a:buChar char="●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Implementation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0" marL="457200" marR="0" rtl="0" algn="l">
              <a:lnSpc>
                <a:spcPct val="12004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●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and Test : 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DEV/TIN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■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■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 (CA and IR) : 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822" u="none" cap="none" strike="noStrike">
              <a:solidFill>
                <a:srgbClr val="B45F0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C:\Users\User\Pictures\Météo PNG\50x50\sunny.png" id="224" name="Google Shape;22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7487" y="492543"/>
            <a:ext cx="269201" cy="27262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"/>
          <p:cNvSpPr/>
          <p:nvPr/>
        </p:nvSpPr>
        <p:spPr>
          <a:xfrm>
            <a:off x="3677100" y="3664675"/>
            <a:ext cx="269100" cy="919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"/>
          <p:cNvSpPr txBox="1"/>
          <p:nvPr>
            <p:ph idx="12" type="sldNum"/>
          </p:nvPr>
        </p:nvSpPr>
        <p:spPr>
          <a:xfrm>
            <a:off x="4104743" y="6463682"/>
            <a:ext cx="2472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32" name="Google Shape;232;p6"/>
          <p:cNvSpPr txBox="1"/>
          <p:nvPr>
            <p:ph idx="1" type="body"/>
          </p:nvPr>
        </p:nvSpPr>
        <p:spPr>
          <a:xfrm>
            <a:off x="1547813" y="2133600"/>
            <a:ext cx="7200900" cy="3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3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33" name="Google Shape;2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74" y="928701"/>
            <a:ext cx="9164538" cy="4516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6"/>
          <p:cNvSpPr/>
          <p:nvPr/>
        </p:nvSpPr>
        <p:spPr>
          <a:xfrm>
            <a:off x="452412" y="216125"/>
            <a:ext cx="8239200" cy="462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1350" spcFirstLastPara="1" rIns="613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fr-FR" sz="24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      HAMR</a:t>
            </a:r>
            <a:r>
              <a:rPr b="1" lang="fr-FR" sz="2400">
                <a:solidFill>
                  <a:srgbClr val="002D46"/>
                </a:solidFill>
              </a:rPr>
              <a:t> API </a:t>
            </a:r>
            <a:r>
              <a:rPr b="1" i="0" lang="fr-FR" sz="24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Traffic Policy</a:t>
            </a:r>
            <a:r>
              <a:rPr b="1" lang="fr-FR" sz="2400">
                <a:solidFill>
                  <a:srgbClr val="002D46"/>
                </a:solidFill>
              </a:rPr>
              <a:t> with Route53 on AWS</a:t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"/>
          <p:cNvSpPr txBox="1"/>
          <p:nvPr>
            <p:ph type="title"/>
          </p:nvPr>
        </p:nvSpPr>
        <p:spPr>
          <a:xfrm>
            <a:off x="1765925" y="75675"/>
            <a:ext cx="5035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73437"/>
              <a:buFont typeface="Calibri"/>
              <a:buNone/>
            </a:pPr>
            <a:r>
              <a:rPr lang="fr-FR"/>
              <a:t>Monthly Steerco 2 - 18/03/2022</a:t>
            </a:r>
            <a:br>
              <a:rPr lang="fr-FR"/>
            </a:br>
            <a:endParaRPr b="0" i="1" sz="1600"/>
          </a:p>
        </p:txBody>
      </p:sp>
      <p:sp>
        <p:nvSpPr>
          <p:cNvPr id="240" name="Google Shape;240;p7"/>
          <p:cNvSpPr txBox="1"/>
          <p:nvPr>
            <p:ph idx="12" type="sldNum"/>
          </p:nvPr>
        </p:nvSpPr>
        <p:spPr>
          <a:xfrm>
            <a:off x="4104743" y="6463682"/>
            <a:ext cx="2472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06325" y="1200575"/>
            <a:ext cx="8010600" cy="3433500"/>
          </a:xfrm>
          <a:prstGeom prst="rect">
            <a:avLst/>
          </a:prstGeom>
          <a:noFill/>
          <a:ln cap="flat" cmpd="sng" w="19050">
            <a:solidFill>
              <a:srgbClr val="001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1350" spcFirstLastPara="1" rIns="61350" wrap="square" tIns="45700">
            <a:noAutofit/>
          </a:bodyPr>
          <a:lstStyle/>
          <a:p>
            <a:pPr indent="-28701" lvl="2" marL="87312" marR="0" rtl="0" algn="l">
              <a:lnSpc>
                <a:spcPct val="120043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23"/>
              <a:buFont typeface="Noto Sans Symbols"/>
              <a:buNone/>
            </a:pPr>
            <a:r>
              <a:t/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7312" lvl="2" marL="87312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022"/>
              <a:buFont typeface="Noto Sans Symbols"/>
              <a:buChar char="▪"/>
            </a:pPr>
            <a:r>
              <a:rPr b="1" i="0" lang="fr-FR" sz="10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 side</a:t>
            </a:r>
            <a:r>
              <a:rPr b="0" i="0" lang="fr-FR" sz="10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 b="0" i="0" sz="10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CIN/DEV/TIN  (only in Ireland)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●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Ireland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3" marL="9144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●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Canada→ </a:t>
            </a: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DO (tasks have been added in the CCOE backlog)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: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4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bucket in canada region to store the files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4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Set bi directional replication between ireland and canada buckets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4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 the Route 53 to be able to route the traffic (metrics have to be defined)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4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 the global table feature in order to have dynamo DB in both Region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4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new ASG in canada for eyecloud V3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4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○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a bucket to host package in canada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2860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t/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0962" lvl="2" marL="87312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822"/>
              <a:buFont typeface="Noto Sans Symbols"/>
              <a:buChar char="▪"/>
            </a:pPr>
            <a:r>
              <a:rPr b="1" i="0" lang="fr-FR" sz="10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Application side  :</a:t>
            </a: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dedicated pipelines for Build and Release </a:t>
            </a:r>
            <a:endParaRPr b="1" i="0" sz="8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new user data script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Remove the ID type from the API Requests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Reinforcement of the ID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4572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Generation of ID depending on the Region </a:t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3" marL="2714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01" lvl="3" marL="54451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923"/>
              <a:buFont typeface="Noto Sans Symbols"/>
              <a:buNone/>
            </a:pPr>
            <a:r>
              <a:t/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394250" y="991300"/>
            <a:ext cx="8010600" cy="238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 actions and events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7081975" y="328775"/>
            <a:ext cx="1162800" cy="502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1350" spcFirstLastPara="1" rIns="613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8"/>
              <a:buFont typeface="Calibri"/>
              <a:buNone/>
            </a:pPr>
            <a:r>
              <a:t/>
            </a:r>
            <a:endParaRPr b="0" i="0" sz="1108" u="none" cap="none" strike="noStrike">
              <a:solidFill>
                <a:srgbClr val="002D46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244" name="Google Shape;244;p7"/>
          <p:cNvGrpSpPr/>
          <p:nvPr/>
        </p:nvGrpSpPr>
        <p:grpSpPr>
          <a:xfrm>
            <a:off x="4894127" y="6455276"/>
            <a:ext cx="827100" cy="273910"/>
            <a:chOff x="4244903" y="6537572"/>
            <a:chExt cx="827100" cy="273910"/>
          </a:xfrm>
        </p:grpSpPr>
        <p:pic>
          <p:nvPicPr>
            <p:cNvPr descr="Résultat d’images pour orageux icone" id="245" name="Google Shape;245;p7"/>
            <p:cNvPicPr preferRelativeResize="0"/>
            <p:nvPr/>
          </p:nvPicPr>
          <p:blipFill rotWithShape="1">
            <a:blip r:embed="rId3">
              <a:alphaModFix/>
            </a:blip>
            <a:srcRect b="15980" l="0" r="0" t="0"/>
            <a:stretch/>
          </p:blipFill>
          <p:spPr>
            <a:xfrm>
              <a:off x="4272592" y="6569807"/>
              <a:ext cx="286822" cy="24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7"/>
            <p:cNvSpPr/>
            <p:nvPr/>
          </p:nvSpPr>
          <p:spPr>
            <a:xfrm>
              <a:off x="4244903" y="6537572"/>
              <a:ext cx="8271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Blocage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7"/>
          <p:cNvGrpSpPr/>
          <p:nvPr/>
        </p:nvGrpSpPr>
        <p:grpSpPr>
          <a:xfrm>
            <a:off x="5721306" y="6418179"/>
            <a:ext cx="720760" cy="279166"/>
            <a:chOff x="5072082" y="6500475"/>
            <a:chExt cx="720760" cy="279166"/>
          </a:xfrm>
        </p:grpSpPr>
        <p:pic>
          <p:nvPicPr>
            <p:cNvPr descr="C:\Users\User\Pictures\Météo PNG\GIF\50x50\m-cloudy.gif" id="248" name="Google Shape;24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72082" y="6500475"/>
              <a:ext cx="249725" cy="2791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7"/>
            <p:cNvSpPr/>
            <p:nvPr/>
          </p:nvSpPr>
          <p:spPr>
            <a:xfrm>
              <a:off x="5132842" y="6569808"/>
              <a:ext cx="660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Risque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7"/>
          <p:cNvGrpSpPr/>
          <p:nvPr/>
        </p:nvGrpSpPr>
        <p:grpSpPr>
          <a:xfrm>
            <a:off x="6410658" y="6461307"/>
            <a:ext cx="1304917" cy="312558"/>
            <a:chOff x="6590238" y="6537605"/>
            <a:chExt cx="987900" cy="356924"/>
          </a:xfrm>
        </p:grpSpPr>
        <p:pic>
          <p:nvPicPr>
            <p:cNvPr descr="C:\Users\User\Pictures\Météo PNG\50x50\sunny.png" id="251" name="Google Shape;251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663893" y="6583207"/>
              <a:ext cx="268502" cy="3113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7"/>
            <p:cNvSpPr/>
            <p:nvPr/>
          </p:nvSpPr>
          <p:spPr>
            <a:xfrm>
              <a:off x="6590238" y="6537605"/>
              <a:ext cx="987900" cy="29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   Conforme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7"/>
          <p:cNvSpPr/>
          <p:nvPr/>
        </p:nvSpPr>
        <p:spPr>
          <a:xfrm>
            <a:off x="393425" y="4620625"/>
            <a:ext cx="8010600" cy="182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1350" spcFirstLastPara="1" rIns="61350" wrap="square" tIns="45700">
            <a:no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 1 :</a:t>
            </a:r>
            <a:endParaRPr b="1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6460" lvl="0" marL="8646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entury Gothic"/>
              <a:buChar char="▪"/>
            </a:pP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infra has to be set up in QUA canada.</a:t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 2</a:t>
            </a: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: </a:t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entury Gothic"/>
              <a:buChar char="●"/>
            </a:pP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“Analysis” </a:t>
            </a: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user stories have been created in the current sprint,  in order to identify the change that we have to do in application side :</a:t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entury Gothic"/>
              <a:buChar char="○"/>
            </a:pP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 the authentication part : change from “actor_key/application_key” to “Api_key” with Api gateway. </a:t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entury Gothic"/>
              <a:buChar char="○"/>
            </a:pP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 Authorization part : migration to Authz </a:t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entury Gothic"/>
              <a:buChar char="●"/>
            </a:pP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Rashmi will leave the company on end of March. who has been the  developer of </a:t>
            </a: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eyecloud </a:t>
            </a: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</a:t>
            </a: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authz </a:t>
            </a:r>
            <a:endParaRPr b="1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sng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6460" lvl="0" marL="8646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06325" y="4620625"/>
            <a:ext cx="8010600" cy="238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 / Remarks / Risks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 txBox="1"/>
          <p:nvPr/>
        </p:nvSpPr>
        <p:spPr>
          <a:xfrm>
            <a:off x="406325" y="6410425"/>
            <a:ext cx="23292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fr-FR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eyecloud HAMR  - Steerco meeting</a:t>
            </a:r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7"/>
          <p:cNvCxnSpPr/>
          <p:nvPr/>
        </p:nvCxnSpPr>
        <p:spPr>
          <a:xfrm flipH="1" rot="10800000">
            <a:off x="7629483" y="613219"/>
            <a:ext cx="539100" cy="15300"/>
          </a:xfrm>
          <a:prstGeom prst="straightConnector1">
            <a:avLst/>
          </a:prstGeom>
          <a:noFill/>
          <a:ln cap="flat" cmpd="sng" w="47625">
            <a:solidFill>
              <a:srgbClr val="00368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7" name="Google Shape;257;p7"/>
          <p:cNvSpPr/>
          <p:nvPr/>
        </p:nvSpPr>
        <p:spPr>
          <a:xfrm>
            <a:off x="3142400" y="600350"/>
            <a:ext cx="2048100" cy="238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1350" spcFirstLastPara="1" rIns="613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fr-FR" sz="14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      Eyecloud HAMR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 txBox="1"/>
          <p:nvPr/>
        </p:nvSpPr>
        <p:spPr>
          <a:xfrm>
            <a:off x="4151975" y="3259300"/>
            <a:ext cx="3429000" cy="1349700"/>
          </a:xfrm>
          <a:prstGeom prst="rect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001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721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3"/>
              <a:buFont typeface="Century Gothic"/>
              <a:buChar char="●"/>
            </a:pPr>
            <a:r>
              <a:rPr b="1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Implementation </a:t>
            </a:r>
            <a:r>
              <a:rPr b="1" i="0" lang="fr-FR" sz="9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9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210" lvl="0" marL="457200" marR="0" rtl="0" algn="l">
              <a:lnSpc>
                <a:spcPct val="12004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23"/>
              <a:buFont typeface="Century Gothic"/>
              <a:buChar char="●"/>
            </a:pPr>
            <a:r>
              <a:rPr b="1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and Test : </a:t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21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23"/>
              <a:buFont typeface="Century Gothic"/>
              <a:buChar char="○"/>
            </a:pPr>
            <a:r>
              <a:rPr b="1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DEV/TIN </a:t>
            </a:r>
            <a:r>
              <a:rPr b="1" i="0" lang="fr-FR" sz="9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b="1" i="0" sz="9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2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23"/>
              <a:buFont typeface="Century Gothic"/>
              <a:buChar char="■"/>
            </a:pPr>
            <a:r>
              <a:rPr b="1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</a:t>
            </a:r>
            <a:r>
              <a:rPr b="1" i="0" lang="fr-FR" sz="9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21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23"/>
              <a:buFont typeface="Century Gothic"/>
              <a:buChar char="■"/>
            </a:pPr>
            <a:r>
              <a:rPr b="1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</a:t>
            </a:r>
            <a:r>
              <a:rPr b="1" i="0" lang="fr-FR" sz="9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922" u="none" cap="none" strike="noStrike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21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23"/>
              <a:buFont typeface="Century Gothic"/>
              <a:buChar char="○"/>
            </a:pPr>
            <a:r>
              <a:rPr b="1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 IR : </a:t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21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23"/>
              <a:buFont typeface="Century Gothic"/>
              <a:buChar char="○"/>
            </a:pPr>
            <a:r>
              <a:rPr b="1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</a:t>
            </a:r>
            <a:r>
              <a:rPr b="1" i="0" lang="fr-FR" sz="9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&gt; DONE</a:t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21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23"/>
              <a:buFont typeface="Century Gothic"/>
              <a:buChar char="○"/>
            </a:pPr>
            <a:r>
              <a:rPr b="1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</a:t>
            </a:r>
            <a:r>
              <a:rPr b="1" i="0" lang="fr-FR" sz="922" u="none" cap="none" strike="noStrike">
                <a:solidFill>
                  <a:srgbClr val="B45F0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→ IN PROGRESS</a:t>
            </a:r>
            <a:endParaRPr b="1" i="0" sz="922" u="none" cap="none" strike="noStrike">
              <a:solidFill>
                <a:srgbClr val="B45F0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C:\Users\User\Pictures\Météo PNG\50x50\sunny.png" id="259" name="Google Shape;25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7487" y="492543"/>
            <a:ext cx="269201" cy="272627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7"/>
          <p:cNvSpPr/>
          <p:nvPr/>
        </p:nvSpPr>
        <p:spPr>
          <a:xfrm>
            <a:off x="3829500" y="3470975"/>
            <a:ext cx="269100" cy="1037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 txBox="1"/>
          <p:nvPr>
            <p:ph type="title"/>
          </p:nvPr>
        </p:nvSpPr>
        <p:spPr>
          <a:xfrm>
            <a:off x="1765925" y="75675"/>
            <a:ext cx="5035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9285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73437"/>
              <a:buFont typeface="Calibri"/>
              <a:buNone/>
            </a:pPr>
            <a:r>
              <a:rPr lang="fr-FR"/>
              <a:t>Monthly Steerco 1 - 18/02/2022</a:t>
            </a:r>
            <a:br>
              <a:rPr lang="fr-FR"/>
            </a:br>
            <a:endParaRPr b="0" i="1" sz="1600"/>
          </a:p>
        </p:txBody>
      </p:sp>
      <p:sp>
        <p:nvSpPr>
          <p:cNvPr id="266" name="Google Shape;266;p8"/>
          <p:cNvSpPr txBox="1"/>
          <p:nvPr>
            <p:ph idx="12" type="sldNum"/>
          </p:nvPr>
        </p:nvSpPr>
        <p:spPr>
          <a:xfrm>
            <a:off x="4104743" y="6463682"/>
            <a:ext cx="2472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 sz="10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406325" y="1200575"/>
            <a:ext cx="8010600" cy="2779200"/>
          </a:xfrm>
          <a:prstGeom prst="rect">
            <a:avLst/>
          </a:prstGeom>
          <a:noFill/>
          <a:ln cap="flat" cmpd="sng" w="19050">
            <a:solidFill>
              <a:srgbClr val="001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1350" spcFirstLastPara="1" rIns="61350" wrap="square" tIns="45700">
            <a:noAutofit/>
          </a:bodyPr>
          <a:lstStyle/>
          <a:p>
            <a:pPr indent="-28701" lvl="2" marL="87312" marR="0" rtl="0" algn="l">
              <a:lnSpc>
                <a:spcPct val="120043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23"/>
              <a:buFont typeface="Noto Sans Symbols"/>
              <a:buNone/>
            </a:pPr>
            <a:r>
              <a:t/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0962" lvl="2" marL="87312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822"/>
              <a:buFont typeface="Noto Sans Symbols"/>
              <a:buChar char="▪"/>
            </a:pPr>
            <a:r>
              <a:rPr b="1" i="0" lang="fr-FR" sz="822" u="sng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 AWS 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Dynamo DBs and Buckets :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CIN / DEV → </a:t>
            </a:r>
            <a:r>
              <a:rPr b="1" i="0" lang="fr-FR" sz="822" u="none" cap="none" strike="noStrike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Next step, Set infra in TIN  (Ticket has been added in the CCOE backlog)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0962" lvl="2" marL="87312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822"/>
              <a:buFont typeface="Noto Sans Symbols"/>
              <a:buChar char="▪"/>
            </a:pPr>
            <a:r>
              <a:rPr b="1" i="0" lang="fr-FR" sz="822" u="sng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APPlication : </a:t>
            </a: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Implementation of the V3 :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Current sprint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dedicated pipelines for Build and Release </a:t>
            </a: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→</a:t>
            </a:r>
            <a:r>
              <a:rPr b="1" i="0" lang="fr-FR" sz="822" u="none" cap="none" strike="noStrike">
                <a:solidFill>
                  <a:srgbClr val="274E1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 b="1" i="0" sz="822" u="none" cap="none" strike="noStrike">
              <a:solidFill>
                <a:srgbClr val="274E1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Creation of new user data script  </a:t>
            </a: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→ </a:t>
            </a:r>
            <a:r>
              <a:rPr b="1" i="0" lang="fr-FR" sz="822" u="none" cap="none" strike="noStrike">
                <a:solidFill>
                  <a:srgbClr val="B45F0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 PROGRESS</a:t>
            </a: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Remove the ID type from the API Requests </a:t>
            </a:r>
            <a:r>
              <a:rPr b="1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→ TO DO 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Next Sprint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0860" lvl="2" marL="13716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2D46"/>
              </a:buClr>
              <a:buSzPts val="823"/>
              <a:buFont typeface="Century Gothic"/>
              <a:buChar char="▪"/>
            </a:pPr>
            <a:r>
              <a:rPr b="0" i="0" lang="fr-FR" sz="8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Reinforcement of the ID </a:t>
            </a:r>
            <a:endParaRPr b="1" i="0" sz="8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210" lvl="2" marL="1371600" marR="0" rtl="0" algn="l">
              <a:lnSpc>
                <a:spcPct val="120173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23"/>
              <a:buFont typeface="Century Gothic"/>
              <a:buChar char="▪"/>
            </a:pPr>
            <a:r>
              <a:rPr b="0" i="0" lang="fr-FR" sz="922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Generation of ID depending on the Region </a:t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0" marR="0" rtl="0" algn="l">
              <a:lnSpc>
                <a:spcPct val="120173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3" marL="2714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701" lvl="3" marL="54451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923"/>
              <a:buFont typeface="Noto Sans Symbols"/>
              <a:buNone/>
            </a:pPr>
            <a:r>
              <a:t/>
            </a:r>
            <a:endParaRPr b="1" i="0" sz="922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86060" y="1140936"/>
            <a:ext cx="7918800" cy="2607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 actions and events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7158183" y="194794"/>
            <a:ext cx="1162800" cy="8367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1350" spcFirstLastPara="1" rIns="613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8"/>
              <a:buFont typeface="Calibri"/>
              <a:buNone/>
            </a:pPr>
            <a:r>
              <a:t/>
            </a:r>
            <a:endParaRPr b="0" i="0" sz="1108" u="none" cap="none" strike="noStrike">
              <a:solidFill>
                <a:srgbClr val="002D46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270" name="Google Shape;270;p8"/>
          <p:cNvGrpSpPr/>
          <p:nvPr/>
        </p:nvGrpSpPr>
        <p:grpSpPr>
          <a:xfrm>
            <a:off x="4894127" y="6455276"/>
            <a:ext cx="827100" cy="273910"/>
            <a:chOff x="4244903" y="6537572"/>
            <a:chExt cx="827100" cy="273910"/>
          </a:xfrm>
        </p:grpSpPr>
        <p:pic>
          <p:nvPicPr>
            <p:cNvPr descr="Résultat d’images pour orageux icone" id="271" name="Google Shape;271;p8"/>
            <p:cNvPicPr preferRelativeResize="0"/>
            <p:nvPr/>
          </p:nvPicPr>
          <p:blipFill rotWithShape="1">
            <a:blip r:embed="rId3">
              <a:alphaModFix/>
            </a:blip>
            <a:srcRect b="15980" l="0" r="0" t="0"/>
            <a:stretch/>
          </p:blipFill>
          <p:spPr>
            <a:xfrm>
              <a:off x="4272592" y="6569807"/>
              <a:ext cx="286822" cy="24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8"/>
            <p:cNvSpPr/>
            <p:nvPr/>
          </p:nvSpPr>
          <p:spPr>
            <a:xfrm>
              <a:off x="4244903" y="6537572"/>
              <a:ext cx="8271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Blocage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8"/>
          <p:cNvGrpSpPr/>
          <p:nvPr/>
        </p:nvGrpSpPr>
        <p:grpSpPr>
          <a:xfrm>
            <a:off x="5721306" y="6418179"/>
            <a:ext cx="720760" cy="279166"/>
            <a:chOff x="5072082" y="6500475"/>
            <a:chExt cx="720760" cy="279166"/>
          </a:xfrm>
        </p:grpSpPr>
        <p:pic>
          <p:nvPicPr>
            <p:cNvPr descr="C:\Users\User\Pictures\Météo PNG\GIF\50x50\m-cloudy.gif" id="274" name="Google Shape;274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72082" y="6500475"/>
              <a:ext cx="249725" cy="2791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" name="Google Shape;275;p8"/>
            <p:cNvSpPr/>
            <p:nvPr/>
          </p:nvSpPr>
          <p:spPr>
            <a:xfrm>
              <a:off x="5132842" y="6569808"/>
              <a:ext cx="660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Risque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8"/>
          <p:cNvGrpSpPr/>
          <p:nvPr/>
        </p:nvGrpSpPr>
        <p:grpSpPr>
          <a:xfrm>
            <a:off x="6410658" y="6461307"/>
            <a:ext cx="1304917" cy="312558"/>
            <a:chOff x="6590238" y="6537605"/>
            <a:chExt cx="987900" cy="356924"/>
          </a:xfrm>
        </p:grpSpPr>
        <p:pic>
          <p:nvPicPr>
            <p:cNvPr descr="C:\Users\User\Pictures\Météo PNG\50x50\sunny.png" id="277" name="Google Shape;277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663893" y="6583207"/>
              <a:ext cx="268502" cy="3113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" name="Google Shape;278;p8"/>
            <p:cNvSpPr/>
            <p:nvPr/>
          </p:nvSpPr>
          <p:spPr>
            <a:xfrm>
              <a:off x="6590238" y="6537605"/>
              <a:ext cx="987900" cy="29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fr-FR" sz="8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     Conforme</a:t>
              </a:r>
              <a:endPara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8"/>
          <p:cNvSpPr/>
          <p:nvPr/>
        </p:nvSpPr>
        <p:spPr>
          <a:xfrm>
            <a:off x="393425" y="4011025"/>
            <a:ext cx="8010600" cy="2361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61350" spcFirstLastPara="1" rIns="61350" wrap="square" tIns="45700">
            <a:no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 1 :</a:t>
            </a:r>
            <a:endParaRPr b="1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6460" lvl="0" marL="8646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entury Gothic"/>
              <a:buChar char="▪"/>
            </a:pP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infra has to be set up in TIN for the test purpose (from RIFT team)   → CCOE’s members are fully busy working massively on GDP migration. They won’t be available next week for this task. We will validate the implementation on dev env for now. </a:t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 2</a:t>
            </a: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: </a:t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entury Gothic"/>
              <a:buChar char="●"/>
            </a:pP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 the authentication part : we will align with what will be done on GDP topic. So probably:</a:t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entury Gothic"/>
              <a:buChar char="○"/>
            </a:pP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First, Set the “api key” process</a:t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entury Gothic"/>
              <a:buChar char="○"/>
            </a:pP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Then, set the Oauth2 with a dedicated ID provider </a:t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D46"/>
              </a:buClr>
              <a:buSzPts val="900"/>
              <a:buFont typeface="Century Gothic"/>
              <a:buChar char="●"/>
            </a:pP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Rashmi will leave the company on end of March. who has been the  developer of </a:t>
            </a: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eyecloud </a:t>
            </a:r>
            <a:r>
              <a:rPr b="0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</a:t>
            </a:r>
            <a:r>
              <a:rPr b="1" i="0" lang="fr-FR" sz="900" u="none" cap="none" strike="noStrike">
                <a:solidFill>
                  <a:srgbClr val="002D4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authz </a:t>
            </a:r>
            <a:endParaRPr b="1" i="0" sz="9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sng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6460" lvl="0" marL="8646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2D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39650" y="4011025"/>
            <a:ext cx="7918800" cy="238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 / Remarks / Risks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406325" y="6410425"/>
            <a:ext cx="23292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fr-FR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eyecloud HAMR  - Steerco meeting</a:t>
            </a:r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8"/>
          <p:cNvCxnSpPr/>
          <p:nvPr/>
        </p:nvCxnSpPr>
        <p:spPr>
          <a:xfrm flipH="1" rot="10800000">
            <a:off x="7705683" y="613219"/>
            <a:ext cx="539100" cy="15300"/>
          </a:xfrm>
          <a:prstGeom prst="straightConnector1">
            <a:avLst/>
          </a:prstGeom>
          <a:noFill/>
          <a:ln cap="flat" cmpd="sng" w="47625">
            <a:solidFill>
              <a:srgbClr val="00368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83" name="Google Shape;283;p8"/>
          <p:cNvSpPr/>
          <p:nvPr/>
        </p:nvSpPr>
        <p:spPr>
          <a:xfrm>
            <a:off x="3142400" y="600350"/>
            <a:ext cx="2048100" cy="238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1350" spcFirstLastPara="1" rIns="613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fr-FR" sz="14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      Eyecloud HAMR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User\Pictures\Météo PNG\50x50\sunny.png" id="284" name="Google Shape;28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3687" y="492543"/>
            <a:ext cx="269201" cy="272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0" name="Google Shape;290;p9"/>
          <p:cNvGraphicFramePr/>
          <p:nvPr/>
        </p:nvGraphicFramePr>
        <p:xfrm>
          <a:off x="969602" y="765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{09060CCC-D647-4689-A962-5881BA4C3B50}</a:tableStyleId>
              </a:tblPr>
              <a:tblGrid>
                <a:gridCol w="1904525"/>
                <a:gridCol w="1865600"/>
                <a:gridCol w="939525"/>
                <a:gridCol w="852375"/>
                <a:gridCol w="805875"/>
                <a:gridCol w="836900"/>
              </a:tblGrid>
              <a:tr h="2945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Noto Sans Symbols"/>
                        <a:buNone/>
                      </a:pPr>
                      <a:r>
                        <a:rPr b="1" i="0" lang="fr-FR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</a:t>
                      </a:r>
                      <a:r>
                        <a:rPr b="1" lang="fr-FR" sz="1600" u="none" cap="none" strike="noStrike">
                          <a:solidFill>
                            <a:srgbClr val="FFFFFF"/>
                          </a:solidFill>
                        </a:rPr>
                        <a:t>1</a:t>
                      </a:r>
                      <a:endParaRPr sz="1500" u="none" cap="none" strike="noStrike"/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6496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Noto Sans Symbols"/>
                        <a:buNone/>
                      </a:pPr>
                      <a:r>
                        <a:rPr b="1" i="0" lang="fr-FR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</a:t>
                      </a:r>
                      <a:r>
                        <a:rPr b="1" lang="fr-FR" sz="1600" u="none" cap="none" strike="noStrike">
                          <a:solidFill>
                            <a:srgbClr val="FFFFFF"/>
                          </a:solidFill>
                        </a:rPr>
                        <a:t>2</a:t>
                      </a:r>
                      <a:endParaRPr sz="1500" u="none" cap="none" strike="noStrike"/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6496"/>
                    </a:solidFill>
                  </a:tcPr>
                </a:tc>
                <a:tc hMerge="1"/>
                <a:tc hMerge="1"/>
                <a:tc hMerge="1"/>
              </a:tr>
              <a:tr h="376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fr-FR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November</a:t>
                      </a:r>
                      <a:endParaRPr sz="1500" u="none" cap="none" strike="noStrike"/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AA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fr-FR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December</a:t>
                      </a:r>
                      <a:endParaRPr sz="1500" u="none" cap="none" strike="noStrike"/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AA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fr-FR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Q1</a:t>
                      </a:r>
                      <a:endParaRPr sz="1500" u="none" cap="none" strike="noStrike"/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AA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fr-FR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Q2</a:t>
                      </a:r>
                      <a:endParaRPr sz="1500" u="none" cap="none" strike="noStrike"/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AA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fr-FR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 sz="1500" u="none" cap="none" strike="noStrike"/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AA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fr-FR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Q4</a:t>
                      </a:r>
                      <a:endParaRPr sz="1500" u="none" cap="none" strike="noStrike"/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AAC9"/>
                    </a:solidFill>
                  </a:tcPr>
                </a:tc>
              </a:tr>
              <a:tr h="356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291" name="Google Shape;291;p9"/>
          <p:cNvSpPr txBox="1"/>
          <p:nvPr>
            <p:ph idx="4294967295" type="sldNum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fr-FR">
                <a:solidFill>
                  <a:srgbClr val="003985"/>
                </a:solidFill>
              </a:rPr>
              <a:t>P.</a:t>
            </a:r>
            <a:fld id="{00000000-1234-1234-1234-123412341234}" type="slidenum">
              <a:rPr lang="fr-FR">
                <a:solidFill>
                  <a:srgbClr val="003985"/>
                </a:solidFill>
              </a:rPr>
              <a:t>‹#›</a:t>
            </a:fld>
            <a:endParaRPr>
              <a:solidFill>
                <a:srgbClr val="003985"/>
              </a:solidFill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2259275" y="1717300"/>
            <a:ext cx="2498700" cy="788100"/>
          </a:xfrm>
          <a:prstGeom prst="chevron">
            <a:avLst>
              <a:gd fmla="val 12125" name="adj"/>
            </a:avLst>
          </a:prstGeom>
          <a:solidFill>
            <a:srgbClr val="DDDDDD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554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" name="Google Shape;293;p9"/>
          <p:cNvGrpSpPr/>
          <p:nvPr/>
        </p:nvGrpSpPr>
        <p:grpSpPr>
          <a:xfrm>
            <a:off x="2553260" y="1965879"/>
            <a:ext cx="1827000" cy="383400"/>
            <a:chOff x="962733" y="2156518"/>
            <a:chExt cx="1827000" cy="383400"/>
          </a:xfrm>
        </p:grpSpPr>
        <p:sp>
          <p:nvSpPr>
            <p:cNvPr id="294" name="Google Shape;294;p9"/>
            <p:cNvSpPr/>
            <p:nvPr/>
          </p:nvSpPr>
          <p:spPr>
            <a:xfrm>
              <a:off x="962733" y="2156518"/>
              <a:ext cx="1827000" cy="383400"/>
            </a:xfrm>
            <a:prstGeom prst="chevron">
              <a:avLst>
                <a:gd fmla="val 17064" name="adj"/>
              </a:avLst>
            </a:prstGeom>
            <a:solidFill>
              <a:srgbClr val="556496"/>
            </a:solidFill>
            <a:ln>
              <a:noFill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00"/>
                </a:buClr>
                <a:buSzPts val="554"/>
                <a:buFont typeface="Noto Sans Symbols"/>
                <a:buNone/>
              </a:pPr>
              <a:r>
                <a:t/>
              </a:r>
              <a:endParaRPr b="1" i="1" sz="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1108525" y="2228073"/>
              <a:ext cx="15054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fr-FR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Scoping / Requirements</a:t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9"/>
          <p:cNvSpPr/>
          <p:nvPr/>
        </p:nvSpPr>
        <p:spPr>
          <a:xfrm>
            <a:off x="3237858" y="1764286"/>
            <a:ext cx="9954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fr-FR" sz="1000" u="none" cap="none" strike="noStrike">
                <a:solidFill>
                  <a:srgbClr val="103184"/>
                </a:solidFill>
                <a:latin typeface="Calibri"/>
                <a:ea typeface="Calibri"/>
                <a:cs typeface="Calibri"/>
                <a:sym typeface="Calibri"/>
              </a:rPr>
              <a:t>Scoping STEP</a:t>
            </a:r>
            <a:endParaRPr b="1" i="1" sz="1000" u="none" cap="none" strike="noStrike">
              <a:solidFill>
                <a:srgbClr val="1031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4753025" y="1663475"/>
            <a:ext cx="1759500" cy="2442000"/>
          </a:xfrm>
          <a:prstGeom prst="chevron">
            <a:avLst>
              <a:gd fmla="val 12125" name="adj"/>
            </a:avLst>
          </a:prstGeom>
          <a:solidFill>
            <a:srgbClr val="DDDDDD"/>
          </a:solidFill>
          <a:ln cap="flat" cmpd="sng" w="9525">
            <a:solidFill>
              <a:srgbClr val="949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554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4905425" y="1888150"/>
            <a:ext cx="863400" cy="248700"/>
          </a:xfrm>
          <a:prstGeom prst="chevron">
            <a:avLst>
              <a:gd fmla="val 17064" name="adj"/>
            </a:avLst>
          </a:prstGeom>
          <a:solidFill>
            <a:srgbClr val="55649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fr-FR" sz="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4792750" y="1688075"/>
            <a:ext cx="18270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1" lang="fr-FR" sz="800" u="none" cap="none" strike="noStrike">
                <a:solidFill>
                  <a:srgbClr val="103184"/>
                </a:solidFill>
                <a:latin typeface="Calibri"/>
                <a:ea typeface="Calibri"/>
                <a:cs typeface="Calibri"/>
                <a:sym typeface="Calibri"/>
              </a:rPr>
              <a:t>Conception and Realization STEP 1</a:t>
            </a:r>
            <a:endParaRPr b="1" i="1" sz="800" u="none" cap="none" strike="noStrike">
              <a:solidFill>
                <a:srgbClr val="1031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5057825" y="2590275"/>
            <a:ext cx="863400" cy="248700"/>
          </a:xfrm>
          <a:prstGeom prst="chevron">
            <a:avLst>
              <a:gd fmla="val 17064" name="adj"/>
            </a:avLst>
          </a:prstGeom>
          <a:solidFill>
            <a:srgbClr val="55649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fr-FR" sz="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S3  Replication </a:t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5057825" y="2971275"/>
            <a:ext cx="863400" cy="248700"/>
          </a:xfrm>
          <a:prstGeom prst="chevron">
            <a:avLst>
              <a:gd fmla="val 17064" name="adj"/>
            </a:avLst>
          </a:prstGeom>
          <a:solidFill>
            <a:srgbClr val="55649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6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fr-FR" sz="6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Global table in Dynamo DBs</a:t>
            </a:r>
            <a:endParaRPr b="1" i="1" sz="6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4906450" y="3279425"/>
            <a:ext cx="1232700" cy="804900"/>
          </a:xfrm>
          <a:prstGeom prst="chevron">
            <a:avLst>
              <a:gd fmla="val 12125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fr-FR" sz="55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1" i="1" sz="554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4981625" y="3504675"/>
            <a:ext cx="787200" cy="286500"/>
          </a:xfrm>
          <a:prstGeom prst="chevron">
            <a:avLst>
              <a:gd fmla="val 17064" name="adj"/>
            </a:avLst>
          </a:prstGeom>
          <a:solidFill>
            <a:srgbClr val="55649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fr-FR" sz="6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1" sz="6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fr-FR" sz="6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Discussion with users</a:t>
            </a:r>
            <a:endParaRPr b="1" i="1" sz="6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4981625" y="3843075"/>
            <a:ext cx="787200" cy="178800"/>
          </a:xfrm>
          <a:prstGeom prst="chevron">
            <a:avLst>
              <a:gd fmla="val 17064" name="adj"/>
            </a:avLst>
          </a:prstGeom>
          <a:solidFill>
            <a:srgbClr val="55649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fr-FR" sz="6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Realization</a:t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4981623" y="3288275"/>
            <a:ext cx="12327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1" lang="fr-FR" sz="700" u="none" cap="none" strike="noStrike">
                <a:solidFill>
                  <a:srgbClr val="103184"/>
                </a:solidFill>
                <a:latin typeface="Calibri"/>
                <a:ea typeface="Calibri"/>
                <a:cs typeface="Calibri"/>
                <a:sym typeface="Calibri"/>
              </a:rPr>
              <a:t>Id uniqueness enhancement</a:t>
            </a:r>
            <a:endParaRPr b="1" i="1" sz="700" u="none" cap="none" strike="noStrike">
              <a:solidFill>
                <a:srgbClr val="1031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4981625" y="2269150"/>
            <a:ext cx="863400" cy="248700"/>
          </a:xfrm>
          <a:prstGeom prst="chevron">
            <a:avLst>
              <a:gd fmla="val 17064" name="adj"/>
            </a:avLst>
          </a:prstGeom>
          <a:solidFill>
            <a:srgbClr val="55649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fr-FR" sz="6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ASGs duplication </a:t>
            </a:r>
            <a:endParaRPr b="1" i="1" sz="6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6505625" y="3949466"/>
            <a:ext cx="1694400" cy="1084800"/>
          </a:xfrm>
          <a:prstGeom prst="chevron">
            <a:avLst>
              <a:gd fmla="val 12125" name="adj"/>
            </a:avLst>
          </a:prstGeom>
          <a:solidFill>
            <a:srgbClr val="DDDDDD"/>
          </a:solidFill>
          <a:ln cap="flat" cmpd="sng" w="9525">
            <a:solidFill>
              <a:srgbClr val="949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554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6658025" y="4199550"/>
            <a:ext cx="863400" cy="248700"/>
          </a:xfrm>
          <a:prstGeom prst="chevron">
            <a:avLst>
              <a:gd fmla="val 17064" name="adj"/>
            </a:avLst>
          </a:prstGeom>
          <a:solidFill>
            <a:srgbClr val="55649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fr-FR" sz="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7191425" y="4656750"/>
            <a:ext cx="863400" cy="248700"/>
          </a:xfrm>
          <a:prstGeom prst="chevron">
            <a:avLst>
              <a:gd fmla="val 17064" name="adj"/>
            </a:avLst>
          </a:prstGeom>
          <a:solidFill>
            <a:srgbClr val="55649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fr-FR" sz="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Authorization</a:t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6545350" y="3923275"/>
            <a:ext cx="18270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1" lang="fr-FR" sz="800" u="none" cap="none" strike="noStrike">
                <a:solidFill>
                  <a:srgbClr val="103184"/>
                </a:solidFill>
                <a:latin typeface="Calibri"/>
                <a:ea typeface="Calibri"/>
                <a:cs typeface="Calibri"/>
                <a:sym typeface="Calibri"/>
              </a:rPr>
              <a:t>Conception and Realization STEP 2</a:t>
            </a:r>
            <a:endParaRPr b="1" i="1" sz="800" u="none" cap="none" strike="noStrike">
              <a:solidFill>
                <a:srgbClr val="1031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>
            <p:ph type="title"/>
          </p:nvPr>
        </p:nvSpPr>
        <p:spPr>
          <a:xfrm>
            <a:off x="3824225" y="0"/>
            <a:ext cx="18270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None/>
            </a:pPr>
            <a:r>
              <a:rPr b="0" lang="fr-F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 b="0" i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RED">
  <a:themeElements>
    <a:clrScheme name="BRED">
      <a:dk1>
        <a:srgbClr val="000000"/>
      </a:dk1>
      <a:lt1>
        <a:srgbClr val="FFFFFF"/>
      </a:lt1>
      <a:dk2>
        <a:srgbClr val="003985"/>
      </a:dk2>
      <a:lt2>
        <a:srgbClr val="565656"/>
      </a:lt2>
      <a:accent1>
        <a:srgbClr val="003985"/>
      </a:accent1>
      <a:accent2>
        <a:srgbClr val="00B3E9"/>
      </a:accent2>
      <a:accent3>
        <a:srgbClr val="6BA8D2"/>
      </a:accent3>
      <a:accent4>
        <a:srgbClr val="005A8C"/>
      </a:accent4>
      <a:accent5>
        <a:srgbClr val="ACC6DB"/>
      </a:accent5>
      <a:accent6>
        <a:srgbClr val="F0EFEE"/>
      </a:accent6>
      <a:hlink>
        <a:srgbClr val="003985"/>
      </a:hlink>
      <a:folHlink>
        <a:srgbClr val="0039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0x010100FA86F4A466F26046961D2FEADA0F794E</vt:lpwstr>
  </property>
  <property fmtid="{D5CDD505-2E9C-101B-9397-08002B2CF9AE}" pid="3" name="MSIP_Label_2e9a4386-74b9-4603-ae20-950a659f9b6e_Enabled">
    <vt:lpwstr>true</vt:lpwstr>
  </property>
  <property fmtid="{D5CDD505-2E9C-101B-9397-08002B2CF9AE}" pid="4" name="MSIP_Label_2e9a4386-74b9-4603-ae20-950a659f9b6e_SetDate">
    <vt:lpwstr>2024-01-29T10:18:16Z</vt:lpwstr>
  </property>
  <property fmtid="{D5CDD505-2E9C-101B-9397-08002B2CF9AE}" pid="5" name="MSIP_Label_2e9a4386-74b9-4603-ae20-950a659f9b6e_Method">
    <vt:lpwstr>Standard</vt:lpwstr>
  </property>
  <property fmtid="{D5CDD505-2E9C-101B-9397-08002B2CF9AE}" pid="6" name="MSIP_Label_2e9a4386-74b9-4603-ae20-950a659f9b6e_Name">
    <vt:lpwstr>Internal Use Only</vt:lpwstr>
  </property>
  <property fmtid="{D5CDD505-2E9C-101B-9397-08002B2CF9AE}" pid="7" name="MSIP_Label_2e9a4386-74b9-4603-ae20-950a659f9b6e_SiteId">
    <vt:lpwstr>c7d1a8f7-0546-4a0c-8cf5-3ddaebf97d51</vt:lpwstr>
  </property>
  <property fmtid="{D5CDD505-2E9C-101B-9397-08002B2CF9AE}" pid="8" name="MSIP_Label_2e9a4386-74b9-4603-ae20-950a659f9b6e_ActionId">
    <vt:lpwstr>515559c7-f6e2-4cc8-98fa-0bc2662f000a</vt:lpwstr>
  </property>
  <property fmtid="{D5CDD505-2E9C-101B-9397-08002B2CF9AE}" pid="9" name="MSIP_Label_2e9a4386-74b9-4603-ae20-950a659f9b6e_ContentBits">
    <vt:lpwstr>0</vt:lpwstr>
  </property>
  <property fmtid="{D5CDD505-2E9C-101B-9397-08002B2CF9AE}" pid="10" name="MediaServiceImageTags">
    <vt:lpwstr/>
  </property>
</Properties>
</file>